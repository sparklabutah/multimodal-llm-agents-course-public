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DM Serif Text"/>
      <p:regular r:id="rId46"/>
      <p:italic r:id="rId47"/>
    </p:embeddedFont>
    <p:embeddedFont>
      <p:font typeface="Helvetica Neue"/>
      <p:regular r:id="rId48"/>
      <p:bold r:id="rId49"/>
      <p:italic r:id="rId50"/>
      <p:boldItalic r:id="rId51"/>
    </p:embeddedFont>
    <p:embeddedFont>
      <p:font typeface="DM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DMSerifText-regular.fntdata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HelveticaNeue-regular.fntdata"/><Relationship Id="rId47" Type="http://schemas.openxmlformats.org/officeDocument/2006/relationships/font" Target="fonts/DMSerifText-italic.fntdata"/><Relationship Id="rId49" Type="http://schemas.openxmlformats.org/officeDocument/2006/relationships/font" Target="fonts/HelveticaNeue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elveticaNeue-boldItalic.fntdata"/><Relationship Id="rId50" Type="http://schemas.openxmlformats.org/officeDocument/2006/relationships/font" Target="fonts/HelveticaNeue-italic.fntdata"/><Relationship Id="rId53" Type="http://schemas.openxmlformats.org/officeDocument/2006/relationships/font" Target="fonts/DMSans-bold.fntdata"/><Relationship Id="rId52" Type="http://schemas.openxmlformats.org/officeDocument/2006/relationships/font" Target="fonts/DMSans-regular.fntdata"/><Relationship Id="rId11" Type="http://schemas.openxmlformats.org/officeDocument/2006/relationships/slide" Target="slides/slide5.xml"/><Relationship Id="rId55" Type="http://schemas.openxmlformats.org/officeDocument/2006/relationships/font" Target="fonts/DMSans-boldItalic.fntdata"/><Relationship Id="rId10" Type="http://schemas.openxmlformats.org/officeDocument/2006/relationships/slide" Target="slides/slide4.xml"/><Relationship Id="rId54" Type="http://schemas.openxmlformats.org/officeDocument/2006/relationships/font" Target="fonts/DM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34382cb93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834382cb93_0_161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260c4f028_0_1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b260c4f02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b260c4f028_0_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260c4f028_0_4048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b260c4f028_0_40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b260c4f028_0_4048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ad87534f3_0_291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bad87534f3_0_2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bad87534f3_0_29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b33c94545_0_75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ab33c94545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ab33c94545_0_75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ab7aa726d_0_10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bab7aa726d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bab7aa726d_0_1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ab7aa726d_0_47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bab7aa726d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ab7aa726d_0_47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ab7aa726d_0_86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bab7aa726d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bab7aa726d_0_8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ab7aa726d_0_126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bab7aa726d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bab7aa726d_0_12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ab7aa726d_0_173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bab7aa726d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bab7aa726d_0_173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ab7aa726d_0_224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bab7aa726d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bab7aa726d_0_224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ad87534f3_0_6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bad87534f3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bad87534f3_0_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ad87534f3_0_49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bad87534f3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bad87534f3_0_49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ad87534f3_0_144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bad87534f3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bad87534f3_0_144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ad87534f3_0_162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bad87534f3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bad87534f3_0_16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ad87534f3_0_106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bad87534f3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bad87534f3_0_10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ad87534f3_0_115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bad87534f3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bad87534f3_0_115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ad87534f3_0_203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bad87534f3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bad87534f3_0_203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ad87534f3_0_272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bad87534f3_0_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bad87534f3_0_27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ad87534f3_0_397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bad87534f3_0_3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bad87534f3_0_397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ad87534f3_0_432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bad87534f3_0_4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bad87534f3_0_43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bad87534f3_0_507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bad87534f3_0_5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bad87534f3_0_507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ad87534f3_0_625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bad87534f3_0_6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bad87534f3_0_625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bad87534f3_0_659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bad87534f3_0_6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bad87534f3_0_659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ad87534f3_0_608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3bad87534f3_0_6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bad87534f3_0_608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ad87534f3_0_982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3bad87534f3_0_9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bad87534f3_0_98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ad87534f3_0_1030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3bad87534f3_0_10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bad87534f3_0_103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ad87534f3_0_1077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3bad87534f3_0_10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bad87534f3_0_1077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ad87534f3_0_1126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g3bad87534f3_0_1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bad87534f3_0_112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ad87534f3_0_1174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3bad87534f3_0_1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bad87534f3_0_1174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bad87534f3_0_1182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bad87534f3_0_1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bad87534f3_0_118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bad87534f3_0_1194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3bad87534f3_0_1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bad87534f3_0_1194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bad87534f3_0_1202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bad87534f3_0_1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bad87534f3_0_120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bad87534f3_0_1281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bad87534f3_0_1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bad87534f3_0_128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bad87534f3_0_1227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bad87534f3_0_1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bad87534f3_0_1227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ad87534f3_0_1219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3bad87534f3_0_1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bad87534f3_0_1219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bad87534f3_0_1292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bad87534f3_0_1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3bad87534f3_0_129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89563f92427b8a6_334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389563f92427b8a6_3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89563f92427b8a6_334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bad87534f3_0_1301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g3bad87534f3_0_1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bad87534f3_0_130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1 Title &amp; Text">
  <p:cSld name="001 Title &amp; 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99050" y="278600"/>
            <a:ext cx="65838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6750" y="1028063"/>
            <a:ext cx="7938300" cy="3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●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8575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○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8575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■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8575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●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8575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○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8575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■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8575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●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8575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○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85750" lvl="8" marL="411480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2"/>
              </a:buClr>
              <a:buSzPts val="900"/>
              <a:buFont typeface="DM Sans"/>
              <a:buChar char="■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Title &amp; Text 1">
  <p:cSld name="01 Title &amp; Text 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599050" y="278588"/>
            <a:ext cx="59022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606750" y="1028063"/>
            <a:ext cx="7938300" cy="3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●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8575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○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8575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■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8575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●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8575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○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85750" lvl="5" marL="27432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■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85750" lvl="6" marL="3200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●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85750" lvl="7" marL="3657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○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85750" lvl="8" marL="4114800" algn="l"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  <a:buClr>
                <a:schemeClr val="dk2"/>
              </a:buClr>
              <a:buSzPts val="900"/>
              <a:buFont typeface="DM Sans"/>
              <a:buChar char="■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258024" y="224372"/>
            <a:ext cx="87252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B3112C"/>
              </a:buClr>
              <a:buSzPts val="3600"/>
              <a:buFont typeface="Arial"/>
              <a:buNone/>
              <a:defRPr>
                <a:solidFill>
                  <a:srgbClr val="B3112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258024" y="832757"/>
            <a:ext cx="8725200" cy="4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A10B30"/>
              </a:buClr>
              <a:buSzPts val="1500"/>
              <a:buFont typeface="Arial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A10B30"/>
              </a:buClr>
              <a:buSzPts val="1400"/>
              <a:buFont typeface="Arial"/>
              <a:buChar char="•"/>
              <a:defRPr/>
            </a:lvl2pPr>
            <a:lvl3pPr indent="-29845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10B30"/>
              </a:buClr>
              <a:buSzPts val="1100"/>
              <a:buFont typeface="Arial"/>
              <a:buChar char="•"/>
              <a:defRPr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10B30"/>
              </a:buClr>
              <a:buSzPts val="1100"/>
              <a:buFont typeface="Arial"/>
              <a:buChar char="•"/>
              <a:defRPr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10B30"/>
              </a:buClr>
              <a:buSzPts val="1100"/>
              <a:buFont typeface="Arial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5"/>
          <p:cNvSpPr/>
          <p:nvPr/>
        </p:nvSpPr>
        <p:spPr>
          <a:xfrm>
            <a:off x="0" y="4953363"/>
            <a:ext cx="9145800" cy="190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 txBox="1"/>
          <p:nvPr/>
        </p:nvSpPr>
        <p:spPr>
          <a:xfrm>
            <a:off x="82550" y="4953363"/>
            <a:ext cx="4363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82549" y="4953363"/>
            <a:ext cx="4668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7004050" y="4965770"/>
            <a:ext cx="2057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>
            <a:lvl1pPr indent="0" lvl="0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0" y="203360"/>
            <a:ext cx="135900" cy="5163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ctrTitle"/>
          </p:nvPr>
        </p:nvSpPr>
        <p:spPr>
          <a:xfrm>
            <a:off x="822960" y="569214"/>
            <a:ext cx="75438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subTitle"/>
          </p:nvPr>
        </p:nvSpPr>
        <p:spPr>
          <a:xfrm>
            <a:off x="825038" y="3341717"/>
            <a:ext cx="7543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rgbClr val="A10B3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75" name="Google Shape;75;p17"/>
          <p:cNvCxnSpPr/>
          <p:nvPr/>
        </p:nvCxnSpPr>
        <p:spPr>
          <a:xfrm>
            <a:off x="905744" y="3257550"/>
            <a:ext cx="7406400" cy="0"/>
          </a:xfrm>
          <a:prstGeom prst="straightConnector1">
            <a:avLst/>
          </a:prstGeom>
          <a:noFill/>
          <a:ln cap="flat" cmpd="sng" w="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7"/>
          <p:cNvSpPr/>
          <p:nvPr/>
        </p:nvSpPr>
        <p:spPr>
          <a:xfrm>
            <a:off x="0" y="4953363"/>
            <a:ext cx="9145800" cy="190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82550" y="4953363"/>
            <a:ext cx="4363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82549" y="4953363"/>
            <a:ext cx="4668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7004050" y="4965770"/>
            <a:ext cx="2057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258024" y="224372"/>
            <a:ext cx="87252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B3112C"/>
              </a:buClr>
              <a:buSzPts val="3600"/>
              <a:buFont typeface="Arial"/>
              <a:buNone/>
              <a:defRPr>
                <a:solidFill>
                  <a:srgbClr val="B3112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258024" y="832757"/>
            <a:ext cx="8725200" cy="4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A10B30"/>
              </a:buClr>
              <a:buSzPts val="1500"/>
              <a:buFont typeface="Arial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A10B30"/>
              </a:buClr>
              <a:buSzPts val="1400"/>
              <a:buFont typeface="Arial"/>
              <a:buChar char="•"/>
              <a:defRPr/>
            </a:lvl2pPr>
            <a:lvl3pPr indent="-29845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10B30"/>
              </a:buClr>
              <a:buSzPts val="1100"/>
              <a:buFont typeface="Arial"/>
              <a:buChar char="•"/>
              <a:defRPr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10B30"/>
              </a:buClr>
              <a:buSzPts val="1100"/>
              <a:buFont typeface="Arial"/>
              <a:buChar char="•"/>
              <a:defRPr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10B30"/>
              </a:buClr>
              <a:buSzPts val="1100"/>
              <a:buFont typeface="Arial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83" name="Google Shape;83;p18"/>
          <p:cNvSpPr/>
          <p:nvPr/>
        </p:nvSpPr>
        <p:spPr>
          <a:xfrm>
            <a:off x="0" y="4953363"/>
            <a:ext cx="9145800" cy="190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82550" y="4953363"/>
            <a:ext cx="4363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82549" y="4953363"/>
            <a:ext cx="4668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7004050" y="4965770"/>
            <a:ext cx="2057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0" y="203360"/>
            <a:ext cx="135900" cy="5163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0" y="4953363"/>
            <a:ext cx="9145800" cy="190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82550" y="4953363"/>
            <a:ext cx="4363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7004050" y="4965770"/>
            <a:ext cx="2057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0" y="2000207"/>
            <a:ext cx="9144000" cy="6516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3068832" y="2025717"/>
            <a:ext cx="30063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0" y="-190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683919"/>
            <a:ext cx="1600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683919"/>
            <a:ext cx="2171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683919"/>
            <a:ext cx="1600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98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1" type="ftr"/>
          </p:nvPr>
        </p:nvSpPr>
        <p:spPr>
          <a:xfrm>
            <a:off x="3108960" y="4783455"/>
            <a:ext cx="2926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0" type="dt"/>
          </p:nvPr>
        </p:nvSpPr>
        <p:spPr>
          <a:xfrm>
            <a:off x="457200" y="4783455"/>
            <a:ext cx="21030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8459071" y="4784927"/>
            <a:ext cx="205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15106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142885" y="299493"/>
            <a:ext cx="8792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26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09" name="Google Shape;109;p23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ctrTitle"/>
          </p:nvPr>
        </p:nvSpPr>
        <p:spPr>
          <a:xfrm>
            <a:off x="196160" y="299493"/>
            <a:ext cx="8751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26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500"/>
              <a:buNone/>
              <a:defRPr b="0" i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300"/>
              </a:spcBef>
              <a:spcAft>
                <a:spcPts val="30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5" name="Google Shape;115;p2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231" y="1835888"/>
            <a:ext cx="4616887" cy="2160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4985" y="1887741"/>
            <a:ext cx="4174654" cy="204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 txBox="1"/>
          <p:nvPr>
            <p:ph type="title"/>
          </p:nvPr>
        </p:nvSpPr>
        <p:spPr>
          <a:xfrm>
            <a:off x="142885" y="299493"/>
            <a:ext cx="8792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26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90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300"/>
              </a:spcBef>
              <a:spcAft>
                <a:spcPts val="30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90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300"/>
              </a:spcBef>
              <a:spcAft>
                <a:spcPts val="30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24" name="Google Shape;124;p2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OBJECT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>
            <a:off x="793316" y="1072821"/>
            <a:ext cx="56985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2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/>
          <p:nvPr>
            <p:ph type="title"/>
          </p:nvPr>
        </p:nvSpPr>
        <p:spPr>
          <a:xfrm>
            <a:off x="793316" y="1072821"/>
            <a:ext cx="56985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7"/>
          <p:cNvSpPr txBox="1"/>
          <p:nvPr>
            <p:ph idx="1" type="body"/>
          </p:nvPr>
        </p:nvSpPr>
        <p:spPr>
          <a:xfrm>
            <a:off x="793316" y="1673824"/>
            <a:ext cx="7527000" cy="19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900"/>
              </a:spcBef>
              <a:spcAft>
                <a:spcPts val="0"/>
              </a:spcAft>
              <a:buSzPts val="1500"/>
              <a:buNone/>
              <a:defRPr b="0" i="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300"/>
              </a:spcBef>
              <a:spcAft>
                <a:spcPts val="30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OBJECT_2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3723449" y="356711"/>
            <a:ext cx="16971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9pPr>
          </a:lstStyle>
          <a:p/>
        </p:txBody>
      </p:sp>
      <p:sp>
        <p:nvSpPr>
          <p:cNvPr id="138" name="Google Shape;138;p2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9pPr>
          </a:lstStyle>
          <a:p/>
        </p:txBody>
      </p:sp>
      <p:sp>
        <p:nvSpPr>
          <p:cNvPr id="139" name="Google Shape;139;p2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0" name="Google Shape;140;p28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0" y="4953363"/>
            <a:ext cx="9145800" cy="190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258024" y="243757"/>
            <a:ext cx="87252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B3112C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B3112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258024" y="832757"/>
            <a:ext cx="8725200" cy="4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 "/>
              <a:defRPr b="0" i="0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C41230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C41230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C41230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845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845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8450" lvl="8" marL="4114800" marR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8" name="Google Shape;68;p16"/>
          <p:cNvSpPr txBox="1"/>
          <p:nvPr/>
        </p:nvSpPr>
        <p:spPr>
          <a:xfrm>
            <a:off x="82550" y="4953363"/>
            <a:ext cx="4363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u="non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 txBox="1"/>
          <p:nvPr>
            <p:ph idx="11" type="ftr"/>
          </p:nvPr>
        </p:nvSpPr>
        <p:spPr>
          <a:xfrm>
            <a:off x="82549" y="4953363"/>
            <a:ext cx="4668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7004050" y="4952999"/>
            <a:ext cx="2057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0" y="203360"/>
            <a:ext cx="135900" cy="5163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hyperlink" Target="https://arxiv.org/abs/2501.12948" TargetMode="External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shuyanzhou.com/teaching/25fall-590/25fall-590.html" TargetMode="External"/><Relationship Id="rId4" Type="http://schemas.openxmlformats.org/officeDocument/2006/relationships/hyperlink" Target="https://rdi.berkeley.edu/adv-llm-agents/sp25" TargetMode="External"/><Relationship Id="rId9" Type="http://schemas.openxmlformats.org/officeDocument/2006/relationships/hyperlink" Target="https://www.computer.org/csdl/journal/tg/5555/01/11261841/2bNrRBBUsAE" TargetMode="External"/><Relationship Id="rId5" Type="http://schemas.openxmlformats.org/officeDocument/2006/relationships/hyperlink" Target="https://agenticai-learning.org/sp25" TargetMode="External"/><Relationship Id="rId6" Type="http://schemas.openxmlformats.org/officeDocument/2006/relationships/hyperlink" Target="https://arxiv.org/pdf/2201.11903" TargetMode="External"/><Relationship Id="rId7" Type="http://schemas.openxmlformats.org/officeDocument/2006/relationships/hyperlink" Target="https://arxiv.org/abs/2210.03629" TargetMode="External"/><Relationship Id="rId8" Type="http://schemas.openxmlformats.org/officeDocument/2006/relationships/hyperlink" Target="https://arxiv.org/abs/2303.11366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ctrTitle"/>
          </p:nvPr>
        </p:nvSpPr>
        <p:spPr>
          <a:xfrm>
            <a:off x="1367350" y="2299850"/>
            <a:ext cx="64092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B3112C"/>
              </a:buClr>
              <a:buSzPts val="3000"/>
              <a:buFont typeface="Arial"/>
              <a:buNone/>
            </a:pPr>
            <a:r>
              <a:rPr lang="en" sz="3000">
                <a:solidFill>
                  <a:srgbClr val="B3112C"/>
                </a:solidFill>
              </a:rPr>
              <a:t>CS6960 MultiModal LLM Agents</a:t>
            </a:r>
            <a:endParaRPr/>
          </a:p>
        </p:txBody>
      </p:sp>
      <p:sp>
        <p:nvSpPr>
          <p:cNvPr id="146" name="Google Shape;146;p29"/>
          <p:cNvSpPr txBox="1"/>
          <p:nvPr>
            <p:ph idx="1" type="subTitle"/>
          </p:nvPr>
        </p:nvSpPr>
        <p:spPr>
          <a:xfrm>
            <a:off x="1342455" y="3305288"/>
            <a:ext cx="64590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600" cap="none">
                <a:solidFill>
                  <a:schemeClr val="dk1"/>
                </a:solidFill>
              </a:rPr>
              <a:t>Kenneth Marino</a:t>
            </a:r>
            <a:endParaRPr sz="3300"/>
          </a:p>
        </p:txBody>
      </p:sp>
      <p:sp>
        <p:nvSpPr>
          <p:cNvPr id="147" name="Google Shape;147;p29"/>
          <p:cNvSpPr txBox="1"/>
          <p:nvPr/>
        </p:nvSpPr>
        <p:spPr>
          <a:xfrm>
            <a:off x="0" y="4637975"/>
            <a:ext cx="796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Slide credits: Yoav Artzi, Shuyan Zhou, Xinyun Chen,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9"/>
          <p:cNvSpPr txBox="1"/>
          <p:nvPr>
            <p:ph type="ctrTitle"/>
          </p:nvPr>
        </p:nvSpPr>
        <p:spPr>
          <a:xfrm>
            <a:off x="1367400" y="779575"/>
            <a:ext cx="64092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B3112C"/>
              </a:buClr>
              <a:buSzPts val="3000"/>
              <a:buFont typeface="Arial"/>
              <a:buNone/>
            </a:pPr>
            <a:r>
              <a:rPr lang="en" sz="4300">
                <a:solidFill>
                  <a:srgbClr val="B3112C"/>
                </a:solidFill>
              </a:rPr>
              <a:t>Agent Frameworks</a:t>
            </a:r>
            <a:endParaRPr sz="7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155" name="Google Shape;155;p30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30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lnSpcReduction="20000"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HW1 due in two weeks</a:t>
            </a:r>
            <a:endParaRPr sz="19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See Syeda’s note in </a:t>
            </a:r>
            <a:r>
              <a:rPr lang="en" sz="1900"/>
              <a:t>announcements</a:t>
            </a:r>
            <a:r>
              <a:rPr lang="en" sz="1900"/>
              <a:t> / read the new instructions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Basically just asking you to read the intro unit to the HF Agents tutorial and write some boilerplate code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HW0</a:t>
            </a:r>
            <a:endParaRPr sz="23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Hopefully you’re done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Can give an extension if you recently joined the course</a:t>
            </a:r>
            <a:endParaRPr sz="19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Paper Presentations starting today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Projects</a:t>
            </a:r>
            <a:endParaRPr sz="23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Start thinking of ideas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We’re working on a list of “starter ideas”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Read through papers in area you’re interested in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164" name="Google Shape;164;p31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1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Recommended Readings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311700" y="1152475"/>
            <a:ext cx="8419200" cy="3695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lnSpcReduction="10000"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Agent </a:t>
            </a:r>
            <a:r>
              <a:rPr lang="en" sz="2300"/>
              <a:t>Courses/Tutorials</a:t>
            </a:r>
            <a:endParaRPr sz="19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 u="sng">
                <a:solidFill>
                  <a:schemeClr val="hlink"/>
                </a:solidFill>
                <a:hlinkClick r:id="rId3"/>
              </a:rPr>
              <a:t>https://www.shuyanzhou.com/teaching/25fall-590/25fall-590.html</a:t>
            </a:r>
            <a:r>
              <a:rPr lang="en" sz="1900"/>
              <a:t> 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 u="sng">
                <a:solidFill>
                  <a:schemeClr val="hlink"/>
                </a:solidFill>
                <a:hlinkClick r:id="rId4"/>
              </a:rPr>
              <a:t>https://rdi.berkeley.edu/adv-llm-agents/sp25</a:t>
            </a:r>
            <a:r>
              <a:rPr lang="en" sz="1900"/>
              <a:t> 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 u="sng">
                <a:solidFill>
                  <a:schemeClr val="hlink"/>
                </a:solidFill>
                <a:hlinkClick r:id="rId5"/>
              </a:rPr>
              <a:t>https://agenticai-learning.org/sp25</a:t>
            </a:r>
            <a:r>
              <a:rPr lang="en" sz="1900"/>
              <a:t> </a:t>
            </a:r>
            <a:endParaRPr sz="19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This week’s papers</a:t>
            </a:r>
            <a:endParaRPr sz="23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 u="sng">
                <a:solidFill>
                  <a:schemeClr val="hlink"/>
                </a:solidFill>
                <a:hlinkClick r:id="rId6"/>
              </a:rPr>
              <a:t>Chain-of-Thought Prompting Elicits Reasoning in Large Language Models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 u="sng">
                <a:solidFill>
                  <a:schemeClr val="hlink"/>
                </a:solidFill>
                <a:hlinkClick r:id="rId7"/>
              </a:rPr>
              <a:t>ReAct: Synergizing Reasoning and Acting in Language Models</a:t>
            </a:r>
            <a:r>
              <a:rPr lang="en" sz="1900"/>
              <a:t> 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 u="sng">
                <a:solidFill>
                  <a:schemeClr val="hlink"/>
                </a:solidFill>
                <a:hlinkClick r:id="rId8"/>
              </a:rPr>
              <a:t>Reflexion: Language Agents with Verbal Reinforcement Learning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 u="sng">
                <a:solidFill>
                  <a:schemeClr val="hlink"/>
                </a:solidFill>
                <a:hlinkClick r:id="rId9"/>
              </a:rPr>
              <a:t>Charts-of-Thought: Enhancing LLM Visualization Literacy through Structured Data Extraction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900"/>
              <a:buChar char="○"/>
            </a:pPr>
            <a:r>
              <a:rPr lang="en" sz="1900" u="sng">
                <a:solidFill>
                  <a:schemeClr val="hlink"/>
                </a:solidFill>
                <a:hlinkClick r:id="rId10"/>
              </a:rPr>
              <a:t>DeepSeek-R1: Incentivizing Reasoning Capability in LLMs via Reinforcement Learning</a:t>
            </a:r>
            <a:r>
              <a:rPr lang="en" sz="1900"/>
              <a:t>   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32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Lectures Going Forward</a:t>
            </a:r>
            <a:endParaRPr/>
          </a:p>
        </p:txBody>
      </p:sp>
      <p:sp>
        <p:nvSpPr>
          <p:cNvPr id="175" name="Google Shape;175;p32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Meant to be fairly short / high-level</a:t>
            </a:r>
            <a:endParaRPr sz="19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More an introduction/framing of the topic than a deep dive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Maybe 20-40 mins depending on how much I have to say about the topic</a:t>
            </a:r>
            <a:endParaRPr sz="1900"/>
          </a:p>
          <a:p>
            <a:pPr indent="-374650" lvl="0" marL="457200" rtl="0" algn="l">
              <a:spcBef>
                <a:spcPts val="900"/>
              </a:spcBef>
              <a:spcAft>
                <a:spcPts val="20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Imperative</a:t>
            </a:r>
            <a:r>
              <a:rPr lang="en" sz="2300"/>
              <a:t> that you read papers and participate in class discussions to get full breadth of topic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182" name="Google Shape;182;p33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33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/>
              <a:t>What does VLM agent actually look like?</a:t>
            </a:r>
            <a:endParaRPr sz="2740"/>
          </a:p>
        </p:txBody>
      </p:sp>
      <p:pic>
        <p:nvPicPr>
          <p:cNvPr id="190" name="Google Shape;19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325" y="1282725"/>
            <a:ext cx="7746824" cy="29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4"/>
          <p:cNvSpPr/>
          <p:nvPr/>
        </p:nvSpPr>
        <p:spPr>
          <a:xfrm>
            <a:off x="4027425" y="1532275"/>
            <a:ext cx="1397700" cy="849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VLM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/>
              <a:t>What does VLM agent actually look like?</a:t>
            </a:r>
            <a:endParaRPr sz="2740"/>
          </a:p>
        </p:txBody>
      </p:sp>
      <p:pic>
        <p:nvPicPr>
          <p:cNvPr id="198" name="Google Shape;19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325" y="1282725"/>
            <a:ext cx="7746824" cy="29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5"/>
          <p:cNvSpPr/>
          <p:nvPr/>
        </p:nvSpPr>
        <p:spPr>
          <a:xfrm>
            <a:off x="4027425" y="1532275"/>
            <a:ext cx="1397700" cy="849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VLM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00" name="Google Shape;200;p35"/>
          <p:cNvSpPr/>
          <p:nvPr/>
        </p:nvSpPr>
        <p:spPr>
          <a:xfrm>
            <a:off x="2288075" y="15322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 text/images</a:t>
            </a:r>
            <a:endParaRPr/>
          </a:p>
        </p:txBody>
      </p:sp>
      <p:sp>
        <p:nvSpPr>
          <p:cNvPr id="201" name="Google Shape;201;p35"/>
          <p:cNvSpPr/>
          <p:nvPr/>
        </p:nvSpPr>
        <p:spPr>
          <a:xfrm>
            <a:off x="5735675" y="16927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 text (usually)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/>
              <a:t>What does VLM agent actually look like?</a:t>
            </a:r>
            <a:endParaRPr sz="2740"/>
          </a:p>
        </p:txBody>
      </p:sp>
      <p:pic>
        <p:nvPicPr>
          <p:cNvPr id="208" name="Google Shape;20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325" y="1282725"/>
            <a:ext cx="7746824" cy="29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6"/>
          <p:cNvSpPr/>
          <p:nvPr/>
        </p:nvSpPr>
        <p:spPr>
          <a:xfrm>
            <a:off x="4027425" y="1532275"/>
            <a:ext cx="1397700" cy="849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VLM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10" name="Google Shape;210;p36"/>
          <p:cNvSpPr/>
          <p:nvPr/>
        </p:nvSpPr>
        <p:spPr>
          <a:xfrm>
            <a:off x="2288075" y="15322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 text/images</a:t>
            </a:r>
            <a:endParaRPr/>
          </a:p>
        </p:txBody>
      </p:sp>
      <p:sp>
        <p:nvSpPr>
          <p:cNvPr id="211" name="Google Shape;211;p36"/>
          <p:cNvSpPr/>
          <p:nvPr/>
        </p:nvSpPr>
        <p:spPr>
          <a:xfrm>
            <a:off x="5735675" y="16927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 text (usually)</a:t>
            </a:r>
            <a:endParaRPr/>
          </a:p>
        </p:txBody>
      </p:sp>
      <p:pic>
        <p:nvPicPr>
          <p:cNvPr id="212" name="Google Shape;21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750" y="2818175"/>
            <a:ext cx="2671150" cy="14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“stuff”</a:t>
            </a:r>
            <a:endParaRPr/>
          </a:p>
        </p:txBody>
      </p:sp>
      <p:sp>
        <p:nvSpPr>
          <p:cNvPr id="219" name="Google Shape;219;p37"/>
          <p:cNvSpPr txBox="1"/>
          <p:nvPr/>
        </p:nvSpPr>
        <p:spPr>
          <a:xfrm>
            <a:off x="6356100" y="4541812"/>
            <a:ext cx="2787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Image credit: Farhan Ishmam</a:t>
            </a:r>
            <a:endParaRPr sz="1500">
              <a:solidFill>
                <a:srgbClr val="3F3F3F"/>
              </a:solidFill>
            </a:endParaRPr>
          </a:p>
        </p:txBody>
      </p:sp>
      <p:pic>
        <p:nvPicPr>
          <p:cNvPr id="220" name="Google Shape;220;p37" title="Computer Use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362" y="928950"/>
            <a:ext cx="7525275" cy="34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“stuff”</a:t>
            </a:r>
            <a:endParaRPr/>
          </a:p>
        </p:txBody>
      </p:sp>
      <p:sp>
        <p:nvSpPr>
          <p:cNvPr id="227" name="Google Shape;227;p38"/>
          <p:cNvSpPr txBox="1"/>
          <p:nvPr/>
        </p:nvSpPr>
        <p:spPr>
          <a:xfrm>
            <a:off x="6356100" y="4541812"/>
            <a:ext cx="2787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Image credit: Farhan Ishmam</a:t>
            </a:r>
            <a:endParaRPr sz="1500">
              <a:solidFill>
                <a:srgbClr val="3F3F3F"/>
              </a:solidFill>
            </a:endParaRPr>
          </a:p>
        </p:txBody>
      </p:sp>
      <p:pic>
        <p:nvPicPr>
          <p:cNvPr id="228" name="Google Shape;228;p38" title="Computer Use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362" y="928950"/>
            <a:ext cx="7525275" cy="34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/>
          <p:cNvSpPr/>
          <p:nvPr/>
        </p:nvSpPr>
        <p:spPr>
          <a:xfrm>
            <a:off x="4158450" y="152300"/>
            <a:ext cx="2787900" cy="7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Frameworks for LLMs to be better at actions (reflect, plan, replan, etc)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236" name="Google Shape;236;p39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39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this?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244" name="Google Shape;244;p40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40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this means for VLM Agents</a:t>
            </a:r>
            <a:endParaRPr/>
          </a:p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fontScale="92500" lnSpcReduction="20000"/>
          </a:bodyPr>
          <a:lstStyle/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Basics of environment, maximizing reward, policies, all apply</a:t>
            </a:r>
            <a:endParaRPr sz="23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State/observation given by text image tokens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Output is text (then interpreted as environment actions)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Want to maximize some reward (answer a query, fill out a web form, do some action in the environment)</a:t>
            </a:r>
            <a:endParaRPr sz="1900"/>
          </a:p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Most useful algorithms to know</a:t>
            </a:r>
            <a:endParaRPr sz="23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Imitation learning probably most common</a:t>
            </a:r>
            <a:endParaRPr sz="1900"/>
          </a:p>
          <a:p>
            <a:pPr indent="-186680" lvl="7" marL="11303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1664">
                <a:latin typeface="Arial"/>
                <a:ea typeface="Arial"/>
                <a:cs typeface="Arial"/>
                <a:sym typeface="Arial"/>
              </a:rPr>
              <a:t>When we talk about LLMs, this is exactly the same as Supervised Fine Tuning (SFT)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When we do RL with agents, PPO is most commonly used</a:t>
            </a:r>
            <a:endParaRPr sz="1900"/>
          </a:p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VLM agents also often work without any training!</a:t>
            </a:r>
            <a:endParaRPr sz="23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Through prompting frameworks and other methods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Just relies on general ability of the base models!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100000"/>
              <a:buChar char="○"/>
            </a:pPr>
            <a:r>
              <a:rPr b="1" lang="en" sz="1900">
                <a:highlight>
                  <a:srgbClr val="FFFF00"/>
                </a:highlight>
              </a:rPr>
              <a:t>There will always be a limit on how good this will be / no way to make it better</a:t>
            </a:r>
            <a:endParaRPr b="1" sz="19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253" name="Google Shape;253;p41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41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this means for VLM Agents</a:t>
            </a:r>
            <a:endParaRPr/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fontScale="92500" lnSpcReduction="20000"/>
          </a:bodyPr>
          <a:lstStyle/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Basics of environment, maximizing reward, policies, all apply</a:t>
            </a:r>
            <a:endParaRPr sz="23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State/observation given by text image tokens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Output is text (then interpreted as environment actions)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Want to maximize some reward (answer a query, fill out a web form, do some action in the environment)</a:t>
            </a:r>
            <a:endParaRPr sz="1900"/>
          </a:p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Most useful algorithms to know</a:t>
            </a:r>
            <a:endParaRPr sz="23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Imitation learning probably most common</a:t>
            </a:r>
            <a:endParaRPr sz="1900"/>
          </a:p>
          <a:p>
            <a:pPr indent="-186680" lvl="7" marL="11303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1664">
                <a:latin typeface="Arial"/>
                <a:ea typeface="Arial"/>
                <a:cs typeface="Arial"/>
                <a:sym typeface="Arial"/>
              </a:rPr>
              <a:t>When we talk about LLMs, this is exactly the same as Supervised Fine Tuning (SFT)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When we do RL with agents, PPO is most commonly used</a:t>
            </a:r>
            <a:endParaRPr sz="1900"/>
          </a:p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VLM agents also often work without any training!</a:t>
            </a:r>
            <a:endParaRPr sz="23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Through prompting frameworks and other methods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Just relies on general ability of the base models!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100000"/>
              <a:buChar char="○"/>
            </a:pPr>
            <a:r>
              <a:rPr b="1" lang="en" sz="1900">
                <a:highlight>
                  <a:srgbClr val="FFFF00"/>
                </a:highlight>
              </a:rPr>
              <a:t>There will always be a limit on how good this will be / no way to make it better</a:t>
            </a:r>
            <a:endParaRPr b="1" sz="1900">
              <a:highlight>
                <a:srgbClr val="FFFF00"/>
              </a:highlight>
            </a:endParaRPr>
          </a:p>
        </p:txBody>
      </p:sp>
      <p:sp>
        <p:nvSpPr>
          <p:cNvPr id="256" name="Google Shape;256;p41"/>
          <p:cNvSpPr/>
          <p:nvPr/>
        </p:nvSpPr>
        <p:spPr>
          <a:xfrm>
            <a:off x="4593825" y="2316550"/>
            <a:ext cx="2630700" cy="1305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there a way to make VLM better without training?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263" name="Google Shape;263;p42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42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VLM’s distribution</a:t>
            </a:r>
            <a:endParaRPr/>
          </a:p>
        </p:txBody>
      </p:sp>
      <p:sp>
        <p:nvSpPr>
          <p:cNvPr id="265" name="Google Shape;265;p42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LLM/VLM</a:t>
            </a:r>
            <a:endParaRPr sz="1900"/>
          </a:p>
          <a:p>
            <a:pPr indent="-349250" lvl="1" marL="914400" rtl="0" algn="l">
              <a:spcBef>
                <a:spcPts val="200"/>
              </a:spcBef>
              <a:spcAft>
                <a:spcPts val="30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Pre-trained on Internet Data</a:t>
            </a:r>
            <a:endParaRPr sz="1900"/>
          </a:p>
        </p:txBody>
      </p:sp>
      <p:pic>
        <p:nvPicPr>
          <p:cNvPr id="266" name="Google Shape;2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900" y="2772075"/>
            <a:ext cx="1964879" cy="17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2"/>
          <p:cNvSpPr txBox="1"/>
          <p:nvPr/>
        </p:nvSpPr>
        <p:spPr>
          <a:xfrm>
            <a:off x="1212000" y="4403575"/>
            <a:ext cx="35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Pretrianing Distribution</a:t>
            </a:r>
            <a:endParaRPr sz="15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274" name="Google Shape;274;p43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43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VLM’s distribution</a:t>
            </a:r>
            <a:endParaRPr/>
          </a:p>
        </p:txBody>
      </p:sp>
      <p:sp>
        <p:nvSpPr>
          <p:cNvPr id="276" name="Google Shape;276;p43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LLM/VLM</a:t>
            </a:r>
            <a:endParaRPr sz="19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Pre-trained on Internet Data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Finetuned on some task specific data</a:t>
            </a:r>
            <a:endParaRPr sz="1900"/>
          </a:p>
        </p:txBody>
      </p:sp>
      <p:pic>
        <p:nvPicPr>
          <p:cNvPr id="277" name="Google Shape;27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900" y="2772075"/>
            <a:ext cx="1964879" cy="17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3"/>
          <p:cNvSpPr txBox="1"/>
          <p:nvPr/>
        </p:nvSpPr>
        <p:spPr>
          <a:xfrm>
            <a:off x="1212000" y="4403575"/>
            <a:ext cx="35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Pretrianing Distribution</a:t>
            </a:r>
            <a:endParaRPr sz="1500">
              <a:solidFill>
                <a:srgbClr val="3F3F3F"/>
              </a:solidFill>
            </a:endParaRPr>
          </a:p>
        </p:txBody>
      </p:sp>
      <p:cxnSp>
        <p:nvCxnSpPr>
          <p:cNvPr id="279" name="Google Shape;279;p43"/>
          <p:cNvCxnSpPr/>
          <p:nvPr/>
        </p:nvCxnSpPr>
        <p:spPr>
          <a:xfrm>
            <a:off x="3235779" y="3525462"/>
            <a:ext cx="788700" cy="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80" name="Google Shape;28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3025" y="2730425"/>
            <a:ext cx="1964879" cy="17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3"/>
          <p:cNvSpPr txBox="1"/>
          <p:nvPr/>
        </p:nvSpPr>
        <p:spPr>
          <a:xfrm>
            <a:off x="4252825" y="4403575"/>
            <a:ext cx="35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Finetuned Distribution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282" name="Google Shape;282;p43"/>
          <p:cNvSpPr txBox="1"/>
          <p:nvPr/>
        </p:nvSpPr>
        <p:spPr>
          <a:xfrm>
            <a:off x="3298125" y="3109950"/>
            <a:ext cx="140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SFT</a:t>
            </a:r>
            <a:endParaRPr sz="15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289" name="Google Shape;289;p44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44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VLM’s distribution</a:t>
            </a:r>
            <a:endParaRPr/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LLM/VLM</a:t>
            </a:r>
            <a:endParaRPr sz="19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Pre-trained on Internet Data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Finetuned on some task specific data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Use prompting to shift the input to get a different distribution</a:t>
            </a:r>
            <a:endParaRPr sz="1900"/>
          </a:p>
        </p:txBody>
      </p:sp>
      <p:pic>
        <p:nvPicPr>
          <p:cNvPr id="292" name="Google Shape;29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900" y="2772075"/>
            <a:ext cx="1964879" cy="17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4"/>
          <p:cNvSpPr txBox="1"/>
          <p:nvPr/>
        </p:nvSpPr>
        <p:spPr>
          <a:xfrm>
            <a:off x="1212000" y="4403575"/>
            <a:ext cx="35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Pretrianing Distribution</a:t>
            </a:r>
            <a:endParaRPr sz="1500">
              <a:solidFill>
                <a:srgbClr val="3F3F3F"/>
              </a:solidFill>
            </a:endParaRPr>
          </a:p>
        </p:txBody>
      </p:sp>
      <p:cxnSp>
        <p:nvCxnSpPr>
          <p:cNvPr id="294" name="Google Shape;294;p44"/>
          <p:cNvCxnSpPr/>
          <p:nvPr/>
        </p:nvCxnSpPr>
        <p:spPr>
          <a:xfrm>
            <a:off x="3235779" y="3525462"/>
            <a:ext cx="788700" cy="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95" name="Google Shape;2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3025" y="2730425"/>
            <a:ext cx="1964879" cy="17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4"/>
          <p:cNvSpPr txBox="1"/>
          <p:nvPr/>
        </p:nvSpPr>
        <p:spPr>
          <a:xfrm>
            <a:off x="4252825" y="4403575"/>
            <a:ext cx="35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Finetuned</a:t>
            </a:r>
            <a:r>
              <a:rPr lang="en" sz="1500">
                <a:solidFill>
                  <a:srgbClr val="3F3F3F"/>
                </a:solidFill>
              </a:rPr>
              <a:t> Distribution</a:t>
            </a:r>
            <a:endParaRPr sz="1500">
              <a:solidFill>
                <a:srgbClr val="3F3F3F"/>
              </a:solidFill>
            </a:endParaRPr>
          </a:p>
        </p:txBody>
      </p:sp>
      <p:pic>
        <p:nvPicPr>
          <p:cNvPr id="297" name="Google Shape;2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0680" y="2720609"/>
            <a:ext cx="1964879" cy="1712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8" name="Google Shape;298;p44"/>
          <p:cNvCxnSpPr/>
          <p:nvPr/>
        </p:nvCxnSpPr>
        <p:spPr>
          <a:xfrm>
            <a:off x="5567279" y="3525462"/>
            <a:ext cx="788700" cy="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44"/>
          <p:cNvSpPr txBox="1"/>
          <p:nvPr/>
        </p:nvSpPr>
        <p:spPr>
          <a:xfrm>
            <a:off x="6417482" y="4383943"/>
            <a:ext cx="35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Prompting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300" name="Google Shape;300;p44"/>
          <p:cNvSpPr txBox="1"/>
          <p:nvPr/>
        </p:nvSpPr>
        <p:spPr>
          <a:xfrm>
            <a:off x="3298125" y="3109950"/>
            <a:ext cx="565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SFT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301" name="Google Shape;301;p44"/>
          <p:cNvSpPr txBox="1"/>
          <p:nvPr/>
        </p:nvSpPr>
        <p:spPr>
          <a:xfrm>
            <a:off x="5362375" y="3109950"/>
            <a:ext cx="565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Prompting</a:t>
            </a:r>
            <a:endParaRPr sz="15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308" name="Google Shape;308;p45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45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Prompting!</a:t>
            </a:r>
            <a:endParaRPr/>
          </a:p>
        </p:txBody>
      </p:sp>
      <p:sp>
        <p:nvSpPr>
          <p:cNvPr id="310" name="Google Shape;310;p45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lnSpcReduction="10000"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Simple way to turn LLMs into task-specific models</a:t>
            </a:r>
            <a:endParaRPr sz="19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You benefit from the rich representations of the LLM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Finetuned on some task specific data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LLMs offer a completely new mode of operation that does not require any changes to its parameters: prompting</a:t>
            </a:r>
            <a:r>
              <a:rPr lang="en" sz="2300"/>
              <a:t> </a:t>
            </a:r>
            <a:endParaRPr sz="23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With or without annotated examples: zero-shot or in-context learning (few-shot)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With or without intermediate reasoning steps: </a:t>
            </a:r>
            <a:r>
              <a:rPr b="1" lang="en" sz="1900"/>
              <a:t>chain-of-thought prompting</a:t>
            </a:r>
            <a:endParaRPr b="1"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Prompt to Act and plan - ReAct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Prompt to self-correct mistakes - Reflexion </a:t>
            </a:r>
            <a:endParaRPr sz="1900"/>
          </a:p>
        </p:txBody>
      </p:sp>
      <p:sp>
        <p:nvSpPr>
          <p:cNvPr id="311" name="Google Shape;311;p45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Material from Yoav Artzi</a:t>
            </a:r>
            <a:endParaRPr sz="15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318" name="Google Shape;318;p46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46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Zero-shot Prompting</a:t>
            </a:r>
            <a:endParaRPr/>
          </a:p>
        </p:txBody>
      </p:sp>
      <p:sp>
        <p:nvSpPr>
          <p:cNvPr id="320" name="Google Shape;320;p46"/>
          <p:cNvSpPr txBox="1"/>
          <p:nvPr>
            <p:ph idx="1" type="body"/>
          </p:nvPr>
        </p:nvSpPr>
        <p:spPr>
          <a:xfrm>
            <a:off x="311700" y="1152475"/>
            <a:ext cx="50676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556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/>
              <a:t>Input: single unlabeled example x</a:t>
            </a:r>
            <a:endParaRPr sz="2000"/>
          </a:p>
          <a:p>
            <a:pPr indent="-3556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Output: the label </a:t>
            </a:r>
            <a:r>
              <a:rPr i="1" lang="en" sz="2000">
                <a:solidFill>
                  <a:schemeClr val="dk1"/>
                </a:solidFill>
              </a:rPr>
              <a:t>y</a:t>
            </a:r>
            <a:r>
              <a:rPr lang="en" sz="2000"/>
              <a:t> </a:t>
            </a:r>
            <a:endParaRPr sz="2000"/>
          </a:p>
          <a:p>
            <a:pPr indent="-3556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 task (and output) can be any text-to-text task: classification, summarization, translation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Pre-processing: wrap x in a verbalizer template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900"/>
              </a:spcBef>
              <a:spcAft>
                <a:spcPts val="20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 template controls the output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21" name="Google Shape;321;p46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Material from Yoav Artzi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322" name="Google Shape;322;p46"/>
          <p:cNvSpPr txBox="1"/>
          <p:nvPr/>
        </p:nvSpPr>
        <p:spPr>
          <a:xfrm>
            <a:off x="5439196" y="684541"/>
            <a:ext cx="3432000" cy="807600"/>
          </a:xfrm>
          <a:prstGeom prst="rect">
            <a:avLst/>
          </a:prstGeom>
          <a:noFill/>
          <a:ln cap="flat" cmpd="sng" w="16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2875">
            <a:spAutoFit/>
          </a:bodyPr>
          <a:lstStyle/>
          <a:p>
            <a:pPr indent="25400" lvl="0" marL="38100" marR="457200" rtl="0" algn="just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x =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the movie’s acting could’ve been better, but the visuals and directing were top-notch.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5439196" y="1902262"/>
            <a:ext cx="3432000" cy="1223700"/>
          </a:xfrm>
          <a:prstGeom prst="rect">
            <a:avLst/>
          </a:prstGeom>
          <a:noFill/>
          <a:ln cap="flat" cmpd="sng" w="16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200">
            <a:spAutoFit/>
          </a:bodyPr>
          <a:lstStyle/>
          <a:p>
            <a:pPr indent="0" lvl="0" marL="38100" marR="8890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en" sz="17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) = </a:t>
            </a:r>
            <a:r>
              <a:rPr lang="en" sz="1400">
                <a:solidFill>
                  <a:srgbClr val="EE220C"/>
                </a:solidFill>
                <a:latin typeface="Arial"/>
                <a:ea typeface="Arial"/>
                <a:cs typeface="Arial"/>
                <a:sym typeface="Arial"/>
              </a:rPr>
              <a:t>Review: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the movie’s acting could’ve been better, but the visuals and directing were top-notch.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17780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E220C"/>
                </a:solidFill>
                <a:latin typeface="Arial"/>
                <a:ea typeface="Arial"/>
                <a:cs typeface="Arial"/>
                <a:sym typeface="Arial"/>
              </a:rPr>
              <a:t>Out of positive, negative, or neutral this review is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6"/>
          <p:cNvSpPr/>
          <p:nvPr/>
        </p:nvSpPr>
        <p:spPr>
          <a:xfrm>
            <a:off x="6989231" y="1521502"/>
            <a:ext cx="332264" cy="276812"/>
          </a:xfrm>
          <a:custGeom>
            <a:rect b="b" l="l" r="r" t="t"/>
            <a:pathLst>
              <a:path extrusionOk="0" h="417829" w="365125">
                <a:moveTo>
                  <a:pt x="240648" y="0"/>
                </a:moveTo>
                <a:lnTo>
                  <a:pt x="123969" y="0"/>
                </a:lnTo>
                <a:lnTo>
                  <a:pt x="123969" y="179057"/>
                </a:lnTo>
                <a:lnTo>
                  <a:pt x="0" y="179057"/>
                </a:lnTo>
                <a:lnTo>
                  <a:pt x="182309" y="417316"/>
                </a:lnTo>
                <a:lnTo>
                  <a:pt x="364619" y="179057"/>
                </a:lnTo>
                <a:lnTo>
                  <a:pt x="240648" y="179057"/>
                </a:lnTo>
                <a:lnTo>
                  <a:pt x="24064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5" name="Google Shape;325;p46"/>
          <p:cNvSpPr/>
          <p:nvPr/>
        </p:nvSpPr>
        <p:spPr>
          <a:xfrm>
            <a:off x="6989231" y="3053035"/>
            <a:ext cx="332264" cy="276812"/>
          </a:xfrm>
          <a:custGeom>
            <a:rect b="b" l="l" r="r" t="t"/>
            <a:pathLst>
              <a:path extrusionOk="0" h="417829" w="365125">
                <a:moveTo>
                  <a:pt x="240648" y="0"/>
                </a:moveTo>
                <a:lnTo>
                  <a:pt x="123969" y="0"/>
                </a:lnTo>
                <a:lnTo>
                  <a:pt x="123969" y="179057"/>
                </a:lnTo>
                <a:lnTo>
                  <a:pt x="0" y="179057"/>
                </a:lnTo>
                <a:lnTo>
                  <a:pt x="182309" y="417316"/>
                </a:lnTo>
                <a:lnTo>
                  <a:pt x="364619" y="179057"/>
                </a:lnTo>
                <a:lnTo>
                  <a:pt x="240648" y="179057"/>
                </a:lnTo>
                <a:lnTo>
                  <a:pt x="24064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6" name="Google Shape;326;p46"/>
          <p:cNvSpPr txBox="1"/>
          <p:nvPr/>
        </p:nvSpPr>
        <p:spPr>
          <a:xfrm>
            <a:off x="6538450" y="3410328"/>
            <a:ext cx="1233000" cy="31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939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6"/>
          <p:cNvSpPr/>
          <p:nvPr/>
        </p:nvSpPr>
        <p:spPr>
          <a:xfrm>
            <a:off x="6989231" y="3816363"/>
            <a:ext cx="332264" cy="276812"/>
          </a:xfrm>
          <a:custGeom>
            <a:rect b="b" l="l" r="r" t="t"/>
            <a:pathLst>
              <a:path extrusionOk="0" h="417829" w="365125">
                <a:moveTo>
                  <a:pt x="240648" y="0"/>
                </a:moveTo>
                <a:lnTo>
                  <a:pt x="123969" y="0"/>
                </a:lnTo>
                <a:lnTo>
                  <a:pt x="123969" y="179057"/>
                </a:lnTo>
                <a:lnTo>
                  <a:pt x="0" y="179057"/>
                </a:lnTo>
                <a:lnTo>
                  <a:pt x="182309" y="417317"/>
                </a:lnTo>
                <a:lnTo>
                  <a:pt x="364619" y="179057"/>
                </a:lnTo>
                <a:lnTo>
                  <a:pt x="240648" y="179057"/>
                </a:lnTo>
                <a:lnTo>
                  <a:pt x="24064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8" name="Google Shape;328;p46"/>
          <p:cNvSpPr txBox="1"/>
          <p:nvPr/>
        </p:nvSpPr>
        <p:spPr>
          <a:xfrm>
            <a:off x="6482135" y="4180157"/>
            <a:ext cx="1346100" cy="269700"/>
          </a:xfrm>
          <a:prstGeom prst="rect">
            <a:avLst/>
          </a:prstGeom>
          <a:noFill/>
          <a:ln cap="flat" cmpd="sng" w="16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3525">
            <a:spAutoFit/>
          </a:bodyPr>
          <a:lstStyle/>
          <a:p>
            <a:pPr indent="0" lvl="0" marL="330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neutral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6"/>
          <p:cNvSpPr txBox="1"/>
          <p:nvPr>
            <p:ph idx="12" type="sldNum"/>
          </p:nvPr>
        </p:nvSpPr>
        <p:spPr>
          <a:xfrm>
            <a:off x="6211964" y="2689422"/>
            <a:ext cx="191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30" name="Google Shape;330;p46"/>
          <p:cNvSpPr txBox="1"/>
          <p:nvPr/>
        </p:nvSpPr>
        <p:spPr>
          <a:xfrm>
            <a:off x="7939683" y="4153849"/>
            <a:ext cx="128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7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337" name="Google Shape;337;p47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47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Zero-shot Prompting</a:t>
            </a:r>
            <a:endParaRPr/>
          </a:p>
        </p:txBody>
      </p:sp>
      <p:sp>
        <p:nvSpPr>
          <p:cNvPr id="339" name="Google Shape;339;p47"/>
          <p:cNvSpPr txBox="1"/>
          <p:nvPr>
            <p:ph idx="1" type="body"/>
          </p:nvPr>
        </p:nvSpPr>
        <p:spPr>
          <a:xfrm>
            <a:off x="311700" y="1152475"/>
            <a:ext cx="50676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556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/>
              <a:t>Input: single unlabeled example x</a:t>
            </a:r>
            <a:endParaRPr sz="2000"/>
          </a:p>
          <a:p>
            <a:pPr indent="-3556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Output: the label </a:t>
            </a:r>
            <a:r>
              <a:rPr i="1" lang="en" sz="2000">
                <a:solidFill>
                  <a:schemeClr val="dk1"/>
                </a:solidFill>
              </a:rPr>
              <a:t>y</a:t>
            </a:r>
            <a:r>
              <a:rPr lang="en" sz="2000"/>
              <a:t> </a:t>
            </a:r>
            <a:endParaRPr sz="2000"/>
          </a:p>
          <a:p>
            <a:pPr indent="-3556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 task (and output) can be any text-to-text task: classification, summarization, translation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Pre-processing: wrap x in a verbalizer template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900"/>
              </a:spcBef>
              <a:spcAft>
                <a:spcPts val="20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 template controls the output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40" name="Google Shape;340;p47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Material from Yoav Artzi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341" name="Google Shape;341;p47"/>
          <p:cNvSpPr txBox="1"/>
          <p:nvPr/>
        </p:nvSpPr>
        <p:spPr>
          <a:xfrm>
            <a:off x="5439196" y="684541"/>
            <a:ext cx="3432000" cy="807600"/>
          </a:xfrm>
          <a:prstGeom prst="rect">
            <a:avLst/>
          </a:prstGeom>
          <a:noFill/>
          <a:ln cap="flat" cmpd="sng" w="16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2875">
            <a:spAutoFit/>
          </a:bodyPr>
          <a:lstStyle/>
          <a:p>
            <a:pPr indent="25400" lvl="0" marL="38100" marR="457200" rtl="0" algn="just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x =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the movie’s acting could’ve been better, but the visuals and directing were top-notch.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7"/>
          <p:cNvSpPr txBox="1"/>
          <p:nvPr/>
        </p:nvSpPr>
        <p:spPr>
          <a:xfrm>
            <a:off x="5439196" y="1902262"/>
            <a:ext cx="3432000" cy="1223700"/>
          </a:xfrm>
          <a:prstGeom prst="rect">
            <a:avLst/>
          </a:prstGeom>
          <a:noFill/>
          <a:ln cap="flat" cmpd="sng" w="16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200">
            <a:spAutoFit/>
          </a:bodyPr>
          <a:lstStyle/>
          <a:p>
            <a:pPr indent="0" lvl="0" marL="38100" marR="8890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i="1" lang="en" sz="17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) = </a:t>
            </a:r>
            <a:r>
              <a:rPr lang="en" sz="1400">
                <a:solidFill>
                  <a:srgbClr val="EE220C"/>
                </a:solidFill>
                <a:latin typeface="Arial"/>
                <a:ea typeface="Arial"/>
                <a:cs typeface="Arial"/>
                <a:sym typeface="Arial"/>
              </a:rPr>
              <a:t>Review: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the movie’s acting could’ve been better, but the visuals and directing were top-notch.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17780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E220C"/>
                </a:solidFill>
                <a:latin typeface="Arial"/>
                <a:ea typeface="Arial"/>
                <a:cs typeface="Arial"/>
                <a:sym typeface="Arial"/>
              </a:rPr>
              <a:t>Out of positive, negative, or neutral this review is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7"/>
          <p:cNvSpPr/>
          <p:nvPr/>
        </p:nvSpPr>
        <p:spPr>
          <a:xfrm>
            <a:off x="6989231" y="1521502"/>
            <a:ext cx="332264" cy="276812"/>
          </a:xfrm>
          <a:custGeom>
            <a:rect b="b" l="l" r="r" t="t"/>
            <a:pathLst>
              <a:path extrusionOk="0" h="417829" w="365125">
                <a:moveTo>
                  <a:pt x="240648" y="0"/>
                </a:moveTo>
                <a:lnTo>
                  <a:pt x="123969" y="0"/>
                </a:lnTo>
                <a:lnTo>
                  <a:pt x="123969" y="179057"/>
                </a:lnTo>
                <a:lnTo>
                  <a:pt x="0" y="179057"/>
                </a:lnTo>
                <a:lnTo>
                  <a:pt x="182309" y="417316"/>
                </a:lnTo>
                <a:lnTo>
                  <a:pt x="364619" y="179057"/>
                </a:lnTo>
                <a:lnTo>
                  <a:pt x="240648" y="179057"/>
                </a:lnTo>
                <a:lnTo>
                  <a:pt x="24064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4" name="Google Shape;344;p47"/>
          <p:cNvSpPr/>
          <p:nvPr/>
        </p:nvSpPr>
        <p:spPr>
          <a:xfrm>
            <a:off x="6989231" y="3053035"/>
            <a:ext cx="332264" cy="276812"/>
          </a:xfrm>
          <a:custGeom>
            <a:rect b="b" l="l" r="r" t="t"/>
            <a:pathLst>
              <a:path extrusionOk="0" h="417829" w="365125">
                <a:moveTo>
                  <a:pt x="240648" y="0"/>
                </a:moveTo>
                <a:lnTo>
                  <a:pt x="123969" y="0"/>
                </a:lnTo>
                <a:lnTo>
                  <a:pt x="123969" y="179057"/>
                </a:lnTo>
                <a:lnTo>
                  <a:pt x="0" y="179057"/>
                </a:lnTo>
                <a:lnTo>
                  <a:pt x="182309" y="417316"/>
                </a:lnTo>
                <a:lnTo>
                  <a:pt x="364619" y="179057"/>
                </a:lnTo>
                <a:lnTo>
                  <a:pt x="240648" y="179057"/>
                </a:lnTo>
                <a:lnTo>
                  <a:pt x="24064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5" name="Google Shape;345;p47"/>
          <p:cNvSpPr txBox="1"/>
          <p:nvPr/>
        </p:nvSpPr>
        <p:spPr>
          <a:xfrm>
            <a:off x="6538450" y="3410328"/>
            <a:ext cx="1233000" cy="31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939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7"/>
          <p:cNvSpPr/>
          <p:nvPr/>
        </p:nvSpPr>
        <p:spPr>
          <a:xfrm>
            <a:off x="6989231" y="3816363"/>
            <a:ext cx="332264" cy="276812"/>
          </a:xfrm>
          <a:custGeom>
            <a:rect b="b" l="l" r="r" t="t"/>
            <a:pathLst>
              <a:path extrusionOk="0" h="417829" w="365125">
                <a:moveTo>
                  <a:pt x="240648" y="0"/>
                </a:moveTo>
                <a:lnTo>
                  <a:pt x="123969" y="0"/>
                </a:lnTo>
                <a:lnTo>
                  <a:pt x="123969" y="179057"/>
                </a:lnTo>
                <a:lnTo>
                  <a:pt x="0" y="179057"/>
                </a:lnTo>
                <a:lnTo>
                  <a:pt x="182309" y="417317"/>
                </a:lnTo>
                <a:lnTo>
                  <a:pt x="364619" y="179057"/>
                </a:lnTo>
                <a:lnTo>
                  <a:pt x="240648" y="179057"/>
                </a:lnTo>
                <a:lnTo>
                  <a:pt x="24064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7" name="Google Shape;347;p47"/>
          <p:cNvSpPr txBox="1"/>
          <p:nvPr/>
        </p:nvSpPr>
        <p:spPr>
          <a:xfrm>
            <a:off x="6482135" y="4180157"/>
            <a:ext cx="1346100" cy="269700"/>
          </a:xfrm>
          <a:prstGeom prst="rect">
            <a:avLst/>
          </a:prstGeom>
          <a:noFill/>
          <a:ln cap="flat" cmpd="sng" w="16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3525">
            <a:spAutoFit/>
          </a:bodyPr>
          <a:lstStyle/>
          <a:p>
            <a:pPr indent="0" lvl="0" marL="330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neutral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7"/>
          <p:cNvSpPr txBox="1"/>
          <p:nvPr>
            <p:ph idx="12" type="sldNum"/>
          </p:nvPr>
        </p:nvSpPr>
        <p:spPr>
          <a:xfrm>
            <a:off x="6211964" y="2689422"/>
            <a:ext cx="191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49" name="Google Shape;349;p47"/>
          <p:cNvSpPr txBox="1"/>
          <p:nvPr/>
        </p:nvSpPr>
        <p:spPr>
          <a:xfrm>
            <a:off x="7939683" y="4153849"/>
            <a:ext cx="128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0" name="Google Shape;350;p47"/>
          <p:cNvSpPr/>
          <p:nvPr/>
        </p:nvSpPr>
        <p:spPr>
          <a:xfrm>
            <a:off x="840725" y="1152475"/>
            <a:ext cx="4103100" cy="1973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We’ve made a task more accurate by prompting the LLM with information about how we want it to perform the task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this case - what is the output space we want for the task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instantly improve performance with no additional data (zero-shot, zero extra data)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 txBox="1"/>
          <p:nvPr>
            <p:ph idx="11" type="ftr"/>
          </p:nvPr>
        </p:nvSpPr>
        <p:spPr>
          <a:xfrm>
            <a:off x="533637" y="3568504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357" name="Google Shape;357;p48"/>
          <p:cNvSpPr txBox="1"/>
          <p:nvPr>
            <p:ph idx="12" type="sldNum"/>
          </p:nvPr>
        </p:nvSpPr>
        <p:spPr>
          <a:xfrm>
            <a:off x="5724762" y="3577810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48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and Variability</a:t>
            </a:r>
            <a:endParaRPr/>
          </a:p>
        </p:txBody>
      </p:sp>
      <p:sp>
        <p:nvSpPr>
          <p:cNvPr id="359" name="Google Shape;359;p48"/>
          <p:cNvSpPr txBox="1"/>
          <p:nvPr>
            <p:ph idx="1" type="body"/>
          </p:nvPr>
        </p:nvSpPr>
        <p:spPr>
          <a:xfrm>
            <a:off x="311700" y="1152475"/>
            <a:ext cx="8419200" cy="12411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lnSpcReduction="10000"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Prompts can even be sensitive to minor cosmetic changes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Can influence performance in unexpected ways</a:t>
            </a:r>
            <a:endParaRPr sz="1900"/>
          </a:p>
          <a:p>
            <a:pPr indent="-374650" lvl="0" marL="457200" rtl="0" algn="l">
              <a:spcBef>
                <a:spcPts val="900"/>
              </a:spcBef>
              <a:spcAft>
                <a:spcPts val="20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Can think of them as (very complex) hyper-parameters</a:t>
            </a:r>
            <a:endParaRPr sz="1900"/>
          </a:p>
        </p:txBody>
      </p:sp>
      <p:grpSp>
        <p:nvGrpSpPr>
          <p:cNvPr id="360" name="Google Shape;360;p48"/>
          <p:cNvGrpSpPr/>
          <p:nvPr/>
        </p:nvGrpSpPr>
        <p:grpSpPr>
          <a:xfrm>
            <a:off x="1668622" y="2435332"/>
            <a:ext cx="5047649" cy="1087956"/>
            <a:chOff x="2284509" y="4319960"/>
            <a:chExt cx="5552358" cy="1643935"/>
          </a:xfrm>
        </p:grpSpPr>
        <p:sp>
          <p:nvSpPr>
            <p:cNvPr id="361" name="Google Shape;361;p48"/>
            <p:cNvSpPr/>
            <p:nvPr/>
          </p:nvSpPr>
          <p:spPr>
            <a:xfrm>
              <a:off x="2542903" y="5751648"/>
              <a:ext cx="4125595" cy="168275"/>
            </a:xfrm>
            <a:custGeom>
              <a:rect b="b" l="l" r="r" t="t"/>
              <a:pathLst>
                <a:path extrusionOk="0" h="168275" w="4125595">
                  <a:moveTo>
                    <a:pt x="4125150" y="0"/>
                  </a:moveTo>
                  <a:lnTo>
                    <a:pt x="0" y="0"/>
                  </a:lnTo>
                  <a:lnTo>
                    <a:pt x="0" y="167737"/>
                  </a:lnTo>
                  <a:lnTo>
                    <a:pt x="4125150" y="167737"/>
                  </a:lnTo>
                  <a:lnTo>
                    <a:pt x="4125150" y="0"/>
                  </a:lnTo>
                  <a:close/>
                </a:path>
              </a:pathLst>
            </a:custGeom>
            <a:solidFill>
              <a:srgbClr val="FF7400">
                <a:alpha val="4471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362" name="Google Shape;362;p48"/>
            <p:cNvSpPr/>
            <p:nvPr/>
          </p:nvSpPr>
          <p:spPr>
            <a:xfrm>
              <a:off x="2303043" y="5878394"/>
              <a:ext cx="5343525" cy="0"/>
            </a:xfrm>
            <a:custGeom>
              <a:rect b="b" l="l" r="r" t="t"/>
              <a:pathLst>
                <a:path extrusionOk="0" h="120000" w="5343525">
                  <a:moveTo>
                    <a:pt x="0" y="0"/>
                  </a:moveTo>
                  <a:lnTo>
                    <a:pt x="5343090" y="0"/>
                  </a:lnTo>
                </a:path>
              </a:pathLst>
            </a:custGeom>
            <a:noFill/>
            <a:ln cap="flat" cmpd="sng" w="19250">
              <a:solidFill>
                <a:srgbClr val="5E5E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363" name="Google Shape;363;p48"/>
            <p:cNvSpPr/>
            <p:nvPr/>
          </p:nvSpPr>
          <p:spPr>
            <a:xfrm>
              <a:off x="7632970" y="5788468"/>
              <a:ext cx="0" cy="171450"/>
            </a:xfrm>
            <a:custGeom>
              <a:rect b="b" l="l" r="r" t="t"/>
              <a:pathLst>
                <a:path extrusionOk="0" h="171450" w="120000">
                  <a:moveTo>
                    <a:pt x="0" y="0"/>
                  </a:moveTo>
                  <a:lnTo>
                    <a:pt x="0" y="171002"/>
                  </a:lnTo>
                </a:path>
              </a:pathLst>
            </a:custGeom>
            <a:noFill/>
            <a:ln cap="flat" cmpd="sng" w="19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pic>
          <p:nvPicPr>
            <p:cNvPr id="364" name="Google Shape;364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4509" y="4319960"/>
              <a:ext cx="5552358" cy="1643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5" name="Google Shape;365;p48"/>
          <p:cNvSpPr txBox="1"/>
          <p:nvPr/>
        </p:nvSpPr>
        <p:spPr>
          <a:xfrm>
            <a:off x="6489827" y="3538693"/>
            <a:ext cx="825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Arial"/>
                <a:ea typeface="Arial"/>
                <a:cs typeface="Arial"/>
                <a:sym typeface="Arial"/>
              </a:rPr>
              <a:t>1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8"/>
          <p:cNvSpPr txBox="1"/>
          <p:nvPr>
            <p:ph idx="12" type="sldNum"/>
          </p:nvPr>
        </p:nvSpPr>
        <p:spPr>
          <a:xfrm>
            <a:off x="5959093" y="2862554"/>
            <a:ext cx="18705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7" name="Google Shape;367;p48"/>
          <p:cNvSpPr txBox="1"/>
          <p:nvPr/>
        </p:nvSpPr>
        <p:spPr>
          <a:xfrm>
            <a:off x="1656900" y="3284714"/>
            <a:ext cx="7515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700">
                <a:latin typeface="Arial"/>
                <a:ea typeface="Arial"/>
                <a:cs typeface="Arial"/>
                <a:sym typeface="Arial"/>
              </a:rPr>
              <a:t>Task Accuracy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8"/>
          <p:cNvSpPr txBox="1"/>
          <p:nvPr/>
        </p:nvSpPr>
        <p:spPr>
          <a:xfrm>
            <a:off x="2609194" y="3516016"/>
            <a:ext cx="23946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700">
                <a:solidFill>
                  <a:srgbClr val="FF7400"/>
                </a:solidFill>
                <a:latin typeface="Arial"/>
                <a:ea typeface="Arial"/>
                <a:cs typeface="Arial"/>
                <a:sym typeface="Arial"/>
              </a:rPr>
              <a:t>Performance Spread Among Plausible Formats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8"/>
          <p:cNvSpPr txBox="1"/>
          <p:nvPr/>
        </p:nvSpPr>
        <p:spPr>
          <a:xfrm>
            <a:off x="3330196" y="2495854"/>
            <a:ext cx="977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50">
            <a:spAutoFit/>
          </a:bodyPr>
          <a:lstStyle/>
          <a:p>
            <a:pPr indent="0" lvl="0" marL="127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76BA"/>
                </a:solidFill>
                <a:latin typeface="Courier New"/>
                <a:ea typeface="Courier New"/>
                <a:cs typeface="Courier New"/>
                <a:sym typeface="Courier New"/>
              </a:rPr>
              <a:t>Passage: &lt;text&gt; Answer: 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0" name="Google Shape;370;p48"/>
          <p:cNvSpPr txBox="1"/>
          <p:nvPr/>
        </p:nvSpPr>
        <p:spPr>
          <a:xfrm>
            <a:off x="3386352" y="2320212"/>
            <a:ext cx="8970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6C1FF"/>
                </a:solidFill>
                <a:latin typeface="Arial"/>
                <a:ea typeface="Arial"/>
                <a:cs typeface="Arial"/>
                <a:sym typeface="Arial"/>
              </a:rPr>
              <a:t>Original formatting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8"/>
          <p:cNvSpPr txBox="1"/>
          <p:nvPr/>
        </p:nvSpPr>
        <p:spPr>
          <a:xfrm>
            <a:off x="4798137" y="2783265"/>
            <a:ext cx="180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Modified separator and spacing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Passage &lt;text&gt; Answer 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2" name="Google Shape;372;p48"/>
          <p:cNvSpPr txBox="1"/>
          <p:nvPr/>
        </p:nvSpPr>
        <p:spPr>
          <a:xfrm>
            <a:off x="4884742" y="2379435"/>
            <a:ext cx="15504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Modified spacing between fields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8"/>
          <p:cNvSpPr txBox="1"/>
          <p:nvPr/>
        </p:nvSpPr>
        <p:spPr>
          <a:xfrm>
            <a:off x="4636972" y="2536882"/>
            <a:ext cx="19314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Passage: &lt;text&gt; Answer: 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4" name="Google Shape;374;p48"/>
          <p:cNvSpPr txBox="1"/>
          <p:nvPr/>
        </p:nvSpPr>
        <p:spPr>
          <a:xfrm>
            <a:off x="3281829" y="2867812"/>
            <a:ext cx="7734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Modified casing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8"/>
          <p:cNvSpPr txBox="1"/>
          <p:nvPr/>
        </p:nvSpPr>
        <p:spPr>
          <a:xfrm>
            <a:off x="3180671" y="3033016"/>
            <a:ext cx="978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PASSAGE: 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ANSWER: 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6" name="Google Shape;376;p48"/>
          <p:cNvSpPr txBox="1"/>
          <p:nvPr/>
        </p:nvSpPr>
        <p:spPr>
          <a:xfrm>
            <a:off x="1955123" y="2946952"/>
            <a:ext cx="913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50">
            <a:spAutoFit/>
          </a:bodyPr>
          <a:lstStyle/>
          <a:p>
            <a:pPr indent="-50800" lvl="0" marL="635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PASSAGE &lt;text&gt; ANSWER 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7" name="Google Shape;377;p48"/>
          <p:cNvSpPr txBox="1"/>
          <p:nvPr/>
        </p:nvSpPr>
        <p:spPr>
          <a:xfrm>
            <a:off x="1845392" y="2346785"/>
            <a:ext cx="9126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Modified separator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8"/>
          <p:cNvSpPr txBox="1"/>
          <p:nvPr/>
        </p:nvSpPr>
        <p:spPr>
          <a:xfrm>
            <a:off x="1834397" y="2523209"/>
            <a:ext cx="913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50">
            <a:spAutoFit/>
          </a:bodyPr>
          <a:lstStyle/>
          <a:p>
            <a:pPr indent="0" lvl="0" marL="127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Passage:&lt;text&gt; Answer:&lt;text&gt;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9" name="Google Shape;379;p48"/>
          <p:cNvSpPr txBox="1"/>
          <p:nvPr/>
        </p:nvSpPr>
        <p:spPr>
          <a:xfrm>
            <a:off x="1603553" y="3501735"/>
            <a:ext cx="4199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" sz="11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lang="en" sz="700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0.036	</a:t>
            </a:r>
            <a:r>
              <a:rPr b="1" lang="en" sz="700">
                <a:solidFill>
                  <a:srgbClr val="FF7400"/>
                </a:solidFill>
                <a:latin typeface="Arial"/>
                <a:ea typeface="Arial"/>
                <a:cs typeface="Arial"/>
                <a:sym typeface="Arial"/>
              </a:rPr>
              <a:t>0.804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8"/>
          <p:cNvSpPr txBox="1"/>
          <p:nvPr/>
        </p:nvSpPr>
        <p:spPr>
          <a:xfrm>
            <a:off x="1590655" y="3711621"/>
            <a:ext cx="51465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50">
            <a:spAutoFit/>
          </a:bodyPr>
          <a:lstStyle/>
          <a:p>
            <a:pPr indent="0" lvl="0" marL="12700" marR="0" rtl="0" algn="just">
              <a:lnSpc>
                <a:spcPct val="11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Figure 1: Slight modifications in prompt format templating may lead to significantly different model performance for a given task. Each </a:t>
            </a:r>
            <a:r>
              <a:rPr lang="en" sz="900">
                <a:latin typeface="Courier New"/>
                <a:ea typeface="Courier New"/>
                <a:cs typeface="Courier New"/>
                <a:sym typeface="Courier New"/>
              </a:rPr>
              <a:t>&lt;text&gt; </a:t>
            </a: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represents a different variable-length placeholder to be replaced with actual data samples. Example shown corresponds to 1-shot LLaMA-2-7B perfor- mances for task280 from SuperNaturalInstructions (Wang et al., 2022). This StereoSet-inspired task (Nadeem et al., 2021) requires the model to, given a short passage, classify it into one of four types of stereotype or anti-stereotype (gender, profession, race, and religion).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48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Material from Yoav Artzi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382" name="Google Shape;382;p48"/>
          <p:cNvSpPr txBox="1"/>
          <p:nvPr/>
        </p:nvSpPr>
        <p:spPr>
          <a:xfrm>
            <a:off x="7" y="4714315"/>
            <a:ext cx="1242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[Sclar et al. 2023]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>
            <p:ph idx="11" type="ftr"/>
          </p:nvPr>
        </p:nvSpPr>
        <p:spPr>
          <a:xfrm>
            <a:off x="533637" y="3568504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389" name="Google Shape;389;p49"/>
          <p:cNvSpPr txBox="1"/>
          <p:nvPr>
            <p:ph idx="12" type="sldNum"/>
          </p:nvPr>
        </p:nvSpPr>
        <p:spPr>
          <a:xfrm>
            <a:off x="5724762" y="3577810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49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and Variability</a:t>
            </a:r>
            <a:endParaRPr/>
          </a:p>
        </p:txBody>
      </p:sp>
      <p:sp>
        <p:nvSpPr>
          <p:cNvPr id="391" name="Google Shape;391;p49"/>
          <p:cNvSpPr txBox="1"/>
          <p:nvPr>
            <p:ph idx="1" type="body"/>
          </p:nvPr>
        </p:nvSpPr>
        <p:spPr>
          <a:xfrm>
            <a:off x="311700" y="1152475"/>
            <a:ext cx="8419200" cy="12411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lnSpcReduction="10000"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Prompts can even be sensitive to minor cosmetic changes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Can influence performance in unexpected ways</a:t>
            </a:r>
            <a:endParaRPr sz="1900"/>
          </a:p>
          <a:p>
            <a:pPr indent="-374650" lvl="0" marL="457200" rtl="0" algn="l">
              <a:spcBef>
                <a:spcPts val="900"/>
              </a:spcBef>
              <a:spcAft>
                <a:spcPts val="20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Can think of them as (very complex) hyper-parameters</a:t>
            </a:r>
            <a:endParaRPr sz="1900"/>
          </a:p>
        </p:txBody>
      </p:sp>
      <p:grpSp>
        <p:nvGrpSpPr>
          <p:cNvPr id="392" name="Google Shape;392;p49"/>
          <p:cNvGrpSpPr/>
          <p:nvPr/>
        </p:nvGrpSpPr>
        <p:grpSpPr>
          <a:xfrm>
            <a:off x="1668622" y="2435332"/>
            <a:ext cx="5047649" cy="1087956"/>
            <a:chOff x="2284509" y="4319960"/>
            <a:chExt cx="5552358" cy="1643935"/>
          </a:xfrm>
        </p:grpSpPr>
        <p:sp>
          <p:nvSpPr>
            <p:cNvPr id="393" name="Google Shape;393;p49"/>
            <p:cNvSpPr/>
            <p:nvPr/>
          </p:nvSpPr>
          <p:spPr>
            <a:xfrm>
              <a:off x="2542903" y="5751648"/>
              <a:ext cx="4125595" cy="168275"/>
            </a:xfrm>
            <a:custGeom>
              <a:rect b="b" l="l" r="r" t="t"/>
              <a:pathLst>
                <a:path extrusionOk="0" h="168275" w="4125595">
                  <a:moveTo>
                    <a:pt x="4125150" y="0"/>
                  </a:moveTo>
                  <a:lnTo>
                    <a:pt x="0" y="0"/>
                  </a:lnTo>
                  <a:lnTo>
                    <a:pt x="0" y="167737"/>
                  </a:lnTo>
                  <a:lnTo>
                    <a:pt x="4125150" y="167737"/>
                  </a:lnTo>
                  <a:lnTo>
                    <a:pt x="4125150" y="0"/>
                  </a:lnTo>
                  <a:close/>
                </a:path>
              </a:pathLst>
            </a:custGeom>
            <a:solidFill>
              <a:srgbClr val="FF7400">
                <a:alpha val="4471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394" name="Google Shape;394;p49"/>
            <p:cNvSpPr/>
            <p:nvPr/>
          </p:nvSpPr>
          <p:spPr>
            <a:xfrm>
              <a:off x="2303043" y="5878394"/>
              <a:ext cx="5343525" cy="0"/>
            </a:xfrm>
            <a:custGeom>
              <a:rect b="b" l="l" r="r" t="t"/>
              <a:pathLst>
                <a:path extrusionOk="0" h="120000" w="5343525">
                  <a:moveTo>
                    <a:pt x="0" y="0"/>
                  </a:moveTo>
                  <a:lnTo>
                    <a:pt x="5343090" y="0"/>
                  </a:lnTo>
                </a:path>
              </a:pathLst>
            </a:custGeom>
            <a:noFill/>
            <a:ln cap="flat" cmpd="sng" w="19250">
              <a:solidFill>
                <a:srgbClr val="5E5E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395" name="Google Shape;395;p49"/>
            <p:cNvSpPr/>
            <p:nvPr/>
          </p:nvSpPr>
          <p:spPr>
            <a:xfrm>
              <a:off x="7632970" y="5788468"/>
              <a:ext cx="0" cy="171450"/>
            </a:xfrm>
            <a:custGeom>
              <a:rect b="b" l="l" r="r" t="t"/>
              <a:pathLst>
                <a:path extrusionOk="0" h="171450" w="120000">
                  <a:moveTo>
                    <a:pt x="0" y="0"/>
                  </a:moveTo>
                  <a:lnTo>
                    <a:pt x="0" y="171002"/>
                  </a:lnTo>
                </a:path>
              </a:pathLst>
            </a:custGeom>
            <a:noFill/>
            <a:ln cap="flat" cmpd="sng" w="19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pic>
          <p:nvPicPr>
            <p:cNvPr id="396" name="Google Shape;396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4509" y="4319960"/>
              <a:ext cx="5552358" cy="1643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7" name="Google Shape;397;p49"/>
          <p:cNvSpPr txBox="1"/>
          <p:nvPr/>
        </p:nvSpPr>
        <p:spPr>
          <a:xfrm>
            <a:off x="6489827" y="3538693"/>
            <a:ext cx="825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Arial"/>
                <a:ea typeface="Arial"/>
                <a:cs typeface="Arial"/>
                <a:sym typeface="Arial"/>
              </a:rPr>
              <a:t>1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9"/>
          <p:cNvSpPr txBox="1"/>
          <p:nvPr>
            <p:ph idx="12" type="sldNum"/>
          </p:nvPr>
        </p:nvSpPr>
        <p:spPr>
          <a:xfrm>
            <a:off x="5959093" y="2862554"/>
            <a:ext cx="18705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9" name="Google Shape;399;p49"/>
          <p:cNvSpPr txBox="1"/>
          <p:nvPr/>
        </p:nvSpPr>
        <p:spPr>
          <a:xfrm>
            <a:off x="1656900" y="3284714"/>
            <a:ext cx="7515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700">
                <a:latin typeface="Arial"/>
                <a:ea typeface="Arial"/>
                <a:cs typeface="Arial"/>
                <a:sym typeface="Arial"/>
              </a:rPr>
              <a:t>Task Accuracy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9"/>
          <p:cNvSpPr txBox="1"/>
          <p:nvPr/>
        </p:nvSpPr>
        <p:spPr>
          <a:xfrm>
            <a:off x="2609194" y="3516016"/>
            <a:ext cx="23946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700">
                <a:solidFill>
                  <a:srgbClr val="FF7400"/>
                </a:solidFill>
                <a:latin typeface="Arial"/>
                <a:ea typeface="Arial"/>
                <a:cs typeface="Arial"/>
                <a:sym typeface="Arial"/>
              </a:rPr>
              <a:t>Performance Spread Among Plausible Formats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9"/>
          <p:cNvSpPr txBox="1"/>
          <p:nvPr/>
        </p:nvSpPr>
        <p:spPr>
          <a:xfrm>
            <a:off x="3330196" y="2495854"/>
            <a:ext cx="977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50">
            <a:spAutoFit/>
          </a:bodyPr>
          <a:lstStyle/>
          <a:p>
            <a:pPr indent="0" lvl="0" marL="127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76BA"/>
                </a:solidFill>
                <a:latin typeface="Courier New"/>
                <a:ea typeface="Courier New"/>
                <a:cs typeface="Courier New"/>
                <a:sym typeface="Courier New"/>
              </a:rPr>
              <a:t>Passage: &lt;text&gt; Answer: 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2" name="Google Shape;402;p49"/>
          <p:cNvSpPr txBox="1"/>
          <p:nvPr/>
        </p:nvSpPr>
        <p:spPr>
          <a:xfrm>
            <a:off x="3386352" y="2320212"/>
            <a:ext cx="8970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6C1FF"/>
                </a:solidFill>
                <a:latin typeface="Arial"/>
                <a:ea typeface="Arial"/>
                <a:cs typeface="Arial"/>
                <a:sym typeface="Arial"/>
              </a:rPr>
              <a:t>Original formatting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9"/>
          <p:cNvSpPr txBox="1"/>
          <p:nvPr/>
        </p:nvSpPr>
        <p:spPr>
          <a:xfrm>
            <a:off x="4798137" y="2783265"/>
            <a:ext cx="180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Modified separator and spacing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Passage &lt;text&gt; Answer 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4" name="Google Shape;404;p49"/>
          <p:cNvSpPr txBox="1"/>
          <p:nvPr/>
        </p:nvSpPr>
        <p:spPr>
          <a:xfrm>
            <a:off x="4884742" y="2379435"/>
            <a:ext cx="15504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Modified spacing between fields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9"/>
          <p:cNvSpPr txBox="1"/>
          <p:nvPr/>
        </p:nvSpPr>
        <p:spPr>
          <a:xfrm>
            <a:off x="4636972" y="2536882"/>
            <a:ext cx="19314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Passage: &lt;text&gt; Answer: 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6" name="Google Shape;406;p49"/>
          <p:cNvSpPr txBox="1"/>
          <p:nvPr/>
        </p:nvSpPr>
        <p:spPr>
          <a:xfrm>
            <a:off x="3281829" y="2867812"/>
            <a:ext cx="7734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Modified casing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9"/>
          <p:cNvSpPr txBox="1"/>
          <p:nvPr/>
        </p:nvSpPr>
        <p:spPr>
          <a:xfrm>
            <a:off x="3180671" y="3033016"/>
            <a:ext cx="978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PASSAGE: 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ANSWER: 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8" name="Google Shape;408;p49"/>
          <p:cNvSpPr txBox="1"/>
          <p:nvPr/>
        </p:nvSpPr>
        <p:spPr>
          <a:xfrm>
            <a:off x="1955123" y="2946952"/>
            <a:ext cx="913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50">
            <a:spAutoFit/>
          </a:bodyPr>
          <a:lstStyle/>
          <a:p>
            <a:pPr indent="-50800" lvl="0" marL="635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PASSAGE &lt;text&gt; ANSWER 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9" name="Google Shape;409;p49"/>
          <p:cNvSpPr txBox="1"/>
          <p:nvPr/>
        </p:nvSpPr>
        <p:spPr>
          <a:xfrm>
            <a:off x="1845392" y="2346785"/>
            <a:ext cx="9126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Modified separator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9"/>
          <p:cNvSpPr txBox="1"/>
          <p:nvPr/>
        </p:nvSpPr>
        <p:spPr>
          <a:xfrm>
            <a:off x="1834397" y="2523209"/>
            <a:ext cx="913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50">
            <a:spAutoFit/>
          </a:bodyPr>
          <a:lstStyle/>
          <a:p>
            <a:pPr indent="0" lvl="0" marL="127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Passage:&lt;text&gt; Answer:&lt;text&gt;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1" name="Google Shape;411;p49"/>
          <p:cNvSpPr txBox="1"/>
          <p:nvPr/>
        </p:nvSpPr>
        <p:spPr>
          <a:xfrm>
            <a:off x="1603553" y="3501735"/>
            <a:ext cx="4199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" sz="11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lang="en" sz="700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0.036	</a:t>
            </a:r>
            <a:r>
              <a:rPr b="1" lang="en" sz="700">
                <a:solidFill>
                  <a:srgbClr val="FF7400"/>
                </a:solidFill>
                <a:latin typeface="Arial"/>
                <a:ea typeface="Arial"/>
                <a:cs typeface="Arial"/>
                <a:sym typeface="Arial"/>
              </a:rPr>
              <a:t>0.804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9"/>
          <p:cNvSpPr txBox="1"/>
          <p:nvPr/>
        </p:nvSpPr>
        <p:spPr>
          <a:xfrm>
            <a:off x="1590655" y="3711621"/>
            <a:ext cx="51465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50">
            <a:spAutoFit/>
          </a:bodyPr>
          <a:lstStyle/>
          <a:p>
            <a:pPr indent="0" lvl="0" marL="12700" marR="0" rtl="0" algn="just">
              <a:lnSpc>
                <a:spcPct val="11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Figure 1: Slight modifications in prompt format templating may lead to significantly different model performance for a given task. Each </a:t>
            </a:r>
            <a:r>
              <a:rPr lang="en" sz="900">
                <a:latin typeface="Courier New"/>
                <a:ea typeface="Courier New"/>
                <a:cs typeface="Courier New"/>
                <a:sym typeface="Courier New"/>
              </a:rPr>
              <a:t>&lt;text&gt; </a:t>
            </a: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represents a different variable-length placeholder to be replaced with actual data samples. Example shown corresponds to 1-shot LLaMA-2-7B perfor- mances for task280 from SuperNaturalInstructions (Wang et al., 2022). This StereoSet-inspired task (Nadeem et al., 2021) requires the model to, given a short passage, classify it into one of four types of stereotype or anti-stereotype (gender, profession, race, and religion).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49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Material from Yoav Artzi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414" name="Google Shape;414;p49"/>
          <p:cNvSpPr txBox="1"/>
          <p:nvPr/>
        </p:nvSpPr>
        <p:spPr>
          <a:xfrm>
            <a:off x="7" y="4714315"/>
            <a:ext cx="1242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[Sclar et al. 2023]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5" name="Google Shape;415;p49"/>
          <p:cNvSpPr/>
          <p:nvPr/>
        </p:nvSpPr>
        <p:spPr>
          <a:xfrm>
            <a:off x="4889600" y="1467025"/>
            <a:ext cx="4103100" cy="1973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is one reason prompting can be a less idea strategy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May be better to SFT/RL train for more robust agents, avoid prompt hyperparameter search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50" title="Screenshot 2026-01-19 at 2.13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75" y="1127375"/>
            <a:ext cx="5531873" cy="310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0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Few-shot / In-context Learning (ICL)</a:t>
            </a:r>
            <a:endParaRPr sz="3640"/>
          </a:p>
        </p:txBody>
      </p:sp>
      <p:sp>
        <p:nvSpPr>
          <p:cNvPr id="423" name="Google Shape;423;p50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Material from Yoav Artzi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424" name="Google Shape;424;p50"/>
          <p:cNvSpPr txBox="1"/>
          <p:nvPr/>
        </p:nvSpPr>
        <p:spPr>
          <a:xfrm>
            <a:off x="5575271" y="838438"/>
            <a:ext cx="3432000" cy="807600"/>
          </a:xfrm>
          <a:prstGeom prst="rect">
            <a:avLst/>
          </a:prstGeom>
          <a:noFill/>
          <a:ln cap="flat" cmpd="sng" w="16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2875">
            <a:spAutoFit/>
          </a:bodyPr>
          <a:lstStyle/>
          <a:p>
            <a:pPr indent="25400" lvl="0" marL="38100" marR="457200" rtl="0" algn="just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mbria"/>
                <a:ea typeface="Cambria"/>
                <a:cs typeface="Cambria"/>
                <a:sym typeface="Cambria"/>
              </a:rPr>
              <a:t>x =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the movie’s acting could’ve been better, but the visuals and directing were top-notch.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0"/>
          <p:cNvSpPr txBox="1"/>
          <p:nvPr/>
        </p:nvSpPr>
        <p:spPr>
          <a:xfrm>
            <a:off x="5575271" y="2056158"/>
            <a:ext cx="3432000" cy="1307400"/>
          </a:xfrm>
          <a:prstGeom prst="rect">
            <a:avLst/>
          </a:prstGeom>
          <a:noFill/>
          <a:ln cap="flat" cmpd="sng" w="16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175">
            <a:spAutoFit/>
          </a:bodyPr>
          <a:lstStyle/>
          <a:p>
            <a:pPr indent="0" lvl="0" marL="38100" marR="508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Review: The cinematography was stellar; great movie! Sentiment (positive or negative): positive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3048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Review: The plot was boring and the visuals were subpar.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Sentiment (positive or negative): negative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Review: The movie’s acting could’ve been better, but the visuals and directing were top-notch.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Sentiment (positive or negative):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0"/>
          <p:cNvSpPr/>
          <p:nvPr/>
        </p:nvSpPr>
        <p:spPr>
          <a:xfrm>
            <a:off x="7125306" y="1675398"/>
            <a:ext cx="332264" cy="276812"/>
          </a:xfrm>
          <a:custGeom>
            <a:rect b="b" l="l" r="r" t="t"/>
            <a:pathLst>
              <a:path extrusionOk="0" h="417829" w="365125">
                <a:moveTo>
                  <a:pt x="240648" y="0"/>
                </a:moveTo>
                <a:lnTo>
                  <a:pt x="123969" y="0"/>
                </a:lnTo>
                <a:lnTo>
                  <a:pt x="123969" y="179057"/>
                </a:lnTo>
                <a:lnTo>
                  <a:pt x="0" y="179057"/>
                </a:lnTo>
                <a:lnTo>
                  <a:pt x="182309" y="417316"/>
                </a:lnTo>
                <a:lnTo>
                  <a:pt x="364619" y="179057"/>
                </a:lnTo>
                <a:lnTo>
                  <a:pt x="240648" y="179057"/>
                </a:lnTo>
                <a:lnTo>
                  <a:pt x="24064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7" name="Google Shape;427;p50"/>
          <p:cNvSpPr/>
          <p:nvPr/>
        </p:nvSpPr>
        <p:spPr>
          <a:xfrm>
            <a:off x="7125306" y="3206931"/>
            <a:ext cx="332264" cy="276812"/>
          </a:xfrm>
          <a:custGeom>
            <a:rect b="b" l="l" r="r" t="t"/>
            <a:pathLst>
              <a:path extrusionOk="0" h="417829" w="365125">
                <a:moveTo>
                  <a:pt x="240648" y="0"/>
                </a:moveTo>
                <a:lnTo>
                  <a:pt x="123969" y="0"/>
                </a:lnTo>
                <a:lnTo>
                  <a:pt x="123969" y="179057"/>
                </a:lnTo>
                <a:lnTo>
                  <a:pt x="0" y="179057"/>
                </a:lnTo>
                <a:lnTo>
                  <a:pt x="182309" y="417316"/>
                </a:lnTo>
                <a:lnTo>
                  <a:pt x="364619" y="179057"/>
                </a:lnTo>
                <a:lnTo>
                  <a:pt x="240648" y="179057"/>
                </a:lnTo>
                <a:lnTo>
                  <a:pt x="24064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8" name="Google Shape;428;p50"/>
          <p:cNvSpPr txBox="1"/>
          <p:nvPr/>
        </p:nvSpPr>
        <p:spPr>
          <a:xfrm>
            <a:off x="6674525" y="3564225"/>
            <a:ext cx="1233000" cy="31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939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0"/>
          <p:cNvSpPr/>
          <p:nvPr/>
        </p:nvSpPr>
        <p:spPr>
          <a:xfrm>
            <a:off x="7125306" y="3970259"/>
            <a:ext cx="332264" cy="276812"/>
          </a:xfrm>
          <a:custGeom>
            <a:rect b="b" l="l" r="r" t="t"/>
            <a:pathLst>
              <a:path extrusionOk="0" h="417829" w="365125">
                <a:moveTo>
                  <a:pt x="240648" y="0"/>
                </a:moveTo>
                <a:lnTo>
                  <a:pt x="123969" y="0"/>
                </a:lnTo>
                <a:lnTo>
                  <a:pt x="123969" y="179057"/>
                </a:lnTo>
                <a:lnTo>
                  <a:pt x="0" y="179057"/>
                </a:lnTo>
                <a:lnTo>
                  <a:pt x="182309" y="417317"/>
                </a:lnTo>
                <a:lnTo>
                  <a:pt x="364619" y="179057"/>
                </a:lnTo>
                <a:lnTo>
                  <a:pt x="240648" y="179057"/>
                </a:lnTo>
                <a:lnTo>
                  <a:pt x="24064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0" name="Google Shape;430;p50"/>
          <p:cNvSpPr txBox="1"/>
          <p:nvPr/>
        </p:nvSpPr>
        <p:spPr>
          <a:xfrm>
            <a:off x="6618210" y="4334054"/>
            <a:ext cx="1346100" cy="269700"/>
          </a:xfrm>
          <a:prstGeom prst="rect">
            <a:avLst/>
          </a:prstGeom>
          <a:noFill/>
          <a:ln cap="flat" cmpd="sng" w="16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3525">
            <a:spAutoFit/>
          </a:bodyPr>
          <a:lstStyle/>
          <a:p>
            <a:pPr indent="0" lvl="0" marL="292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positive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0"/>
          <p:cNvSpPr txBox="1"/>
          <p:nvPr>
            <p:ph idx="12" type="sldNum"/>
          </p:nvPr>
        </p:nvSpPr>
        <p:spPr>
          <a:xfrm>
            <a:off x="6348039" y="2843318"/>
            <a:ext cx="191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32" name="Google Shape;432;p50"/>
          <p:cNvSpPr txBox="1"/>
          <p:nvPr/>
        </p:nvSpPr>
        <p:spPr>
          <a:xfrm>
            <a:off x="8075758" y="4307745"/>
            <a:ext cx="128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1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40"/>
              <a:t>In-context Learning (ICL)</a:t>
            </a:r>
            <a:endParaRPr/>
          </a:p>
        </p:txBody>
      </p:sp>
      <p:sp>
        <p:nvSpPr>
          <p:cNvPr id="439" name="Google Shape;439;p51"/>
          <p:cNvSpPr txBox="1"/>
          <p:nvPr>
            <p:ph idx="1" type="body"/>
          </p:nvPr>
        </p:nvSpPr>
        <p:spPr>
          <a:xfrm>
            <a:off x="311700" y="1152475"/>
            <a:ext cx="8419200" cy="12411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Providing ICL examples almost always leads to significant improvements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20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Benefits tend to diminish with more examples</a:t>
            </a:r>
            <a:endParaRPr sz="1900"/>
          </a:p>
        </p:txBody>
      </p:sp>
      <p:sp>
        <p:nvSpPr>
          <p:cNvPr id="440" name="Google Shape;440;p51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Material from Yoav Artzi</a:t>
            </a:r>
            <a:endParaRPr sz="15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2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40"/>
              <a:t>ICL in Agents</a:t>
            </a:r>
            <a:endParaRPr/>
          </a:p>
        </p:txBody>
      </p:sp>
      <p:pic>
        <p:nvPicPr>
          <p:cNvPr id="447" name="Google Shape;447;p52" title="Screenshot 2025-09-25 at 1.13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950" y="788751"/>
            <a:ext cx="7027823" cy="3965249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/>
          <p:nvPr/>
        </p:nvSpPr>
        <p:spPr>
          <a:xfrm>
            <a:off x="-65318" y="4896775"/>
            <a:ext cx="914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Gabriel Sarch, Lawrence Jang, Michael Tarr, William W Cohen, Kenneth Marino, Katerina Fragkiadaki. “VLM agents generate their own memories: Distilling experience into embodied programs of thought." </a:t>
            </a:r>
            <a:r>
              <a:rPr i="1" lang="en" sz="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NeurIPS </a:t>
            </a:r>
            <a:r>
              <a:rPr lang="en" sz="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2024.</a:t>
            </a:r>
            <a:endParaRPr sz="7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3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Chain-of-thought (COT) Prompting</a:t>
            </a:r>
            <a:endParaRPr sz="3640"/>
          </a:p>
        </p:txBody>
      </p:sp>
      <p:sp>
        <p:nvSpPr>
          <p:cNvPr id="455" name="Google Shape;455;p53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Material from Yoav Artzi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456" name="Google Shape;456;p53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Can we get agents to “think” through decisions?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Some tasks require multiple reasoning steps</a:t>
            </a:r>
            <a:endParaRPr sz="19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Directly generating the answer requires the model internally do the reasoning steps (or shortcut somehow)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It is empirically useful to:</a:t>
            </a:r>
            <a:endParaRPr sz="23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Show the model examples of the reasoning steps through ICL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And then have it explicitly generate the reasoning steps</a:t>
            </a:r>
            <a:endParaRPr sz="1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4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Chain-of-thought (COT) Prompting</a:t>
            </a:r>
            <a:endParaRPr sz="3640"/>
          </a:p>
        </p:txBody>
      </p:sp>
      <p:sp>
        <p:nvSpPr>
          <p:cNvPr id="463" name="Google Shape;463;p54"/>
          <p:cNvSpPr txBox="1"/>
          <p:nvPr/>
        </p:nvSpPr>
        <p:spPr>
          <a:xfrm>
            <a:off x="4644086" y="3549299"/>
            <a:ext cx="175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A: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4"/>
          <p:cNvSpPr txBox="1"/>
          <p:nvPr/>
        </p:nvSpPr>
        <p:spPr>
          <a:xfrm>
            <a:off x="4849172" y="3565974"/>
            <a:ext cx="3540600" cy="184800"/>
          </a:xfrm>
          <a:prstGeom prst="rect">
            <a:avLst/>
          </a:prstGeom>
          <a:solidFill>
            <a:srgbClr val="61D83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The cafeteria had 23 apples originally. They used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4"/>
          <p:cNvSpPr txBox="1"/>
          <p:nvPr/>
        </p:nvSpPr>
        <p:spPr>
          <a:xfrm>
            <a:off x="4655632" y="3703271"/>
            <a:ext cx="3476400" cy="184800"/>
          </a:xfrm>
          <a:prstGeom prst="rect">
            <a:avLst/>
          </a:prstGeom>
          <a:solidFill>
            <a:srgbClr val="61D83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20 to make lunch. So they had 23 - 20 = 3. They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54"/>
          <p:cNvSpPr txBox="1"/>
          <p:nvPr/>
        </p:nvSpPr>
        <p:spPr>
          <a:xfrm>
            <a:off x="4655632" y="3840568"/>
            <a:ext cx="3289800" cy="184800"/>
          </a:xfrm>
          <a:prstGeom prst="rect">
            <a:avLst/>
          </a:prstGeom>
          <a:solidFill>
            <a:srgbClr val="61D83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bought 6 more apples, so they have 3 + 6 = 9.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4"/>
          <p:cNvSpPr txBox="1"/>
          <p:nvPr/>
        </p:nvSpPr>
        <p:spPr>
          <a:xfrm>
            <a:off x="7963912" y="3823893"/>
            <a:ext cx="300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The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54"/>
          <p:cNvSpPr txBox="1"/>
          <p:nvPr/>
        </p:nvSpPr>
        <p:spPr>
          <a:xfrm>
            <a:off x="4644086" y="3961191"/>
            <a:ext cx="880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answer is 9.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54"/>
          <p:cNvSpPr txBox="1"/>
          <p:nvPr/>
        </p:nvSpPr>
        <p:spPr>
          <a:xfrm>
            <a:off x="431690" y="1681881"/>
            <a:ext cx="37476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00">
            <a:spAutoFit/>
          </a:bodyPr>
          <a:lstStyle/>
          <a:p>
            <a:pPr indent="0" lvl="0" marL="12700" marR="0" rtl="0" algn="just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Q: Roger has 5 tennis balls. He buys 2 more cans of tennis balls. Each can has 3 tennis balls. How many tennis balls does he have now?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4"/>
          <p:cNvSpPr txBox="1"/>
          <p:nvPr/>
        </p:nvSpPr>
        <p:spPr>
          <a:xfrm>
            <a:off x="431690" y="2231070"/>
            <a:ext cx="1473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A: The answer is 11.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54"/>
          <p:cNvSpPr txBox="1"/>
          <p:nvPr/>
        </p:nvSpPr>
        <p:spPr>
          <a:xfrm>
            <a:off x="431690" y="2505664"/>
            <a:ext cx="35778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00">
            <a:spAutoFit/>
          </a:bodyPr>
          <a:lstStyle/>
          <a:p>
            <a:pPr indent="0" lvl="0" marL="12700" marR="0" rtl="0" algn="just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Q: The cafeteria had 23 apples. If they used 20 to make lunch and bought 6 more, how many apples do they have?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4"/>
          <p:cNvSpPr txBox="1"/>
          <p:nvPr/>
        </p:nvSpPr>
        <p:spPr>
          <a:xfrm>
            <a:off x="453545" y="3599607"/>
            <a:ext cx="1485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A: The answer is 27.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4"/>
          <p:cNvSpPr txBox="1"/>
          <p:nvPr/>
        </p:nvSpPr>
        <p:spPr>
          <a:xfrm>
            <a:off x="1448121" y="1236089"/>
            <a:ext cx="18999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Standard Prompting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4" name="Google Shape;474;p54"/>
          <p:cNvGrpSpPr/>
          <p:nvPr/>
        </p:nvGrpSpPr>
        <p:grpSpPr>
          <a:xfrm>
            <a:off x="4469016" y="3330884"/>
            <a:ext cx="4113686" cy="883802"/>
            <a:chOff x="5085487" y="5595058"/>
            <a:chExt cx="4525009" cy="1335452"/>
          </a:xfrm>
        </p:grpSpPr>
        <p:pic>
          <p:nvPicPr>
            <p:cNvPr id="475" name="Google Shape;475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15819" y="6583149"/>
              <a:ext cx="235750" cy="2118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6" name="Google Shape;476;p54"/>
            <p:cNvSpPr/>
            <p:nvPr/>
          </p:nvSpPr>
          <p:spPr>
            <a:xfrm>
              <a:off x="5085487" y="5722740"/>
              <a:ext cx="4525009" cy="1207770"/>
            </a:xfrm>
            <a:custGeom>
              <a:rect b="b" l="l" r="r" t="t"/>
              <a:pathLst>
                <a:path extrusionOk="0" h="1207770" w="4525009">
                  <a:moveTo>
                    <a:pt x="424780" y="0"/>
                  </a:moveTo>
                  <a:lnTo>
                    <a:pt x="4099731" y="0"/>
                  </a:lnTo>
                  <a:lnTo>
                    <a:pt x="4168738" y="166"/>
                  </a:lnTo>
                  <a:lnTo>
                    <a:pt x="4226976" y="1332"/>
                  </a:lnTo>
                  <a:lnTo>
                    <a:pt x="4275640" y="4496"/>
                  </a:lnTo>
                  <a:lnTo>
                    <a:pt x="4315927" y="10657"/>
                  </a:lnTo>
                  <a:lnTo>
                    <a:pt x="4390209" y="40046"/>
                  </a:lnTo>
                  <a:lnTo>
                    <a:pt x="4426992" y="65857"/>
                  </a:lnTo>
                  <a:lnTo>
                    <a:pt x="4458654" y="97519"/>
                  </a:lnTo>
                  <a:lnTo>
                    <a:pt x="4484466" y="134303"/>
                  </a:lnTo>
                  <a:lnTo>
                    <a:pt x="4503696" y="175477"/>
                  </a:lnTo>
                  <a:lnTo>
                    <a:pt x="4520016" y="248872"/>
                  </a:lnTo>
                  <a:lnTo>
                    <a:pt x="4523180" y="297536"/>
                  </a:lnTo>
                  <a:lnTo>
                    <a:pt x="4524345" y="355773"/>
                  </a:lnTo>
                  <a:lnTo>
                    <a:pt x="4524512" y="424780"/>
                  </a:lnTo>
                  <a:lnTo>
                    <a:pt x="4524512" y="782388"/>
                  </a:lnTo>
                  <a:lnTo>
                    <a:pt x="4524345" y="851395"/>
                  </a:lnTo>
                  <a:lnTo>
                    <a:pt x="4523180" y="909632"/>
                  </a:lnTo>
                  <a:lnTo>
                    <a:pt x="4520016" y="958296"/>
                  </a:lnTo>
                  <a:lnTo>
                    <a:pt x="4513854" y="998584"/>
                  </a:lnTo>
                  <a:lnTo>
                    <a:pt x="4484466" y="1072866"/>
                  </a:lnTo>
                  <a:lnTo>
                    <a:pt x="4458654" y="1109649"/>
                  </a:lnTo>
                  <a:lnTo>
                    <a:pt x="4426992" y="1141311"/>
                  </a:lnTo>
                  <a:lnTo>
                    <a:pt x="4390209" y="1167122"/>
                  </a:lnTo>
                  <a:lnTo>
                    <a:pt x="4349035" y="1186353"/>
                  </a:lnTo>
                  <a:lnTo>
                    <a:pt x="4275640" y="1202673"/>
                  </a:lnTo>
                  <a:lnTo>
                    <a:pt x="4226976" y="1205837"/>
                  </a:lnTo>
                  <a:lnTo>
                    <a:pt x="4168738" y="1207003"/>
                  </a:lnTo>
                  <a:lnTo>
                    <a:pt x="4099731" y="1207169"/>
                  </a:lnTo>
                  <a:lnTo>
                    <a:pt x="424780" y="1207169"/>
                  </a:lnTo>
                  <a:lnTo>
                    <a:pt x="355773" y="1207003"/>
                  </a:lnTo>
                  <a:lnTo>
                    <a:pt x="297536" y="1205837"/>
                  </a:lnTo>
                  <a:lnTo>
                    <a:pt x="248872" y="1202673"/>
                  </a:lnTo>
                  <a:lnTo>
                    <a:pt x="208585" y="1196511"/>
                  </a:lnTo>
                  <a:lnTo>
                    <a:pt x="134303" y="1167122"/>
                  </a:lnTo>
                  <a:lnTo>
                    <a:pt x="97519" y="1141311"/>
                  </a:lnTo>
                  <a:lnTo>
                    <a:pt x="65857" y="1109649"/>
                  </a:lnTo>
                  <a:lnTo>
                    <a:pt x="40046" y="1072866"/>
                  </a:lnTo>
                  <a:lnTo>
                    <a:pt x="20816" y="1031691"/>
                  </a:lnTo>
                  <a:lnTo>
                    <a:pt x="4496" y="958296"/>
                  </a:lnTo>
                  <a:lnTo>
                    <a:pt x="1332" y="909632"/>
                  </a:lnTo>
                  <a:lnTo>
                    <a:pt x="166" y="851395"/>
                  </a:lnTo>
                  <a:lnTo>
                    <a:pt x="0" y="782388"/>
                  </a:lnTo>
                  <a:lnTo>
                    <a:pt x="0" y="424780"/>
                  </a:lnTo>
                  <a:lnTo>
                    <a:pt x="166" y="355773"/>
                  </a:lnTo>
                  <a:lnTo>
                    <a:pt x="1332" y="297536"/>
                  </a:lnTo>
                  <a:lnTo>
                    <a:pt x="4496" y="248872"/>
                  </a:lnTo>
                  <a:lnTo>
                    <a:pt x="10657" y="208585"/>
                  </a:lnTo>
                  <a:lnTo>
                    <a:pt x="40046" y="134303"/>
                  </a:lnTo>
                  <a:lnTo>
                    <a:pt x="65857" y="97519"/>
                  </a:lnTo>
                  <a:lnTo>
                    <a:pt x="97519" y="65857"/>
                  </a:lnTo>
                  <a:lnTo>
                    <a:pt x="134303" y="40046"/>
                  </a:lnTo>
                  <a:lnTo>
                    <a:pt x="175477" y="20816"/>
                  </a:lnTo>
                  <a:lnTo>
                    <a:pt x="248872" y="4496"/>
                  </a:lnTo>
                  <a:lnTo>
                    <a:pt x="297536" y="1332"/>
                  </a:lnTo>
                  <a:lnTo>
                    <a:pt x="355773" y="166"/>
                  </a:lnTo>
                  <a:lnTo>
                    <a:pt x="424780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477" name="Google Shape;477;p54"/>
            <p:cNvSpPr/>
            <p:nvPr/>
          </p:nvSpPr>
          <p:spPr>
            <a:xfrm>
              <a:off x="5363136" y="5595174"/>
              <a:ext cx="1348740" cy="263525"/>
            </a:xfrm>
            <a:custGeom>
              <a:rect b="b" l="l" r="r" t="t"/>
              <a:pathLst>
                <a:path extrusionOk="0" h="263525" w="1348740">
                  <a:moveTo>
                    <a:pt x="1206229" y="0"/>
                  </a:moveTo>
                  <a:lnTo>
                    <a:pt x="141892" y="0"/>
                  </a:lnTo>
                  <a:lnTo>
                    <a:pt x="114227" y="809"/>
                  </a:lnTo>
                  <a:lnTo>
                    <a:pt x="75022" y="7287"/>
                  </a:lnTo>
                  <a:lnTo>
                    <a:pt x="33716" y="33602"/>
                  </a:lnTo>
                  <a:lnTo>
                    <a:pt x="7401" y="74907"/>
                  </a:lnTo>
                  <a:lnTo>
                    <a:pt x="404" y="117007"/>
                  </a:lnTo>
                  <a:lnTo>
                    <a:pt x="0" y="131466"/>
                  </a:lnTo>
                  <a:lnTo>
                    <a:pt x="404" y="145925"/>
                  </a:lnTo>
                  <a:lnTo>
                    <a:pt x="7401" y="188025"/>
                  </a:lnTo>
                  <a:lnTo>
                    <a:pt x="33716" y="229331"/>
                  </a:lnTo>
                  <a:lnTo>
                    <a:pt x="75022" y="255645"/>
                  </a:lnTo>
                  <a:lnTo>
                    <a:pt x="114227" y="262122"/>
                  </a:lnTo>
                  <a:lnTo>
                    <a:pt x="141892" y="262931"/>
                  </a:lnTo>
                  <a:lnTo>
                    <a:pt x="1206229" y="262931"/>
                  </a:lnTo>
                  <a:lnTo>
                    <a:pt x="1255868" y="259924"/>
                  </a:lnTo>
                  <a:lnTo>
                    <a:pt x="1295314" y="244674"/>
                  </a:lnTo>
                  <a:lnTo>
                    <a:pt x="1329748" y="210241"/>
                  </a:lnTo>
                  <a:lnTo>
                    <a:pt x="1346426" y="161672"/>
                  </a:lnTo>
                  <a:lnTo>
                    <a:pt x="1348121" y="131466"/>
                  </a:lnTo>
                  <a:lnTo>
                    <a:pt x="1347717" y="117007"/>
                  </a:lnTo>
                  <a:lnTo>
                    <a:pt x="1340719" y="74907"/>
                  </a:lnTo>
                  <a:lnTo>
                    <a:pt x="1314405" y="33602"/>
                  </a:lnTo>
                  <a:lnTo>
                    <a:pt x="1273098" y="7287"/>
                  </a:lnTo>
                  <a:lnTo>
                    <a:pt x="1233894" y="809"/>
                  </a:lnTo>
                  <a:lnTo>
                    <a:pt x="1206229" y="0"/>
                  </a:lnTo>
                  <a:close/>
                </a:path>
              </a:pathLst>
            </a:custGeom>
            <a:solidFill>
              <a:srgbClr val="61D83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478" name="Google Shape;478;p54"/>
            <p:cNvSpPr/>
            <p:nvPr/>
          </p:nvSpPr>
          <p:spPr>
            <a:xfrm>
              <a:off x="5363136" y="5595058"/>
              <a:ext cx="1348740" cy="263525"/>
            </a:xfrm>
            <a:custGeom>
              <a:rect b="b" l="l" r="r" t="t"/>
              <a:pathLst>
                <a:path extrusionOk="0" h="263525" w="1348740">
                  <a:moveTo>
                    <a:pt x="176196" y="0"/>
                  </a:moveTo>
                  <a:lnTo>
                    <a:pt x="1171924" y="0"/>
                  </a:lnTo>
                  <a:lnTo>
                    <a:pt x="1206229" y="115"/>
                  </a:lnTo>
                  <a:lnTo>
                    <a:pt x="1255868" y="3122"/>
                  </a:lnTo>
                  <a:lnTo>
                    <a:pt x="1295314" y="18373"/>
                  </a:lnTo>
                  <a:lnTo>
                    <a:pt x="1329747" y="52807"/>
                  </a:lnTo>
                  <a:lnTo>
                    <a:pt x="1346427" y="101375"/>
                  </a:lnTo>
                  <a:lnTo>
                    <a:pt x="1348121" y="131581"/>
                  </a:lnTo>
                  <a:lnTo>
                    <a:pt x="1347717" y="146040"/>
                  </a:lnTo>
                  <a:lnTo>
                    <a:pt x="1340719" y="188140"/>
                  </a:lnTo>
                  <a:lnTo>
                    <a:pt x="1314405" y="229445"/>
                  </a:lnTo>
                  <a:lnTo>
                    <a:pt x="1273099" y="255760"/>
                  </a:lnTo>
                  <a:lnTo>
                    <a:pt x="1233894" y="262237"/>
                  </a:lnTo>
                  <a:lnTo>
                    <a:pt x="1171924" y="263162"/>
                  </a:lnTo>
                  <a:lnTo>
                    <a:pt x="176196" y="263162"/>
                  </a:lnTo>
                  <a:lnTo>
                    <a:pt x="114227" y="262237"/>
                  </a:lnTo>
                  <a:lnTo>
                    <a:pt x="75022" y="255760"/>
                  </a:lnTo>
                  <a:lnTo>
                    <a:pt x="33716" y="229445"/>
                  </a:lnTo>
                  <a:lnTo>
                    <a:pt x="7401" y="188140"/>
                  </a:lnTo>
                  <a:lnTo>
                    <a:pt x="404" y="146040"/>
                  </a:lnTo>
                  <a:lnTo>
                    <a:pt x="0" y="131581"/>
                  </a:lnTo>
                  <a:lnTo>
                    <a:pt x="404" y="117122"/>
                  </a:lnTo>
                  <a:lnTo>
                    <a:pt x="7401" y="75022"/>
                  </a:lnTo>
                  <a:lnTo>
                    <a:pt x="33716" y="33716"/>
                  </a:lnTo>
                  <a:lnTo>
                    <a:pt x="75022" y="7401"/>
                  </a:lnTo>
                  <a:lnTo>
                    <a:pt x="114227" y="925"/>
                  </a:lnTo>
                  <a:lnTo>
                    <a:pt x="176196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grpSp>
        <p:nvGrpSpPr>
          <p:cNvPr id="479" name="Google Shape;479;p54"/>
          <p:cNvGrpSpPr/>
          <p:nvPr/>
        </p:nvGrpSpPr>
        <p:grpSpPr>
          <a:xfrm>
            <a:off x="256675" y="3341770"/>
            <a:ext cx="4113687" cy="598456"/>
            <a:chOff x="451958" y="5611507"/>
            <a:chExt cx="4525010" cy="904285"/>
          </a:xfrm>
        </p:grpSpPr>
        <p:pic>
          <p:nvPicPr>
            <p:cNvPr id="480" name="Google Shape;480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88720" y="5992046"/>
              <a:ext cx="279910" cy="2862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1" name="Google Shape;481;p54"/>
            <p:cNvSpPr/>
            <p:nvPr/>
          </p:nvSpPr>
          <p:spPr>
            <a:xfrm>
              <a:off x="451958" y="5739188"/>
              <a:ext cx="4525010" cy="776604"/>
            </a:xfrm>
            <a:custGeom>
              <a:rect b="b" l="l" r="r" t="t"/>
              <a:pathLst>
                <a:path extrusionOk="0" h="776604" w="4525010">
                  <a:moveTo>
                    <a:pt x="424780" y="0"/>
                  </a:moveTo>
                  <a:lnTo>
                    <a:pt x="4099731" y="0"/>
                  </a:lnTo>
                  <a:lnTo>
                    <a:pt x="4168232" y="158"/>
                  </a:lnTo>
                  <a:lnTo>
                    <a:pt x="4226042" y="1267"/>
                  </a:lnTo>
                  <a:lnTo>
                    <a:pt x="4274349" y="4278"/>
                  </a:lnTo>
                  <a:lnTo>
                    <a:pt x="4314341" y="10141"/>
                  </a:lnTo>
                  <a:lnTo>
                    <a:pt x="4389136" y="39391"/>
                  </a:lnTo>
                  <a:lnTo>
                    <a:pt x="4426594" y="65675"/>
                  </a:lnTo>
                  <a:lnTo>
                    <a:pt x="4458837" y="97918"/>
                  </a:lnTo>
                  <a:lnTo>
                    <a:pt x="4485121" y="135376"/>
                  </a:lnTo>
                  <a:lnTo>
                    <a:pt x="4504705" y="177306"/>
                  </a:lnTo>
                  <a:lnTo>
                    <a:pt x="4515242" y="214560"/>
                  </a:lnTo>
                  <a:lnTo>
                    <a:pt x="4521223" y="264773"/>
                  </a:lnTo>
                  <a:lnTo>
                    <a:pt x="4523898" y="323996"/>
                  </a:lnTo>
                  <a:lnTo>
                    <a:pt x="4524512" y="388280"/>
                  </a:lnTo>
                  <a:lnTo>
                    <a:pt x="4523898" y="452565"/>
                  </a:lnTo>
                  <a:lnTo>
                    <a:pt x="4521223" y="511787"/>
                  </a:lnTo>
                  <a:lnTo>
                    <a:pt x="4515242" y="562000"/>
                  </a:lnTo>
                  <a:lnTo>
                    <a:pt x="4504705" y="599255"/>
                  </a:lnTo>
                  <a:lnTo>
                    <a:pt x="4485121" y="641185"/>
                  </a:lnTo>
                  <a:lnTo>
                    <a:pt x="4458837" y="678643"/>
                  </a:lnTo>
                  <a:lnTo>
                    <a:pt x="4426594" y="710886"/>
                  </a:lnTo>
                  <a:lnTo>
                    <a:pt x="4389136" y="737170"/>
                  </a:lnTo>
                  <a:lnTo>
                    <a:pt x="4347206" y="756753"/>
                  </a:lnTo>
                  <a:lnTo>
                    <a:pt x="4274349" y="772283"/>
                  </a:lnTo>
                  <a:lnTo>
                    <a:pt x="4226042" y="775294"/>
                  </a:lnTo>
                  <a:lnTo>
                    <a:pt x="4168232" y="776403"/>
                  </a:lnTo>
                  <a:lnTo>
                    <a:pt x="4099731" y="776561"/>
                  </a:lnTo>
                  <a:lnTo>
                    <a:pt x="424780" y="776561"/>
                  </a:lnTo>
                  <a:lnTo>
                    <a:pt x="356279" y="776403"/>
                  </a:lnTo>
                  <a:lnTo>
                    <a:pt x="298469" y="775294"/>
                  </a:lnTo>
                  <a:lnTo>
                    <a:pt x="250162" y="772283"/>
                  </a:lnTo>
                  <a:lnTo>
                    <a:pt x="210170" y="766420"/>
                  </a:lnTo>
                  <a:lnTo>
                    <a:pt x="135376" y="737170"/>
                  </a:lnTo>
                  <a:lnTo>
                    <a:pt x="97918" y="710886"/>
                  </a:lnTo>
                  <a:lnTo>
                    <a:pt x="65675" y="678643"/>
                  </a:lnTo>
                  <a:lnTo>
                    <a:pt x="39391" y="641185"/>
                  </a:lnTo>
                  <a:lnTo>
                    <a:pt x="19807" y="599255"/>
                  </a:lnTo>
                  <a:lnTo>
                    <a:pt x="9270" y="562000"/>
                  </a:lnTo>
                  <a:lnTo>
                    <a:pt x="3288" y="511787"/>
                  </a:lnTo>
                  <a:lnTo>
                    <a:pt x="614" y="452565"/>
                  </a:lnTo>
                  <a:lnTo>
                    <a:pt x="0" y="388280"/>
                  </a:lnTo>
                  <a:lnTo>
                    <a:pt x="614" y="323996"/>
                  </a:lnTo>
                  <a:lnTo>
                    <a:pt x="3288" y="264773"/>
                  </a:lnTo>
                  <a:lnTo>
                    <a:pt x="9270" y="214560"/>
                  </a:lnTo>
                  <a:lnTo>
                    <a:pt x="19807" y="177306"/>
                  </a:lnTo>
                  <a:lnTo>
                    <a:pt x="39391" y="135376"/>
                  </a:lnTo>
                  <a:lnTo>
                    <a:pt x="65675" y="97918"/>
                  </a:lnTo>
                  <a:lnTo>
                    <a:pt x="97918" y="65675"/>
                  </a:lnTo>
                  <a:lnTo>
                    <a:pt x="135376" y="39391"/>
                  </a:lnTo>
                  <a:lnTo>
                    <a:pt x="177306" y="19807"/>
                  </a:lnTo>
                  <a:lnTo>
                    <a:pt x="250162" y="4278"/>
                  </a:lnTo>
                  <a:lnTo>
                    <a:pt x="298469" y="1267"/>
                  </a:lnTo>
                  <a:lnTo>
                    <a:pt x="356279" y="158"/>
                  </a:lnTo>
                  <a:lnTo>
                    <a:pt x="424780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482" name="Google Shape;482;p54"/>
            <p:cNvSpPr/>
            <p:nvPr/>
          </p:nvSpPr>
          <p:spPr>
            <a:xfrm>
              <a:off x="729606" y="5611623"/>
              <a:ext cx="1348739" cy="263525"/>
            </a:xfrm>
            <a:custGeom>
              <a:rect b="b" l="l" r="r" t="t"/>
              <a:pathLst>
                <a:path extrusionOk="0" h="263525" w="1348739">
                  <a:moveTo>
                    <a:pt x="1206229" y="0"/>
                  </a:moveTo>
                  <a:lnTo>
                    <a:pt x="141892" y="0"/>
                  </a:lnTo>
                  <a:lnTo>
                    <a:pt x="114227" y="809"/>
                  </a:lnTo>
                  <a:lnTo>
                    <a:pt x="75022" y="7287"/>
                  </a:lnTo>
                  <a:lnTo>
                    <a:pt x="33716" y="33601"/>
                  </a:lnTo>
                  <a:lnTo>
                    <a:pt x="7401" y="74907"/>
                  </a:lnTo>
                  <a:lnTo>
                    <a:pt x="404" y="117007"/>
                  </a:lnTo>
                  <a:lnTo>
                    <a:pt x="0" y="131466"/>
                  </a:lnTo>
                  <a:lnTo>
                    <a:pt x="404" y="145924"/>
                  </a:lnTo>
                  <a:lnTo>
                    <a:pt x="7401" y="188024"/>
                  </a:lnTo>
                  <a:lnTo>
                    <a:pt x="33716" y="229330"/>
                  </a:lnTo>
                  <a:lnTo>
                    <a:pt x="75022" y="255645"/>
                  </a:lnTo>
                  <a:lnTo>
                    <a:pt x="114227" y="262122"/>
                  </a:lnTo>
                  <a:lnTo>
                    <a:pt x="141892" y="262931"/>
                  </a:lnTo>
                  <a:lnTo>
                    <a:pt x="1206229" y="262931"/>
                  </a:lnTo>
                  <a:lnTo>
                    <a:pt x="1255868" y="259924"/>
                  </a:lnTo>
                  <a:lnTo>
                    <a:pt x="1295314" y="244673"/>
                  </a:lnTo>
                  <a:lnTo>
                    <a:pt x="1329748" y="210239"/>
                  </a:lnTo>
                  <a:lnTo>
                    <a:pt x="1346427" y="161671"/>
                  </a:lnTo>
                  <a:lnTo>
                    <a:pt x="1348122" y="131466"/>
                  </a:lnTo>
                  <a:lnTo>
                    <a:pt x="1347718" y="117007"/>
                  </a:lnTo>
                  <a:lnTo>
                    <a:pt x="1340719" y="74907"/>
                  </a:lnTo>
                  <a:lnTo>
                    <a:pt x="1314405" y="33601"/>
                  </a:lnTo>
                  <a:lnTo>
                    <a:pt x="1273099" y="7287"/>
                  </a:lnTo>
                  <a:lnTo>
                    <a:pt x="1233894" y="809"/>
                  </a:lnTo>
                  <a:lnTo>
                    <a:pt x="1206229" y="0"/>
                  </a:lnTo>
                  <a:close/>
                </a:path>
              </a:pathLst>
            </a:custGeom>
            <a:solidFill>
              <a:srgbClr val="61D83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483" name="Google Shape;483;p54"/>
            <p:cNvSpPr/>
            <p:nvPr/>
          </p:nvSpPr>
          <p:spPr>
            <a:xfrm>
              <a:off x="729606" y="5611507"/>
              <a:ext cx="1348739" cy="263525"/>
            </a:xfrm>
            <a:custGeom>
              <a:rect b="b" l="l" r="r" t="t"/>
              <a:pathLst>
                <a:path extrusionOk="0" h="263525" w="1348739">
                  <a:moveTo>
                    <a:pt x="176196" y="0"/>
                  </a:moveTo>
                  <a:lnTo>
                    <a:pt x="1171924" y="0"/>
                  </a:lnTo>
                  <a:lnTo>
                    <a:pt x="1206229" y="115"/>
                  </a:lnTo>
                  <a:lnTo>
                    <a:pt x="1255868" y="3122"/>
                  </a:lnTo>
                  <a:lnTo>
                    <a:pt x="1295314" y="18373"/>
                  </a:lnTo>
                  <a:lnTo>
                    <a:pt x="1329747" y="52807"/>
                  </a:lnTo>
                  <a:lnTo>
                    <a:pt x="1346427" y="101375"/>
                  </a:lnTo>
                  <a:lnTo>
                    <a:pt x="1348121" y="131581"/>
                  </a:lnTo>
                  <a:lnTo>
                    <a:pt x="1347717" y="146040"/>
                  </a:lnTo>
                  <a:lnTo>
                    <a:pt x="1340719" y="188140"/>
                  </a:lnTo>
                  <a:lnTo>
                    <a:pt x="1314405" y="229445"/>
                  </a:lnTo>
                  <a:lnTo>
                    <a:pt x="1273099" y="255760"/>
                  </a:lnTo>
                  <a:lnTo>
                    <a:pt x="1233894" y="262237"/>
                  </a:lnTo>
                  <a:lnTo>
                    <a:pt x="1171924" y="263162"/>
                  </a:lnTo>
                  <a:lnTo>
                    <a:pt x="176196" y="263162"/>
                  </a:lnTo>
                  <a:lnTo>
                    <a:pt x="114227" y="262237"/>
                  </a:lnTo>
                  <a:lnTo>
                    <a:pt x="75022" y="255760"/>
                  </a:lnTo>
                  <a:lnTo>
                    <a:pt x="33716" y="229445"/>
                  </a:lnTo>
                  <a:lnTo>
                    <a:pt x="7401" y="188140"/>
                  </a:lnTo>
                  <a:lnTo>
                    <a:pt x="404" y="146040"/>
                  </a:lnTo>
                  <a:lnTo>
                    <a:pt x="0" y="131581"/>
                  </a:lnTo>
                  <a:lnTo>
                    <a:pt x="404" y="117122"/>
                  </a:lnTo>
                  <a:lnTo>
                    <a:pt x="7401" y="75022"/>
                  </a:lnTo>
                  <a:lnTo>
                    <a:pt x="33716" y="33716"/>
                  </a:lnTo>
                  <a:lnTo>
                    <a:pt x="75022" y="7401"/>
                  </a:lnTo>
                  <a:lnTo>
                    <a:pt x="114227" y="925"/>
                  </a:lnTo>
                  <a:lnTo>
                    <a:pt x="176196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484" name="Google Shape;484;p54"/>
          <p:cNvSpPr txBox="1"/>
          <p:nvPr/>
        </p:nvSpPr>
        <p:spPr>
          <a:xfrm>
            <a:off x="4657865" y="1689508"/>
            <a:ext cx="37476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00">
            <a:spAutoFit/>
          </a:bodyPr>
          <a:lstStyle/>
          <a:p>
            <a:pPr indent="0" lvl="0" marL="12700" marR="0" rtl="0" algn="just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Q: Roger has 5 tennis balls. He buys 2 more cans of tennis balls. Each can has 3 tennis balls. How many tennis balls does he have now?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54"/>
          <p:cNvSpPr txBox="1"/>
          <p:nvPr/>
        </p:nvSpPr>
        <p:spPr>
          <a:xfrm>
            <a:off x="4657865" y="2238697"/>
            <a:ext cx="175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A: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4"/>
          <p:cNvSpPr txBox="1"/>
          <p:nvPr/>
        </p:nvSpPr>
        <p:spPr>
          <a:xfrm>
            <a:off x="4865852" y="2255373"/>
            <a:ext cx="3543900" cy="184800"/>
          </a:xfrm>
          <a:prstGeom prst="rect">
            <a:avLst/>
          </a:prstGeom>
          <a:solidFill>
            <a:srgbClr val="56C1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Roger started with 5 balls. 2 cans of 3 tennis balls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4"/>
          <p:cNvSpPr txBox="1"/>
          <p:nvPr/>
        </p:nvSpPr>
        <p:spPr>
          <a:xfrm>
            <a:off x="4669410" y="2392670"/>
            <a:ext cx="2349000" cy="184800"/>
          </a:xfrm>
          <a:prstGeom prst="rect">
            <a:avLst/>
          </a:prstGeom>
          <a:solidFill>
            <a:srgbClr val="56C1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each is 6 tennis balls. 5 + 6 = 11.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54"/>
          <p:cNvSpPr txBox="1"/>
          <p:nvPr/>
        </p:nvSpPr>
        <p:spPr>
          <a:xfrm>
            <a:off x="7036746" y="2375994"/>
            <a:ext cx="1279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The answer is 11.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54"/>
          <p:cNvSpPr txBox="1"/>
          <p:nvPr/>
        </p:nvSpPr>
        <p:spPr>
          <a:xfrm>
            <a:off x="4657865" y="2650589"/>
            <a:ext cx="35778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00">
            <a:spAutoFit/>
          </a:bodyPr>
          <a:lstStyle/>
          <a:p>
            <a:pPr indent="0" lvl="0" marL="12700" marR="0" rtl="0" algn="just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Q: The cafeteria had 23 apples. If they used 20 to make lunch and bought 6 more, how many apples do they have?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0" name="Google Shape;490;p54"/>
          <p:cNvGrpSpPr/>
          <p:nvPr/>
        </p:nvGrpSpPr>
        <p:grpSpPr>
          <a:xfrm>
            <a:off x="4469016" y="1446674"/>
            <a:ext cx="4113686" cy="1783962"/>
            <a:chOff x="5085487" y="2747959"/>
            <a:chExt cx="4525009" cy="2695621"/>
          </a:xfrm>
        </p:grpSpPr>
        <p:sp>
          <p:nvSpPr>
            <p:cNvPr id="491" name="Google Shape;491;p54"/>
            <p:cNvSpPr/>
            <p:nvPr/>
          </p:nvSpPr>
          <p:spPr>
            <a:xfrm>
              <a:off x="5085487" y="2875640"/>
              <a:ext cx="4525009" cy="2567940"/>
            </a:xfrm>
            <a:custGeom>
              <a:rect b="b" l="l" r="r" t="t"/>
              <a:pathLst>
                <a:path extrusionOk="0" h="2567940" w="4525009">
                  <a:moveTo>
                    <a:pt x="424780" y="0"/>
                  </a:moveTo>
                  <a:lnTo>
                    <a:pt x="4099731" y="0"/>
                  </a:lnTo>
                  <a:lnTo>
                    <a:pt x="4168738" y="166"/>
                  </a:lnTo>
                  <a:lnTo>
                    <a:pt x="4226976" y="1332"/>
                  </a:lnTo>
                  <a:lnTo>
                    <a:pt x="4275640" y="4496"/>
                  </a:lnTo>
                  <a:lnTo>
                    <a:pt x="4315927" y="10657"/>
                  </a:lnTo>
                  <a:lnTo>
                    <a:pt x="4390209" y="40046"/>
                  </a:lnTo>
                  <a:lnTo>
                    <a:pt x="4426992" y="65857"/>
                  </a:lnTo>
                  <a:lnTo>
                    <a:pt x="4458654" y="97519"/>
                  </a:lnTo>
                  <a:lnTo>
                    <a:pt x="4484466" y="134303"/>
                  </a:lnTo>
                  <a:lnTo>
                    <a:pt x="4503696" y="175477"/>
                  </a:lnTo>
                  <a:lnTo>
                    <a:pt x="4520016" y="248872"/>
                  </a:lnTo>
                  <a:lnTo>
                    <a:pt x="4523180" y="297536"/>
                  </a:lnTo>
                  <a:lnTo>
                    <a:pt x="4524345" y="355773"/>
                  </a:lnTo>
                  <a:lnTo>
                    <a:pt x="4524512" y="424780"/>
                  </a:lnTo>
                  <a:lnTo>
                    <a:pt x="4524512" y="2142639"/>
                  </a:lnTo>
                  <a:lnTo>
                    <a:pt x="4524345" y="2211646"/>
                  </a:lnTo>
                  <a:lnTo>
                    <a:pt x="4523180" y="2269884"/>
                  </a:lnTo>
                  <a:lnTo>
                    <a:pt x="4520016" y="2318548"/>
                  </a:lnTo>
                  <a:lnTo>
                    <a:pt x="4513854" y="2358835"/>
                  </a:lnTo>
                  <a:lnTo>
                    <a:pt x="4484466" y="2433117"/>
                  </a:lnTo>
                  <a:lnTo>
                    <a:pt x="4458654" y="2469900"/>
                  </a:lnTo>
                  <a:lnTo>
                    <a:pt x="4426992" y="2501562"/>
                  </a:lnTo>
                  <a:lnTo>
                    <a:pt x="4390209" y="2527373"/>
                  </a:lnTo>
                  <a:lnTo>
                    <a:pt x="4349035" y="2546604"/>
                  </a:lnTo>
                  <a:lnTo>
                    <a:pt x="4275640" y="2562924"/>
                  </a:lnTo>
                  <a:lnTo>
                    <a:pt x="4226976" y="2566088"/>
                  </a:lnTo>
                  <a:lnTo>
                    <a:pt x="4168738" y="2567253"/>
                  </a:lnTo>
                  <a:lnTo>
                    <a:pt x="4099731" y="2567420"/>
                  </a:lnTo>
                  <a:lnTo>
                    <a:pt x="424780" y="2567420"/>
                  </a:lnTo>
                  <a:lnTo>
                    <a:pt x="355773" y="2567253"/>
                  </a:lnTo>
                  <a:lnTo>
                    <a:pt x="297536" y="2566088"/>
                  </a:lnTo>
                  <a:lnTo>
                    <a:pt x="248872" y="2562924"/>
                  </a:lnTo>
                  <a:lnTo>
                    <a:pt x="208585" y="2556762"/>
                  </a:lnTo>
                  <a:lnTo>
                    <a:pt x="134303" y="2527373"/>
                  </a:lnTo>
                  <a:lnTo>
                    <a:pt x="97519" y="2501562"/>
                  </a:lnTo>
                  <a:lnTo>
                    <a:pt x="65857" y="2469900"/>
                  </a:lnTo>
                  <a:lnTo>
                    <a:pt x="40046" y="2433117"/>
                  </a:lnTo>
                  <a:lnTo>
                    <a:pt x="20816" y="2391943"/>
                  </a:lnTo>
                  <a:lnTo>
                    <a:pt x="4496" y="2318548"/>
                  </a:lnTo>
                  <a:lnTo>
                    <a:pt x="1332" y="2269884"/>
                  </a:lnTo>
                  <a:lnTo>
                    <a:pt x="166" y="2211646"/>
                  </a:lnTo>
                  <a:lnTo>
                    <a:pt x="0" y="2142639"/>
                  </a:lnTo>
                  <a:lnTo>
                    <a:pt x="0" y="424780"/>
                  </a:lnTo>
                  <a:lnTo>
                    <a:pt x="166" y="355773"/>
                  </a:lnTo>
                  <a:lnTo>
                    <a:pt x="1332" y="297536"/>
                  </a:lnTo>
                  <a:lnTo>
                    <a:pt x="4496" y="248872"/>
                  </a:lnTo>
                  <a:lnTo>
                    <a:pt x="10657" y="208585"/>
                  </a:lnTo>
                  <a:lnTo>
                    <a:pt x="40046" y="134303"/>
                  </a:lnTo>
                  <a:lnTo>
                    <a:pt x="65857" y="97519"/>
                  </a:lnTo>
                  <a:lnTo>
                    <a:pt x="97519" y="65857"/>
                  </a:lnTo>
                  <a:lnTo>
                    <a:pt x="134303" y="40046"/>
                  </a:lnTo>
                  <a:lnTo>
                    <a:pt x="175477" y="20816"/>
                  </a:lnTo>
                  <a:lnTo>
                    <a:pt x="248872" y="4496"/>
                  </a:lnTo>
                  <a:lnTo>
                    <a:pt x="297536" y="1332"/>
                  </a:lnTo>
                  <a:lnTo>
                    <a:pt x="355773" y="166"/>
                  </a:lnTo>
                  <a:lnTo>
                    <a:pt x="424780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492" name="Google Shape;492;p54"/>
            <p:cNvSpPr/>
            <p:nvPr/>
          </p:nvSpPr>
          <p:spPr>
            <a:xfrm>
              <a:off x="5363136" y="2748075"/>
              <a:ext cx="1289050" cy="263525"/>
            </a:xfrm>
            <a:custGeom>
              <a:rect b="b" l="l" r="r" t="t"/>
              <a:pathLst>
                <a:path extrusionOk="0" h="263525" w="1289050">
                  <a:moveTo>
                    <a:pt x="1147085" y="0"/>
                  </a:moveTo>
                  <a:lnTo>
                    <a:pt x="141892" y="0"/>
                  </a:lnTo>
                  <a:lnTo>
                    <a:pt x="114227" y="809"/>
                  </a:lnTo>
                  <a:lnTo>
                    <a:pt x="75022" y="7285"/>
                  </a:lnTo>
                  <a:lnTo>
                    <a:pt x="33716" y="33601"/>
                  </a:lnTo>
                  <a:lnTo>
                    <a:pt x="7401" y="74907"/>
                  </a:lnTo>
                  <a:lnTo>
                    <a:pt x="404" y="117006"/>
                  </a:lnTo>
                  <a:lnTo>
                    <a:pt x="0" y="131465"/>
                  </a:lnTo>
                  <a:lnTo>
                    <a:pt x="404" y="145924"/>
                  </a:lnTo>
                  <a:lnTo>
                    <a:pt x="7401" y="188024"/>
                  </a:lnTo>
                  <a:lnTo>
                    <a:pt x="33716" y="229330"/>
                  </a:lnTo>
                  <a:lnTo>
                    <a:pt x="75022" y="255644"/>
                  </a:lnTo>
                  <a:lnTo>
                    <a:pt x="114227" y="262122"/>
                  </a:lnTo>
                  <a:lnTo>
                    <a:pt x="141892" y="262931"/>
                  </a:lnTo>
                  <a:lnTo>
                    <a:pt x="1147085" y="262931"/>
                  </a:lnTo>
                  <a:lnTo>
                    <a:pt x="1196723" y="259924"/>
                  </a:lnTo>
                  <a:lnTo>
                    <a:pt x="1236169" y="244673"/>
                  </a:lnTo>
                  <a:lnTo>
                    <a:pt x="1270603" y="210239"/>
                  </a:lnTo>
                  <a:lnTo>
                    <a:pt x="1287282" y="161672"/>
                  </a:lnTo>
                  <a:lnTo>
                    <a:pt x="1288977" y="131465"/>
                  </a:lnTo>
                  <a:lnTo>
                    <a:pt x="1288573" y="117006"/>
                  </a:lnTo>
                  <a:lnTo>
                    <a:pt x="1281574" y="74907"/>
                  </a:lnTo>
                  <a:lnTo>
                    <a:pt x="1255260" y="33601"/>
                  </a:lnTo>
                  <a:lnTo>
                    <a:pt x="1213954" y="7285"/>
                  </a:lnTo>
                  <a:lnTo>
                    <a:pt x="1174750" y="809"/>
                  </a:lnTo>
                  <a:lnTo>
                    <a:pt x="1147085" y="0"/>
                  </a:lnTo>
                  <a:close/>
                </a:path>
              </a:pathLst>
            </a:custGeom>
            <a:solidFill>
              <a:srgbClr val="56C1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493" name="Google Shape;493;p54"/>
            <p:cNvSpPr/>
            <p:nvPr/>
          </p:nvSpPr>
          <p:spPr>
            <a:xfrm>
              <a:off x="5363136" y="2747959"/>
              <a:ext cx="1289050" cy="263525"/>
            </a:xfrm>
            <a:custGeom>
              <a:rect b="b" l="l" r="r" t="t"/>
              <a:pathLst>
                <a:path extrusionOk="0" h="263525" w="1289050">
                  <a:moveTo>
                    <a:pt x="176196" y="0"/>
                  </a:moveTo>
                  <a:lnTo>
                    <a:pt x="1112780" y="0"/>
                  </a:lnTo>
                  <a:lnTo>
                    <a:pt x="1147084" y="115"/>
                  </a:lnTo>
                  <a:lnTo>
                    <a:pt x="1196723" y="3122"/>
                  </a:lnTo>
                  <a:lnTo>
                    <a:pt x="1236170" y="18373"/>
                  </a:lnTo>
                  <a:lnTo>
                    <a:pt x="1270603" y="52807"/>
                  </a:lnTo>
                  <a:lnTo>
                    <a:pt x="1287282" y="101375"/>
                  </a:lnTo>
                  <a:lnTo>
                    <a:pt x="1288977" y="131581"/>
                  </a:lnTo>
                  <a:lnTo>
                    <a:pt x="1288572" y="146040"/>
                  </a:lnTo>
                  <a:lnTo>
                    <a:pt x="1281575" y="188140"/>
                  </a:lnTo>
                  <a:lnTo>
                    <a:pt x="1255260" y="229445"/>
                  </a:lnTo>
                  <a:lnTo>
                    <a:pt x="1213954" y="255760"/>
                  </a:lnTo>
                  <a:lnTo>
                    <a:pt x="1174749" y="262237"/>
                  </a:lnTo>
                  <a:lnTo>
                    <a:pt x="1112780" y="263162"/>
                  </a:lnTo>
                  <a:lnTo>
                    <a:pt x="176196" y="263162"/>
                  </a:lnTo>
                  <a:lnTo>
                    <a:pt x="114227" y="262237"/>
                  </a:lnTo>
                  <a:lnTo>
                    <a:pt x="75022" y="255760"/>
                  </a:lnTo>
                  <a:lnTo>
                    <a:pt x="33716" y="229445"/>
                  </a:lnTo>
                  <a:lnTo>
                    <a:pt x="7401" y="188140"/>
                  </a:lnTo>
                  <a:lnTo>
                    <a:pt x="404" y="146040"/>
                  </a:lnTo>
                  <a:lnTo>
                    <a:pt x="0" y="131581"/>
                  </a:lnTo>
                  <a:lnTo>
                    <a:pt x="404" y="117122"/>
                  </a:lnTo>
                  <a:lnTo>
                    <a:pt x="7401" y="75022"/>
                  </a:lnTo>
                  <a:lnTo>
                    <a:pt x="33716" y="33716"/>
                  </a:lnTo>
                  <a:lnTo>
                    <a:pt x="75022" y="7401"/>
                  </a:lnTo>
                  <a:lnTo>
                    <a:pt x="114227" y="925"/>
                  </a:lnTo>
                  <a:lnTo>
                    <a:pt x="176196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494" name="Google Shape;494;p54"/>
          <p:cNvSpPr txBox="1"/>
          <p:nvPr/>
        </p:nvSpPr>
        <p:spPr>
          <a:xfrm>
            <a:off x="4910979" y="1080035"/>
            <a:ext cx="30849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75">
            <a:spAutoFit/>
          </a:bodyPr>
          <a:lstStyle/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Chain-of-Thought Prompting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Model Input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5" name="Google Shape;495;p54"/>
          <p:cNvGrpSpPr/>
          <p:nvPr/>
        </p:nvGrpSpPr>
        <p:grpSpPr>
          <a:xfrm>
            <a:off x="256675" y="1446674"/>
            <a:ext cx="4113687" cy="1656586"/>
            <a:chOff x="451958" y="2747959"/>
            <a:chExt cx="4525010" cy="2503152"/>
          </a:xfrm>
        </p:grpSpPr>
        <p:sp>
          <p:nvSpPr>
            <p:cNvPr id="496" name="Google Shape;496;p54"/>
            <p:cNvSpPr/>
            <p:nvPr/>
          </p:nvSpPr>
          <p:spPr>
            <a:xfrm>
              <a:off x="451958" y="2867957"/>
              <a:ext cx="4525010" cy="2383154"/>
            </a:xfrm>
            <a:custGeom>
              <a:rect b="b" l="l" r="r" t="t"/>
              <a:pathLst>
                <a:path extrusionOk="0" h="2383154" w="4525010">
                  <a:moveTo>
                    <a:pt x="424780" y="0"/>
                  </a:moveTo>
                  <a:lnTo>
                    <a:pt x="4099731" y="0"/>
                  </a:lnTo>
                  <a:lnTo>
                    <a:pt x="4168738" y="166"/>
                  </a:lnTo>
                  <a:lnTo>
                    <a:pt x="4226976" y="1332"/>
                  </a:lnTo>
                  <a:lnTo>
                    <a:pt x="4275640" y="4496"/>
                  </a:lnTo>
                  <a:lnTo>
                    <a:pt x="4315927" y="10657"/>
                  </a:lnTo>
                  <a:lnTo>
                    <a:pt x="4390209" y="40046"/>
                  </a:lnTo>
                  <a:lnTo>
                    <a:pt x="4426992" y="65857"/>
                  </a:lnTo>
                  <a:lnTo>
                    <a:pt x="4458654" y="97519"/>
                  </a:lnTo>
                  <a:lnTo>
                    <a:pt x="4484466" y="134303"/>
                  </a:lnTo>
                  <a:lnTo>
                    <a:pt x="4503696" y="175477"/>
                  </a:lnTo>
                  <a:lnTo>
                    <a:pt x="4520016" y="248872"/>
                  </a:lnTo>
                  <a:lnTo>
                    <a:pt x="4523180" y="297536"/>
                  </a:lnTo>
                  <a:lnTo>
                    <a:pt x="4524345" y="355773"/>
                  </a:lnTo>
                  <a:lnTo>
                    <a:pt x="4524512" y="424780"/>
                  </a:lnTo>
                  <a:lnTo>
                    <a:pt x="4524512" y="1958220"/>
                  </a:lnTo>
                  <a:lnTo>
                    <a:pt x="4524345" y="2027227"/>
                  </a:lnTo>
                  <a:lnTo>
                    <a:pt x="4523180" y="2085464"/>
                  </a:lnTo>
                  <a:lnTo>
                    <a:pt x="4520016" y="2134129"/>
                  </a:lnTo>
                  <a:lnTo>
                    <a:pt x="4513854" y="2174416"/>
                  </a:lnTo>
                  <a:lnTo>
                    <a:pt x="4484466" y="2248698"/>
                  </a:lnTo>
                  <a:lnTo>
                    <a:pt x="4458654" y="2285481"/>
                  </a:lnTo>
                  <a:lnTo>
                    <a:pt x="4426992" y="2317143"/>
                  </a:lnTo>
                  <a:lnTo>
                    <a:pt x="4390209" y="2342954"/>
                  </a:lnTo>
                  <a:lnTo>
                    <a:pt x="4349035" y="2362185"/>
                  </a:lnTo>
                  <a:lnTo>
                    <a:pt x="4275640" y="2378505"/>
                  </a:lnTo>
                  <a:lnTo>
                    <a:pt x="4226976" y="2381668"/>
                  </a:lnTo>
                  <a:lnTo>
                    <a:pt x="4168738" y="2382834"/>
                  </a:lnTo>
                  <a:lnTo>
                    <a:pt x="4099731" y="2383001"/>
                  </a:lnTo>
                  <a:lnTo>
                    <a:pt x="424780" y="2383001"/>
                  </a:lnTo>
                  <a:lnTo>
                    <a:pt x="355773" y="2382834"/>
                  </a:lnTo>
                  <a:lnTo>
                    <a:pt x="297536" y="2381668"/>
                  </a:lnTo>
                  <a:lnTo>
                    <a:pt x="248872" y="2378505"/>
                  </a:lnTo>
                  <a:lnTo>
                    <a:pt x="208585" y="2372343"/>
                  </a:lnTo>
                  <a:lnTo>
                    <a:pt x="134303" y="2342954"/>
                  </a:lnTo>
                  <a:lnTo>
                    <a:pt x="97519" y="2317143"/>
                  </a:lnTo>
                  <a:lnTo>
                    <a:pt x="65857" y="2285481"/>
                  </a:lnTo>
                  <a:lnTo>
                    <a:pt x="40046" y="2248698"/>
                  </a:lnTo>
                  <a:lnTo>
                    <a:pt x="20816" y="2207524"/>
                  </a:lnTo>
                  <a:lnTo>
                    <a:pt x="4496" y="2134129"/>
                  </a:lnTo>
                  <a:lnTo>
                    <a:pt x="1332" y="2085464"/>
                  </a:lnTo>
                  <a:lnTo>
                    <a:pt x="166" y="2027227"/>
                  </a:lnTo>
                  <a:lnTo>
                    <a:pt x="0" y="1958220"/>
                  </a:lnTo>
                  <a:lnTo>
                    <a:pt x="0" y="424780"/>
                  </a:lnTo>
                  <a:lnTo>
                    <a:pt x="166" y="355773"/>
                  </a:lnTo>
                  <a:lnTo>
                    <a:pt x="1332" y="297536"/>
                  </a:lnTo>
                  <a:lnTo>
                    <a:pt x="4496" y="248872"/>
                  </a:lnTo>
                  <a:lnTo>
                    <a:pt x="10657" y="208585"/>
                  </a:lnTo>
                  <a:lnTo>
                    <a:pt x="40046" y="134303"/>
                  </a:lnTo>
                  <a:lnTo>
                    <a:pt x="65857" y="97519"/>
                  </a:lnTo>
                  <a:lnTo>
                    <a:pt x="97519" y="65857"/>
                  </a:lnTo>
                  <a:lnTo>
                    <a:pt x="134303" y="40046"/>
                  </a:lnTo>
                  <a:lnTo>
                    <a:pt x="175477" y="20816"/>
                  </a:lnTo>
                  <a:lnTo>
                    <a:pt x="248872" y="4496"/>
                  </a:lnTo>
                  <a:lnTo>
                    <a:pt x="297536" y="1332"/>
                  </a:lnTo>
                  <a:lnTo>
                    <a:pt x="355773" y="166"/>
                  </a:lnTo>
                  <a:lnTo>
                    <a:pt x="424780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497" name="Google Shape;497;p54"/>
            <p:cNvSpPr/>
            <p:nvPr/>
          </p:nvSpPr>
          <p:spPr>
            <a:xfrm>
              <a:off x="695056" y="2748075"/>
              <a:ext cx="1289050" cy="263525"/>
            </a:xfrm>
            <a:custGeom>
              <a:rect b="b" l="l" r="r" t="t"/>
              <a:pathLst>
                <a:path extrusionOk="0" h="263525" w="1289050">
                  <a:moveTo>
                    <a:pt x="1147084" y="0"/>
                  </a:moveTo>
                  <a:lnTo>
                    <a:pt x="141892" y="0"/>
                  </a:lnTo>
                  <a:lnTo>
                    <a:pt x="114227" y="809"/>
                  </a:lnTo>
                  <a:lnTo>
                    <a:pt x="75022" y="7285"/>
                  </a:lnTo>
                  <a:lnTo>
                    <a:pt x="33716" y="33601"/>
                  </a:lnTo>
                  <a:lnTo>
                    <a:pt x="7401" y="74907"/>
                  </a:lnTo>
                  <a:lnTo>
                    <a:pt x="404" y="117006"/>
                  </a:lnTo>
                  <a:lnTo>
                    <a:pt x="0" y="131465"/>
                  </a:lnTo>
                  <a:lnTo>
                    <a:pt x="404" y="145924"/>
                  </a:lnTo>
                  <a:lnTo>
                    <a:pt x="7401" y="188024"/>
                  </a:lnTo>
                  <a:lnTo>
                    <a:pt x="33716" y="229330"/>
                  </a:lnTo>
                  <a:lnTo>
                    <a:pt x="75022" y="255644"/>
                  </a:lnTo>
                  <a:lnTo>
                    <a:pt x="114227" y="262122"/>
                  </a:lnTo>
                  <a:lnTo>
                    <a:pt x="141892" y="262931"/>
                  </a:lnTo>
                  <a:lnTo>
                    <a:pt x="1147084" y="262931"/>
                  </a:lnTo>
                  <a:lnTo>
                    <a:pt x="1196723" y="259924"/>
                  </a:lnTo>
                  <a:lnTo>
                    <a:pt x="1236170" y="244673"/>
                  </a:lnTo>
                  <a:lnTo>
                    <a:pt x="1270603" y="210239"/>
                  </a:lnTo>
                  <a:lnTo>
                    <a:pt x="1287282" y="161672"/>
                  </a:lnTo>
                  <a:lnTo>
                    <a:pt x="1288977" y="131465"/>
                  </a:lnTo>
                  <a:lnTo>
                    <a:pt x="1288572" y="117006"/>
                  </a:lnTo>
                  <a:lnTo>
                    <a:pt x="1281575" y="74907"/>
                  </a:lnTo>
                  <a:lnTo>
                    <a:pt x="1255261" y="33601"/>
                  </a:lnTo>
                  <a:lnTo>
                    <a:pt x="1213954" y="7285"/>
                  </a:lnTo>
                  <a:lnTo>
                    <a:pt x="1174749" y="809"/>
                  </a:lnTo>
                  <a:lnTo>
                    <a:pt x="1147084" y="0"/>
                  </a:lnTo>
                  <a:close/>
                </a:path>
              </a:pathLst>
            </a:custGeom>
            <a:solidFill>
              <a:srgbClr val="56C1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498" name="Google Shape;498;p54"/>
            <p:cNvSpPr/>
            <p:nvPr/>
          </p:nvSpPr>
          <p:spPr>
            <a:xfrm>
              <a:off x="695056" y="2747959"/>
              <a:ext cx="1289050" cy="263525"/>
            </a:xfrm>
            <a:custGeom>
              <a:rect b="b" l="l" r="r" t="t"/>
              <a:pathLst>
                <a:path extrusionOk="0" h="263525" w="1289050">
                  <a:moveTo>
                    <a:pt x="176196" y="0"/>
                  </a:moveTo>
                  <a:lnTo>
                    <a:pt x="1112780" y="0"/>
                  </a:lnTo>
                  <a:lnTo>
                    <a:pt x="1147084" y="115"/>
                  </a:lnTo>
                  <a:lnTo>
                    <a:pt x="1196723" y="3122"/>
                  </a:lnTo>
                  <a:lnTo>
                    <a:pt x="1236170" y="18373"/>
                  </a:lnTo>
                  <a:lnTo>
                    <a:pt x="1270603" y="52807"/>
                  </a:lnTo>
                  <a:lnTo>
                    <a:pt x="1287282" y="101375"/>
                  </a:lnTo>
                  <a:lnTo>
                    <a:pt x="1288977" y="131581"/>
                  </a:lnTo>
                  <a:lnTo>
                    <a:pt x="1288572" y="146040"/>
                  </a:lnTo>
                  <a:lnTo>
                    <a:pt x="1281575" y="188140"/>
                  </a:lnTo>
                  <a:lnTo>
                    <a:pt x="1255260" y="229445"/>
                  </a:lnTo>
                  <a:lnTo>
                    <a:pt x="1213954" y="255760"/>
                  </a:lnTo>
                  <a:lnTo>
                    <a:pt x="1174749" y="262237"/>
                  </a:lnTo>
                  <a:lnTo>
                    <a:pt x="1112780" y="263162"/>
                  </a:lnTo>
                  <a:lnTo>
                    <a:pt x="176196" y="263162"/>
                  </a:lnTo>
                  <a:lnTo>
                    <a:pt x="114227" y="262237"/>
                  </a:lnTo>
                  <a:lnTo>
                    <a:pt x="75022" y="255760"/>
                  </a:lnTo>
                  <a:lnTo>
                    <a:pt x="33716" y="229445"/>
                  </a:lnTo>
                  <a:lnTo>
                    <a:pt x="7401" y="188140"/>
                  </a:lnTo>
                  <a:lnTo>
                    <a:pt x="404" y="146040"/>
                  </a:lnTo>
                  <a:lnTo>
                    <a:pt x="0" y="131581"/>
                  </a:lnTo>
                  <a:lnTo>
                    <a:pt x="404" y="117122"/>
                  </a:lnTo>
                  <a:lnTo>
                    <a:pt x="7401" y="75022"/>
                  </a:lnTo>
                  <a:lnTo>
                    <a:pt x="33716" y="33716"/>
                  </a:lnTo>
                  <a:lnTo>
                    <a:pt x="75022" y="7401"/>
                  </a:lnTo>
                  <a:lnTo>
                    <a:pt x="114227" y="925"/>
                  </a:lnTo>
                  <a:lnTo>
                    <a:pt x="176196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499" name="Google Shape;499;p54"/>
          <p:cNvSpPr txBox="1"/>
          <p:nvPr/>
        </p:nvSpPr>
        <p:spPr>
          <a:xfrm>
            <a:off x="668596" y="3355094"/>
            <a:ext cx="9108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Model Output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4"/>
          <p:cNvSpPr txBox="1"/>
          <p:nvPr>
            <p:ph idx="12" type="sldNum"/>
          </p:nvPr>
        </p:nvSpPr>
        <p:spPr>
          <a:xfrm>
            <a:off x="6213118" y="2914246"/>
            <a:ext cx="18705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1" name="Google Shape;501;p54"/>
          <p:cNvSpPr txBox="1"/>
          <p:nvPr/>
        </p:nvSpPr>
        <p:spPr>
          <a:xfrm>
            <a:off x="7929123" y="4540364"/>
            <a:ext cx="1036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Helvetica Neue"/>
                <a:ea typeface="Helvetica Neue"/>
                <a:cs typeface="Helvetica Neue"/>
                <a:sym typeface="Helvetica Neue"/>
              </a:rPr>
              <a:t>[Wei et al. 2022]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2" name="Google Shape;502;p54"/>
          <p:cNvSpPr txBox="1"/>
          <p:nvPr/>
        </p:nvSpPr>
        <p:spPr>
          <a:xfrm>
            <a:off x="4880897" y="3344209"/>
            <a:ext cx="9108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Model Output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4"/>
          <p:cNvSpPr txBox="1"/>
          <p:nvPr/>
        </p:nvSpPr>
        <p:spPr>
          <a:xfrm>
            <a:off x="667269" y="1460100"/>
            <a:ext cx="7971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Model Input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5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Chain-of-thought (COT) Prompting</a:t>
            </a:r>
            <a:endParaRPr sz="3640"/>
          </a:p>
        </p:txBody>
      </p:sp>
      <p:sp>
        <p:nvSpPr>
          <p:cNvPr id="510" name="Google Shape;510;p55"/>
          <p:cNvSpPr txBox="1"/>
          <p:nvPr/>
        </p:nvSpPr>
        <p:spPr>
          <a:xfrm>
            <a:off x="4644086" y="3549299"/>
            <a:ext cx="175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A: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55"/>
          <p:cNvSpPr txBox="1"/>
          <p:nvPr/>
        </p:nvSpPr>
        <p:spPr>
          <a:xfrm>
            <a:off x="4849172" y="3565974"/>
            <a:ext cx="3540600" cy="184800"/>
          </a:xfrm>
          <a:prstGeom prst="rect">
            <a:avLst/>
          </a:prstGeom>
          <a:solidFill>
            <a:srgbClr val="61D83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The cafeteria had 23 apples originally. They used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5"/>
          <p:cNvSpPr txBox="1"/>
          <p:nvPr/>
        </p:nvSpPr>
        <p:spPr>
          <a:xfrm>
            <a:off x="4655632" y="3703271"/>
            <a:ext cx="3476400" cy="184800"/>
          </a:xfrm>
          <a:prstGeom prst="rect">
            <a:avLst/>
          </a:prstGeom>
          <a:solidFill>
            <a:srgbClr val="61D83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20 to make lunch. So they had 23 - 20 = 3. They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55"/>
          <p:cNvSpPr txBox="1"/>
          <p:nvPr/>
        </p:nvSpPr>
        <p:spPr>
          <a:xfrm>
            <a:off x="4655632" y="3840568"/>
            <a:ext cx="3289800" cy="184800"/>
          </a:xfrm>
          <a:prstGeom prst="rect">
            <a:avLst/>
          </a:prstGeom>
          <a:solidFill>
            <a:srgbClr val="61D83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bought 6 more apples, so they have 3 + 6 = 9.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55"/>
          <p:cNvSpPr txBox="1"/>
          <p:nvPr/>
        </p:nvSpPr>
        <p:spPr>
          <a:xfrm>
            <a:off x="7963912" y="3823893"/>
            <a:ext cx="300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The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55"/>
          <p:cNvSpPr txBox="1"/>
          <p:nvPr/>
        </p:nvSpPr>
        <p:spPr>
          <a:xfrm>
            <a:off x="4644086" y="3961191"/>
            <a:ext cx="880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answer is 9.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55"/>
          <p:cNvSpPr txBox="1"/>
          <p:nvPr/>
        </p:nvSpPr>
        <p:spPr>
          <a:xfrm>
            <a:off x="431690" y="1681881"/>
            <a:ext cx="37476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00">
            <a:spAutoFit/>
          </a:bodyPr>
          <a:lstStyle/>
          <a:p>
            <a:pPr indent="0" lvl="0" marL="12700" marR="0" rtl="0" algn="just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Q: Roger has 5 tennis balls. He buys 2 more cans of tennis balls. Each can has 3 tennis balls. How many tennis balls does he have now?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55"/>
          <p:cNvSpPr txBox="1"/>
          <p:nvPr/>
        </p:nvSpPr>
        <p:spPr>
          <a:xfrm>
            <a:off x="431690" y="2231070"/>
            <a:ext cx="1473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A: The answer is 11.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55"/>
          <p:cNvSpPr txBox="1"/>
          <p:nvPr/>
        </p:nvSpPr>
        <p:spPr>
          <a:xfrm>
            <a:off x="431690" y="2505664"/>
            <a:ext cx="35778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00">
            <a:spAutoFit/>
          </a:bodyPr>
          <a:lstStyle/>
          <a:p>
            <a:pPr indent="0" lvl="0" marL="12700" marR="0" rtl="0" algn="just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Q: The cafeteria had 23 apples. If they used 20 to make lunch and bought 6 more, how many apples do they have?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55"/>
          <p:cNvSpPr txBox="1"/>
          <p:nvPr/>
        </p:nvSpPr>
        <p:spPr>
          <a:xfrm>
            <a:off x="453545" y="3599607"/>
            <a:ext cx="1485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A: The answer is 27.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55"/>
          <p:cNvSpPr txBox="1"/>
          <p:nvPr/>
        </p:nvSpPr>
        <p:spPr>
          <a:xfrm>
            <a:off x="1448121" y="1236089"/>
            <a:ext cx="18999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Standard Prompting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" name="Google Shape;521;p55"/>
          <p:cNvGrpSpPr/>
          <p:nvPr/>
        </p:nvGrpSpPr>
        <p:grpSpPr>
          <a:xfrm>
            <a:off x="4469016" y="3330884"/>
            <a:ext cx="4113686" cy="883802"/>
            <a:chOff x="5085487" y="5595058"/>
            <a:chExt cx="4525009" cy="1335452"/>
          </a:xfrm>
        </p:grpSpPr>
        <p:pic>
          <p:nvPicPr>
            <p:cNvPr id="522" name="Google Shape;522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15819" y="6583149"/>
              <a:ext cx="235750" cy="2118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" name="Google Shape;523;p55"/>
            <p:cNvSpPr/>
            <p:nvPr/>
          </p:nvSpPr>
          <p:spPr>
            <a:xfrm>
              <a:off x="5085487" y="5722740"/>
              <a:ext cx="4525009" cy="1207770"/>
            </a:xfrm>
            <a:custGeom>
              <a:rect b="b" l="l" r="r" t="t"/>
              <a:pathLst>
                <a:path extrusionOk="0" h="1207770" w="4525009">
                  <a:moveTo>
                    <a:pt x="424780" y="0"/>
                  </a:moveTo>
                  <a:lnTo>
                    <a:pt x="4099731" y="0"/>
                  </a:lnTo>
                  <a:lnTo>
                    <a:pt x="4168738" y="166"/>
                  </a:lnTo>
                  <a:lnTo>
                    <a:pt x="4226976" y="1332"/>
                  </a:lnTo>
                  <a:lnTo>
                    <a:pt x="4275640" y="4496"/>
                  </a:lnTo>
                  <a:lnTo>
                    <a:pt x="4315927" y="10657"/>
                  </a:lnTo>
                  <a:lnTo>
                    <a:pt x="4390209" y="40046"/>
                  </a:lnTo>
                  <a:lnTo>
                    <a:pt x="4426992" y="65857"/>
                  </a:lnTo>
                  <a:lnTo>
                    <a:pt x="4458654" y="97519"/>
                  </a:lnTo>
                  <a:lnTo>
                    <a:pt x="4484466" y="134303"/>
                  </a:lnTo>
                  <a:lnTo>
                    <a:pt x="4503696" y="175477"/>
                  </a:lnTo>
                  <a:lnTo>
                    <a:pt x="4520016" y="248872"/>
                  </a:lnTo>
                  <a:lnTo>
                    <a:pt x="4523180" y="297536"/>
                  </a:lnTo>
                  <a:lnTo>
                    <a:pt x="4524345" y="355773"/>
                  </a:lnTo>
                  <a:lnTo>
                    <a:pt x="4524512" y="424780"/>
                  </a:lnTo>
                  <a:lnTo>
                    <a:pt x="4524512" y="782388"/>
                  </a:lnTo>
                  <a:lnTo>
                    <a:pt x="4524345" y="851395"/>
                  </a:lnTo>
                  <a:lnTo>
                    <a:pt x="4523180" y="909632"/>
                  </a:lnTo>
                  <a:lnTo>
                    <a:pt x="4520016" y="958296"/>
                  </a:lnTo>
                  <a:lnTo>
                    <a:pt x="4513854" y="998584"/>
                  </a:lnTo>
                  <a:lnTo>
                    <a:pt x="4484466" y="1072866"/>
                  </a:lnTo>
                  <a:lnTo>
                    <a:pt x="4458654" y="1109649"/>
                  </a:lnTo>
                  <a:lnTo>
                    <a:pt x="4426992" y="1141311"/>
                  </a:lnTo>
                  <a:lnTo>
                    <a:pt x="4390209" y="1167122"/>
                  </a:lnTo>
                  <a:lnTo>
                    <a:pt x="4349035" y="1186353"/>
                  </a:lnTo>
                  <a:lnTo>
                    <a:pt x="4275640" y="1202673"/>
                  </a:lnTo>
                  <a:lnTo>
                    <a:pt x="4226976" y="1205837"/>
                  </a:lnTo>
                  <a:lnTo>
                    <a:pt x="4168738" y="1207003"/>
                  </a:lnTo>
                  <a:lnTo>
                    <a:pt x="4099731" y="1207169"/>
                  </a:lnTo>
                  <a:lnTo>
                    <a:pt x="424780" y="1207169"/>
                  </a:lnTo>
                  <a:lnTo>
                    <a:pt x="355773" y="1207003"/>
                  </a:lnTo>
                  <a:lnTo>
                    <a:pt x="297536" y="1205837"/>
                  </a:lnTo>
                  <a:lnTo>
                    <a:pt x="248872" y="1202673"/>
                  </a:lnTo>
                  <a:lnTo>
                    <a:pt x="208585" y="1196511"/>
                  </a:lnTo>
                  <a:lnTo>
                    <a:pt x="134303" y="1167122"/>
                  </a:lnTo>
                  <a:lnTo>
                    <a:pt x="97519" y="1141311"/>
                  </a:lnTo>
                  <a:lnTo>
                    <a:pt x="65857" y="1109649"/>
                  </a:lnTo>
                  <a:lnTo>
                    <a:pt x="40046" y="1072866"/>
                  </a:lnTo>
                  <a:lnTo>
                    <a:pt x="20816" y="1031691"/>
                  </a:lnTo>
                  <a:lnTo>
                    <a:pt x="4496" y="958296"/>
                  </a:lnTo>
                  <a:lnTo>
                    <a:pt x="1332" y="909632"/>
                  </a:lnTo>
                  <a:lnTo>
                    <a:pt x="166" y="851395"/>
                  </a:lnTo>
                  <a:lnTo>
                    <a:pt x="0" y="782388"/>
                  </a:lnTo>
                  <a:lnTo>
                    <a:pt x="0" y="424780"/>
                  </a:lnTo>
                  <a:lnTo>
                    <a:pt x="166" y="355773"/>
                  </a:lnTo>
                  <a:lnTo>
                    <a:pt x="1332" y="297536"/>
                  </a:lnTo>
                  <a:lnTo>
                    <a:pt x="4496" y="248872"/>
                  </a:lnTo>
                  <a:lnTo>
                    <a:pt x="10657" y="208585"/>
                  </a:lnTo>
                  <a:lnTo>
                    <a:pt x="40046" y="134303"/>
                  </a:lnTo>
                  <a:lnTo>
                    <a:pt x="65857" y="97519"/>
                  </a:lnTo>
                  <a:lnTo>
                    <a:pt x="97519" y="65857"/>
                  </a:lnTo>
                  <a:lnTo>
                    <a:pt x="134303" y="40046"/>
                  </a:lnTo>
                  <a:lnTo>
                    <a:pt x="175477" y="20816"/>
                  </a:lnTo>
                  <a:lnTo>
                    <a:pt x="248872" y="4496"/>
                  </a:lnTo>
                  <a:lnTo>
                    <a:pt x="297536" y="1332"/>
                  </a:lnTo>
                  <a:lnTo>
                    <a:pt x="355773" y="166"/>
                  </a:lnTo>
                  <a:lnTo>
                    <a:pt x="424780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524" name="Google Shape;524;p55"/>
            <p:cNvSpPr/>
            <p:nvPr/>
          </p:nvSpPr>
          <p:spPr>
            <a:xfrm>
              <a:off x="5363136" y="5595174"/>
              <a:ext cx="1348740" cy="263525"/>
            </a:xfrm>
            <a:custGeom>
              <a:rect b="b" l="l" r="r" t="t"/>
              <a:pathLst>
                <a:path extrusionOk="0" h="263525" w="1348740">
                  <a:moveTo>
                    <a:pt x="1206229" y="0"/>
                  </a:moveTo>
                  <a:lnTo>
                    <a:pt x="141892" y="0"/>
                  </a:lnTo>
                  <a:lnTo>
                    <a:pt x="114227" y="809"/>
                  </a:lnTo>
                  <a:lnTo>
                    <a:pt x="75022" y="7287"/>
                  </a:lnTo>
                  <a:lnTo>
                    <a:pt x="33716" y="33602"/>
                  </a:lnTo>
                  <a:lnTo>
                    <a:pt x="7401" y="74907"/>
                  </a:lnTo>
                  <a:lnTo>
                    <a:pt x="404" y="117007"/>
                  </a:lnTo>
                  <a:lnTo>
                    <a:pt x="0" y="131466"/>
                  </a:lnTo>
                  <a:lnTo>
                    <a:pt x="404" y="145925"/>
                  </a:lnTo>
                  <a:lnTo>
                    <a:pt x="7401" y="188025"/>
                  </a:lnTo>
                  <a:lnTo>
                    <a:pt x="33716" y="229331"/>
                  </a:lnTo>
                  <a:lnTo>
                    <a:pt x="75022" y="255645"/>
                  </a:lnTo>
                  <a:lnTo>
                    <a:pt x="114227" y="262122"/>
                  </a:lnTo>
                  <a:lnTo>
                    <a:pt x="141892" y="262931"/>
                  </a:lnTo>
                  <a:lnTo>
                    <a:pt x="1206229" y="262931"/>
                  </a:lnTo>
                  <a:lnTo>
                    <a:pt x="1255868" y="259924"/>
                  </a:lnTo>
                  <a:lnTo>
                    <a:pt x="1295314" y="244674"/>
                  </a:lnTo>
                  <a:lnTo>
                    <a:pt x="1329748" y="210241"/>
                  </a:lnTo>
                  <a:lnTo>
                    <a:pt x="1346426" y="161672"/>
                  </a:lnTo>
                  <a:lnTo>
                    <a:pt x="1348121" y="131466"/>
                  </a:lnTo>
                  <a:lnTo>
                    <a:pt x="1347717" y="117007"/>
                  </a:lnTo>
                  <a:lnTo>
                    <a:pt x="1340719" y="74907"/>
                  </a:lnTo>
                  <a:lnTo>
                    <a:pt x="1314405" y="33602"/>
                  </a:lnTo>
                  <a:lnTo>
                    <a:pt x="1273098" y="7287"/>
                  </a:lnTo>
                  <a:lnTo>
                    <a:pt x="1233894" y="809"/>
                  </a:lnTo>
                  <a:lnTo>
                    <a:pt x="1206229" y="0"/>
                  </a:lnTo>
                  <a:close/>
                </a:path>
              </a:pathLst>
            </a:custGeom>
            <a:solidFill>
              <a:srgbClr val="61D83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525" name="Google Shape;525;p55"/>
            <p:cNvSpPr/>
            <p:nvPr/>
          </p:nvSpPr>
          <p:spPr>
            <a:xfrm>
              <a:off x="5363136" y="5595058"/>
              <a:ext cx="1348740" cy="263525"/>
            </a:xfrm>
            <a:custGeom>
              <a:rect b="b" l="l" r="r" t="t"/>
              <a:pathLst>
                <a:path extrusionOk="0" h="263525" w="1348740">
                  <a:moveTo>
                    <a:pt x="176196" y="0"/>
                  </a:moveTo>
                  <a:lnTo>
                    <a:pt x="1171924" y="0"/>
                  </a:lnTo>
                  <a:lnTo>
                    <a:pt x="1206229" y="115"/>
                  </a:lnTo>
                  <a:lnTo>
                    <a:pt x="1255868" y="3122"/>
                  </a:lnTo>
                  <a:lnTo>
                    <a:pt x="1295314" y="18373"/>
                  </a:lnTo>
                  <a:lnTo>
                    <a:pt x="1329747" y="52807"/>
                  </a:lnTo>
                  <a:lnTo>
                    <a:pt x="1346427" y="101375"/>
                  </a:lnTo>
                  <a:lnTo>
                    <a:pt x="1348121" y="131581"/>
                  </a:lnTo>
                  <a:lnTo>
                    <a:pt x="1347717" y="146040"/>
                  </a:lnTo>
                  <a:lnTo>
                    <a:pt x="1340719" y="188140"/>
                  </a:lnTo>
                  <a:lnTo>
                    <a:pt x="1314405" y="229445"/>
                  </a:lnTo>
                  <a:lnTo>
                    <a:pt x="1273099" y="255760"/>
                  </a:lnTo>
                  <a:lnTo>
                    <a:pt x="1233894" y="262237"/>
                  </a:lnTo>
                  <a:lnTo>
                    <a:pt x="1171924" y="263162"/>
                  </a:lnTo>
                  <a:lnTo>
                    <a:pt x="176196" y="263162"/>
                  </a:lnTo>
                  <a:lnTo>
                    <a:pt x="114227" y="262237"/>
                  </a:lnTo>
                  <a:lnTo>
                    <a:pt x="75022" y="255760"/>
                  </a:lnTo>
                  <a:lnTo>
                    <a:pt x="33716" y="229445"/>
                  </a:lnTo>
                  <a:lnTo>
                    <a:pt x="7401" y="188140"/>
                  </a:lnTo>
                  <a:lnTo>
                    <a:pt x="404" y="146040"/>
                  </a:lnTo>
                  <a:lnTo>
                    <a:pt x="0" y="131581"/>
                  </a:lnTo>
                  <a:lnTo>
                    <a:pt x="404" y="117122"/>
                  </a:lnTo>
                  <a:lnTo>
                    <a:pt x="7401" y="75022"/>
                  </a:lnTo>
                  <a:lnTo>
                    <a:pt x="33716" y="33716"/>
                  </a:lnTo>
                  <a:lnTo>
                    <a:pt x="75022" y="7401"/>
                  </a:lnTo>
                  <a:lnTo>
                    <a:pt x="114227" y="925"/>
                  </a:lnTo>
                  <a:lnTo>
                    <a:pt x="176196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grpSp>
        <p:nvGrpSpPr>
          <p:cNvPr id="526" name="Google Shape;526;p55"/>
          <p:cNvGrpSpPr/>
          <p:nvPr/>
        </p:nvGrpSpPr>
        <p:grpSpPr>
          <a:xfrm>
            <a:off x="256675" y="3341770"/>
            <a:ext cx="4113687" cy="598456"/>
            <a:chOff x="451958" y="5611507"/>
            <a:chExt cx="4525010" cy="904285"/>
          </a:xfrm>
        </p:grpSpPr>
        <p:pic>
          <p:nvPicPr>
            <p:cNvPr id="527" name="Google Shape;527;p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88720" y="5992046"/>
              <a:ext cx="279910" cy="2862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8" name="Google Shape;528;p55"/>
            <p:cNvSpPr/>
            <p:nvPr/>
          </p:nvSpPr>
          <p:spPr>
            <a:xfrm>
              <a:off x="451958" y="5739188"/>
              <a:ext cx="4525010" cy="776604"/>
            </a:xfrm>
            <a:custGeom>
              <a:rect b="b" l="l" r="r" t="t"/>
              <a:pathLst>
                <a:path extrusionOk="0" h="776604" w="4525010">
                  <a:moveTo>
                    <a:pt x="424780" y="0"/>
                  </a:moveTo>
                  <a:lnTo>
                    <a:pt x="4099731" y="0"/>
                  </a:lnTo>
                  <a:lnTo>
                    <a:pt x="4168232" y="158"/>
                  </a:lnTo>
                  <a:lnTo>
                    <a:pt x="4226042" y="1267"/>
                  </a:lnTo>
                  <a:lnTo>
                    <a:pt x="4274349" y="4278"/>
                  </a:lnTo>
                  <a:lnTo>
                    <a:pt x="4314341" y="10141"/>
                  </a:lnTo>
                  <a:lnTo>
                    <a:pt x="4389136" y="39391"/>
                  </a:lnTo>
                  <a:lnTo>
                    <a:pt x="4426594" y="65675"/>
                  </a:lnTo>
                  <a:lnTo>
                    <a:pt x="4458837" y="97918"/>
                  </a:lnTo>
                  <a:lnTo>
                    <a:pt x="4485121" y="135376"/>
                  </a:lnTo>
                  <a:lnTo>
                    <a:pt x="4504705" y="177306"/>
                  </a:lnTo>
                  <a:lnTo>
                    <a:pt x="4515242" y="214560"/>
                  </a:lnTo>
                  <a:lnTo>
                    <a:pt x="4521223" y="264773"/>
                  </a:lnTo>
                  <a:lnTo>
                    <a:pt x="4523898" y="323996"/>
                  </a:lnTo>
                  <a:lnTo>
                    <a:pt x="4524512" y="388280"/>
                  </a:lnTo>
                  <a:lnTo>
                    <a:pt x="4523898" y="452565"/>
                  </a:lnTo>
                  <a:lnTo>
                    <a:pt x="4521223" y="511787"/>
                  </a:lnTo>
                  <a:lnTo>
                    <a:pt x="4515242" y="562000"/>
                  </a:lnTo>
                  <a:lnTo>
                    <a:pt x="4504705" y="599255"/>
                  </a:lnTo>
                  <a:lnTo>
                    <a:pt x="4485121" y="641185"/>
                  </a:lnTo>
                  <a:lnTo>
                    <a:pt x="4458837" y="678643"/>
                  </a:lnTo>
                  <a:lnTo>
                    <a:pt x="4426594" y="710886"/>
                  </a:lnTo>
                  <a:lnTo>
                    <a:pt x="4389136" y="737170"/>
                  </a:lnTo>
                  <a:lnTo>
                    <a:pt x="4347206" y="756753"/>
                  </a:lnTo>
                  <a:lnTo>
                    <a:pt x="4274349" y="772283"/>
                  </a:lnTo>
                  <a:lnTo>
                    <a:pt x="4226042" y="775294"/>
                  </a:lnTo>
                  <a:lnTo>
                    <a:pt x="4168232" y="776403"/>
                  </a:lnTo>
                  <a:lnTo>
                    <a:pt x="4099731" y="776561"/>
                  </a:lnTo>
                  <a:lnTo>
                    <a:pt x="424780" y="776561"/>
                  </a:lnTo>
                  <a:lnTo>
                    <a:pt x="356279" y="776403"/>
                  </a:lnTo>
                  <a:lnTo>
                    <a:pt x="298469" y="775294"/>
                  </a:lnTo>
                  <a:lnTo>
                    <a:pt x="250162" y="772283"/>
                  </a:lnTo>
                  <a:lnTo>
                    <a:pt x="210170" y="766420"/>
                  </a:lnTo>
                  <a:lnTo>
                    <a:pt x="135376" y="737170"/>
                  </a:lnTo>
                  <a:lnTo>
                    <a:pt x="97918" y="710886"/>
                  </a:lnTo>
                  <a:lnTo>
                    <a:pt x="65675" y="678643"/>
                  </a:lnTo>
                  <a:lnTo>
                    <a:pt x="39391" y="641185"/>
                  </a:lnTo>
                  <a:lnTo>
                    <a:pt x="19807" y="599255"/>
                  </a:lnTo>
                  <a:lnTo>
                    <a:pt x="9270" y="562000"/>
                  </a:lnTo>
                  <a:lnTo>
                    <a:pt x="3288" y="511787"/>
                  </a:lnTo>
                  <a:lnTo>
                    <a:pt x="614" y="452565"/>
                  </a:lnTo>
                  <a:lnTo>
                    <a:pt x="0" y="388280"/>
                  </a:lnTo>
                  <a:lnTo>
                    <a:pt x="614" y="323996"/>
                  </a:lnTo>
                  <a:lnTo>
                    <a:pt x="3288" y="264773"/>
                  </a:lnTo>
                  <a:lnTo>
                    <a:pt x="9270" y="214560"/>
                  </a:lnTo>
                  <a:lnTo>
                    <a:pt x="19807" y="177306"/>
                  </a:lnTo>
                  <a:lnTo>
                    <a:pt x="39391" y="135376"/>
                  </a:lnTo>
                  <a:lnTo>
                    <a:pt x="65675" y="97918"/>
                  </a:lnTo>
                  <a:lnTo>
                    <a:pt x="97918" y="65675"/>
                  </a:lnTo>
                  <a:lnTo>
                    <a:pt x="135376" y="39391"/>
                  </a:lnTo>
                  <a:lnTo>
                    <a:pt x="177306" y="19807"/>
                  </a:lnTo>
                  <a:lnTo>
                    <a:pt x="250162" y="4278"/>
                  </a:lnTo>
                  <a:lnTo>
                    <a:pt x="298469" y="1267"/>
                  </a:lnTo>
                  <a:lnTo>
                    <a:pt x="356279" y="158"/>
                  </a:lnTo>
                  <a:lnTo>
                    <a:pt x="424780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529" name="Google Shape;529;p55"/>
            <p:cNvSpPr/>
            <p:nvPr/>
          </p:nvSpPr>
          <p:spPr>
            <a:xfrm>
              <a:off x="729606" y="5611623"/>
              <a:ext cx="1348739" cy="263525"/>
            </a:xfrm>
            <a:custGeom>
              <a:rect b="b" l="l" r="r" t="t"/>
              <a:pathLst>
                <a:path extrusionOk="0" h="263525" w="1348739">
                  <a:moveTo>
                    <a:pt x="1206229" y="0"/>
                  </a:moveTo>
                  <a:lnTo>
                    <a:pt x="141892" y="0"/>
                  </a:lnTo>
                  <a:lnTo>
                    <a:pt x="114227" y="809"/>
                  </a:lnTo>
                  <a:lnTo>
                    <a:pt x="75022" y="7287"/>
                  </a:lnTo>
                  <a:lnTo>
                    <a:pt x="33716" y="33601"/>
                  </a:lnTo>
                  <a:lnTo>
                    <a:pt x="7401" y="74907"/>
                  </a:lnTo>
                  <a:lnTo>
                    <a:pt x="404" y="117007"/>
                  </a:lnTo>
                  <a:lnTo>
                    <a:pt x="0" y="131466"/>
                  </a:lnTo>
                  <a:lnTo>
                    <a:pt x="404" y="145924"/>
                  </a:lnTo>
                  <a:lnTo>
                    <a:pt x="7401" y="188024"/>
                  </a:lnTo>
                  <a:lnTo>
                    <a:pt x="33716" y="229330"/>
                  </a:lnTo>
                  <a:lnTo>
                    <a:pt x="75022" y="255645"/>
                  </a:lnTo>
                  <a:lnTo>
                    <a:pt x="114227" y="262122"/>
                  </a:lnTo>
                  <a:lnTo>
                    <a:pt x="141892" y="262931"/>
                  </a:lnTo>
                  <a:lnTo>
                    <a:pt x="1206229" y="262931"/>
                  </a:lnTo>
                  <a:lnTo>
                    <a:pt x="1255868" y="259924"/>
                  </a:lnTo>
                  <a:lnTo>
                    <a:pt x="1295314" y="244673"/>
                  </a:lnTo>
                  <a:lnTo>
                    <a:pt x="1329748" y="210239"/>
                  </a:lnTo>
                  <a:lnTo>
                    <a:pt x="1346427" y="161671"/>
                  </a:lnTo>
                  <a:lnTo>
                    <a:pt x="1348122" y="131466"/>
                  </a:lnTo>
                  <a:lnTo>
                    <a:pt x="1347718" y="117007"/>
                  </a:lnTo>
                  <a:lnTo>
                    <a:pt x="1340719" y="74907"/>
                  </a:lnTo>
                  <a:lnTo>
                    <a:pt x="1314405" y="33601"/>
                  </a:lnTo>
                  <a:lnTo>
                    <a:pt x="1273099" y="7287"/>
                  </a:lnTo>
                  <a:lnTo>
                    <a:pt x="1233894" y="809"/>
                  </a:lnTo>
                  <a:lnTo>
                    <a:pt x="1206229" y="0"/>
                  </a:lnTo>
                  <a:close/>
                </a:path>
              </a:pathLst>
            </a:custGeom>
            <a:solidFill>
              <a:srgbClr val="61D83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530" name="Google Shape;530;p55"/>
            <p:cNvSpPr/>
            <p:nvPr/>
          </p:nvSpPr>
          <p:spPr>
            <a:xfrm>
              <a:off x="729606" y="5611507"/>
              <a:ext cx="1348739" cy="263525"/>
            </a:xfrm>
            <a:custGeom>
              <a:rect b="b" l="l" r="r" t="t"/>
              <a:pathLst>
                <a:path extrusionOk="0" h="263525" w="1348739">
                  <a:moveTo>
                    <a:pt x="176196" y="0"/>
                  </a:moveTo>
                  <a:lnTo>
                    <a:pt x="1171924" y="0"/>
                  </a:lnTo>
                  <a:lnTo>
                    <a:pt x="1206229" y="115"/>
                  </a:lnTo>
                  <a:lnTo>
                    <a:pt x="1255868" y="3122"/>
                  </a:lnTo>
                  <a:lnTo>
                    <a:pt x="1295314" y="18373"/>
                  </a:lnTo>
                  <a:lnTo>
                    <a:pt x="1329747" y="52807"/>
                  </a:lnTo>
                  <a:lnTo>
                    <a:pt x="1346427" y="101375"/>
                  </a:lnTo>
                  <a:lnTo>
                    <a:pt x="1348121" y="131581"/>
                  </a:lnTo>
                  <a:lnTo>
                    <a:pt x="1347717" y="146040"/>
                  </a:lnTo>
                  <a:lnTo>
                    <a:pt x="1340719" y="188140"/>
                  </a:lnTo>
                  <a:lnTo>
                    <a:pt x="1314405" y="229445"/>
                  </a:lnTo>
                  <a:lnTo>
                    <a:pt x="1273099" y="255760"/>
                  </a:lnTo>
                  <a:lnTo>
                    <a:pt x="1233894" y="262237"/>
                  </a:lnTo>
                  <a:lnTo>
                    <a:pt x="1171924" y="263162"/>
                  </a:lnTo>
                  <a:lnTo>
                    <a:pt x="176196" y="263162"/>
                  </a:lnTo>
                  <a:lnTo>
                    <a:pt x="114227" y="262237"/>
                  </a:lnTo>
                  <a:lnTo>
                    <a:pt x="75022" y="255760"/>
                  </a:lnTo>
                  <a:lnTo>
                    <a:pt x="33716" y="229445"/>
                  </a:lnTo>
                  <a:lnTo>
                    <a:pt x="7401" y="188140"/>
                  </a:lnTo>
                  <a:lnTo>
                    <a:pt x="404" y="146040"/>
                  </a:lnTo>
                  <a:lnTo>
                    <a:pt x="0" y="131581"/>
                  </a:lnTo>
                  <a:lnTo>
                    <a:pt x="404" y="117122"/>
                  </a:lnTo>
                  <a:lnTo>
                    <a:pt x="7401" y="75022"/>
                  </a:lnTo>
                  <a:lnTo>
                    <a:pt x="33716" y="33716"/>
                  </a:lnTo>
                  <a:lnTo>
                    <a:pt x="75022" y="7401"/>
                  </a:lnTo>
                  <a:lnTo>
                    <a:pt x="114227" y="925"/>
                  </a:lnTo>
                  <a:lnTo>
                    <a:pt x="176196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531" name="Google Shape;531;p55"/>
          <p:cNvSpPr txBox="1"/>
          <p:nvPr/>
        </p:nvSpPr>
        <p:spPr>
          <a:xfrm>
            <a:off x="4657865" y="1689508"/>
            <a:ext cx="37476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00">
            <a:spAutoFit/>
          </a:bodyPr>
          <a:lstStyle/>
          <a:p>
            <a:pPr indent="0" lvl="0" marL="12700" marR="0" rtl="0" algn="just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Q: Roger has 5 tennis balls. He buys 2 more cans of tennis balls. Each can has 3 tennis balls. How many tennis balls does he have now?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55"/>
          <p:cNvSpPr txBox="1"/>
          <p:nvPr/>
        </p:nvSpPr>
        <p:spPr>
          <a:xfrm>
            <a:off x="4657865" y="2238697"/>
            <a:ext cx="175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A: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5"/>
          <p:cNvSpPr txBox="1"/>
          <p:nvPr/>
        </p:nvSpPr>
        <p:spPr>
          <a:xfrm>
            <a:off x="4865852" y="2255373"/>
            <a:ext cx="3543900" cy="184800"/>
          </a:xfrm>
          <a:prstGeom prst="rect">
            <a:avLst/>
          </a:prstGeom>
          <a:solidFill>
            <a:srgbClr val="56C1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Roger started with 5 balls. 2 cans of 3 tennis balls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55"/>
          <p:cNvSpPr txBox="1"/>
          <p:nvPr/>
        </p:nvSpPr>
        <p:spPr>
          <a:xfrm>
            <a:off x="4669410" y="2392670"/>
            <a:ext cx="2349000" cy="184800"/>
          </a:xfrm>
          <a:prstGeom prst="rect">
            <a:avLst/>
          </a:prstGeom>
          <a:solidFill>
            <a:srgbClr val="56C1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each is 6 tennis balls. 5 + 6 = 11.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5"/>
          <p:cNvSpPr txBox="1"/>
          <p:nvPr/>
        </p:nvSpPr>
        <p:spPr>
          <a:xfrm>
            <a:off x="7036746" y="2375994"/>
            <a:ext cx="1279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The answer is 11.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55"/>
          <p:cNvSpPr txBox="1"/>
          <p:nvPr/>
        </p:nvSpPr>
        <p:spPr>
          <a:xfrm>
            <a:off x="4657865" y="2650589"/>
            <a:ext cx="35778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00">
            <a:spAutoFit/>
          </a:bodyPr>
          <a:lstStyle/>
          <a:p>
            <a:pPr indent="0" lvl="0" marL="12700" marR="0" rtl="0" algn="just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Q: The cafeteria had 23 apples. If they used 20 to make lunch and bought 6 more, how many apples do they have?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7" name="Google Shape;537;p55"/>
          <p:cNvGrpSpPr/>
          <p:nvPr/>
        </p:nvGrpSpPr>
        <p:grpSpPr>
          <a:xfrm>
            <a:off x="4469016" y="1446674"/>
            <a:ext cx="4113686" cy="1783962"/>
            <a:chOff x="5085487" y="2747959"/>
            <a:chExt cx="4525009" cy="2695621"/>
          </a:xfrm>
        </p:grpSpPr>
        <p:sp>
          <p:nvSpPr>
            <p:cNvPr id="538" name="Google Shape;538;p55"/>
            <p:cNvSpPr/>
            <p:nvPr/>
          </p:nvSpPr>
          <p:spPr>
            <a:xfrm>
              <a:off x="5085487" y="2875640"/>
              <a:ext cx="4525009" cy="2567940"/>
            </a:xfrm>
            <a:custGeom>
              <a:rect b="b" l="l" r="r" t="t"/>
              <a:pathLst>
                <a:path extrusionOk="0" h="2567940" w="4525009">
                  <a:moveTo>
                    <a:pt x="424780" y="0"/>
                  </a:moveTo>
                  <a:lnTo>
                    <a:pt x="4099731" y="0"/>
                  </a:lnTo>
                  <a:lnTo>
                    <a:pt x="4168738" y="166"/>
                  </a:lnTo>
                  <a:lnTo>
                    <a:pt x="4226976" y="1332"/>
                  </a:lnTo>
                  <a:lnTo>
                    <a:pt x="4275640" y="4496"/>
                  </a:lnTo>
                  <a:lnTo>
                    <a:pt x="4315927" y="10657"/>
                  </a:lnTo>
                  <a:lnTo>
                    <a:pt x="4390209" y="40046"/>
                  </a:lnTo>
                  <a:lnTo>
                    <a:pt x="4426992" y="65857"/>
                  </a:lnTo>
                  <a:lnTo>
                    <a:pt x="4458654" y="97519"/>
                  </a:lnTo>
                  <a:lnTo>
                    <a:pt x="4484466" y="134303"/>
                  </a:lnTo>
                  <a:lnTo>
                    <a:pt x="4503696" y="175477"/>
                  </a:lnTo>
                  <a:lnTo>
                    <a:pt x="4520016" y="248872"/>
                  </a:lnTo>
                  <a:lnTo>
                    <a:pt x="4523180" y="297536"/>
                  </a:lnTo>
                  <a:lnTo>
                    <a:pt x="4524345" y="355773"/>
                  </a:lnTo>
                  <a:lnTo>
                    <a:pt x="4524512" y="424780"/>
                  </a:lnTo>
                  <a:lnTo>
                    <a:pt x="4524512" y="2142639"/>
                  </a:lnTo>
                  <a:lnTo>
                    <a:pt x="4524345" y="2211646"/>
                  </a:lnTo>
                  <a:lnTo>
                    <a:pt x="4523180" y="2269884"/>
                  </a:lnTo>
                  <a:lnTo>
                    <a:pt x="4520016" y="2318548"/>
                  </a:lnTo>
                  <a:lnTo>
                    <a:pt x="4513854" y="2358835"/>
                  </a:lnTo>
                  <a:lnTo>
                    <a:pt x="4484466" y="2433117"/>
                  </a:lnTo>
                  <a:lnTo>
                    <a:pt x="4458654" y="2469900"/>
                  </a:lnTo>
                  <a:lnTo>
                    <a:pt x="4426992" y="2501562"/>
                  </a:lnTo>
                  <a:lnTo>
                    <a:pt x="4390209" y="2527373"/>
                  </a:lnTo>
                  <a:lnTo>
                    <a:pt x="4349035" y="2546604"/>
                  </a:lnTo>
                  <a:lnTo>
                    <a:pt x="4275640" y="2562924"/>
                  </a:lnTo>
                  <a:lnTo>
                    <a:pt x="4226976" y="2566088"/>
                  </a:lnTo>
                  <a:lnTo>
                    <a:pt x="4168738" y="2567253"/>
                  </a:lnTo>
                  <a:lnTo>
                    <a:pt x="4099731" y="2567420"/>
                  </a:lnTo>
                  <a:lnTo>
                    <a:pt x="424780" y="2567420"/>
                  </a:lnTo>
                  <a:lnTo>
                    <a:pt x="355773" y="2567253"/>
                  </a:lnTo>
                  <a:lnTo>
                    <a:pt x="297536" y="2566088"/>
                  </a:lnTo>
                  <a:lnTo>
                    <a:pt x="248872" y="2562924"/>
                  </a:lnTo>
                  <a:lnTo>
                    <a:pt x="208585" y="2556762"/>
                  </a:lnTo>
                  <a:lnTo>
                    <a:pt x="134303" y="2527373"/>
                  </a:lnTo>
                  <a:lnTo>
                    <a:pt x="97519" y="2501562"/>
                  </a:lnTo>
                  <a:lnTo>
                    <a:pt x="65857" y="2469900"/>
                  </a:lnTo>
                  <a:lnTo>
                    <a:pt x="40046" y="2433117"/>
                  </a:lnTo>
                  <a:lnTo>
                    <a:pt x="20816" y="2391943"/>
                  </a:lnTo>
                  <a:lnTo>
                    <a:pt x="4496" y="2318548"/>
                  </a:lnTo>
                  <a:lnTo>
                    <a:pt x="1332" y="2269884"/>
                  </a:lnTo>
                  <a:lnTo>
                    <a:pt x="166" y="2211646"/>
                  </a:lnTo>
                  <a:lnTo>
                    <a:pt x="0" y="2142639"/>
                  </a:lnTo>
                  <a:lnTo>
                    <a:pt x="0" y="424780"/>
                  </a:lnTo>
                  <a:lnTo>
                    <a:pt x="166" y="355773"/>
                  </a:lnTo>
                  <a:lnTo>
                    <a:pt x="1332" y="297536"/>
                  </a:lnTo>
                  <a:lnTo>
                    <a:pt x="4496" y="248872"/>
                  </a:lnTo>
                  <a:lnTo>
                    <a:pt x="10657" y="208585"/>
                  </a:lnTo>
                  <a:lnTo>
                    <a:pt x="40046" y="134303"/>
                  </a:lnTo>
                  <a:lnTo>
                    <a:pt x="65857" y="97519"/>
                  </a:lnTo>
                  <a:lnTo>
                    <a:pt x="97519" y="65857"/>
                  </a:lnTo>
                  <a:lnTo>
                    <a:pt x="134303" y="40046"/>
                  </a:lnTo>
                  <a:lnTo>
                    <a:pt x="175477" y="20816"/>
                  </a:lnTo>
                  <a:lnTo>
                    <a:pt x="248872" y="4496"/>
                  </a:lnTo>
                  <a:lnTo>
                    <a:pt x="297536" y="1332"/>
                  </a:lnTo>
                  <a:lnTo>
                    <a:pt x="355773" y="166"/>
                  </a:lnTo>
                  <a:lnTo>
                    <a:pt x="424780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539" name="Google Shape;539;p55"/>
            <p:cNvSpPr/>
            <p:nvPr/>
          </p:nvSpPr>
          <p:spPr>
            <a:xfrm>
              <a:off x="5363136" y="2748075"/>
              <a:ext cx="1289050" cy="263525"/>
            </a:xfrm>
            <a:custGeom>
              <a:rect b="b" l="l" r="r" t="t"/>
              <a:pathLst>
                <a:path extrusionOk="0" h="263525" w="1289050">
                  <a:moveTo>
                    <a:pt x="1147085" y="0"/>
                  </a:moveTo>
                  <a:lnTo>
                    <a:pt x="141892" y="0"/>
                  </a:lnTo>
                  <a:lnTo>
                    <a:pt x="114227" y="809"/>
                  </a:lnTo>
                  <a:lnTo>
                    <a:pt x="75022" y="7285"/>
                  </a:lnTo>
                  <a:lnTo>
                    <a:pt x="33716" y="33601"/>
                  </a:lnTo>
                  <a:lnTo>
                    <a:pt x="7401" y="74907"/>
                  </a:lnTo>
                  <a:lnTo>
                    <a:pt x="404" y="117006"/>
                  </a:lnTo>
                  <a:lnTo>
                    <a:pt x="0" y="131465"/>
                  </a:lnTo>
                  <a:lnTo>
                    <a:pt x="404" y="145924"/>
                  </a:lnTo>
                  <a:lnTo>
                    <a:pt x="7401" y="188024"/>
                  </a:lnTo>
                  <a:lnTo>
                    <a:pt x="33716" y="229330"/>
                  </a:lnTo>
                  <a:lnTo>
                    <a:pt x="75022" y="255644"/>
                  </a:lnTo>
                  <a:lnTo>
                    <a:pt x="114227" y="262122"/>
                  </a:lnTo>
                  <a:lnTo>
                    <a:pt x="141892" y="262931"/>
                  </a:lnTo>
                  <a:lnTo>
                    <a:pt x="1147085" y="262931"/>
                  </a:lnTo>
                  <a:lnTo>
                    <a:pt x="1196723" y="259924"/>
                  </a:lnTo>
                  <a:lnTo>
                    <a:pt x="1236169" y="244673"/>
                  </a:lnTo>
                  <a:lnTo>
                    <a:pt x="1270603" y="210239"/>
                  </a:lnTo>
                  <a:lnTo>
                    <a:pt x="1287282" y="161672"/>
                  </a:lnTo>
                  <a:lnTo>
                    <a:pt x="1288977" y="131465"/>
                  </a:lnTo>
                  <a:lnTo>
                    <a:pt x="1288573" y="117006"/>
                  </a:lnTo>
                  <a:lnTo>
                    <a:pt x="1281574" y="74907"/>
                  </a:lnTo>
                  <a:lnTo>
                    <a:pt x="1255260" y="33601"/>
                  </a:lnTo>
                  <a:lnTo>
                    <a:pt x="1213954" y="7285"/>
                  </a:lnTo>
                  <a:lnTo>
                    <a:pt x="1174750" y="809"/>
                  </a:lnTo>
                  <a:lnTo>
                    <a:pt x="1147085" y="0"/>
                  </a:lnTo>
                  <a:close/>
                </a:path>
              </a:pathLst>
            </a:custGeom>
            <a:solidFill>
              <a:srgbClr val="56C1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540" name="Google Shape;540;p55"/>
            <p:cNvSpPr/>
            <p:nvPr/>
          </p:nvSpPr>
          <p:spPr>
            <a:xfrm>
              <a:off x="5363136" y="2747959"/>
              <a:ext cx="1289050" cy="263525"/>
            </a:xfrm>
            <a:custGeom>
              <a:rect b="b" l="l" r="r" t="t"/>
              <a:pathLst>
                <a:path extrusionOk="0" h="263525" w="1289050">
                  <a:moveTo>
                    <a:pt x="176196" y="0"/>
                  </a:moveTo>
                  <a:lnTo>
                    <a:pt x="1112780" y="0"/>
                  </a:lnTo>
                  <a:lnTo>
                    <a:pt x="1147084" y="115"/>
                  </a:lnTo>
                  <a:lnTo>
                    <a:pt x="1196723" y="3122"/>
                  </a:lnTo>
                  <a:lnTo>
                    <a:pt x="1236170" y="18373"/>
                  </a:lnTo>
                  <a:lnTo>
                    <a:pt x="1270603" y="52807"/>
                  </a:lnTo>
                  <a:lnTo>
                    <a:pt x="1287282" y="101375"/>
                  </a:lnTo>
                  <a:lnTo>
                    <a:pt x="1288977" y="131581"/>
                  </a:lnTo>
                  <a:lnTo>
                    <a:pt x="1288572" y="146040"/>
                  </a:lnTo>
                  <a:lnTo>
                    <a:pt x="1281575" y="188140"/>
                  </a:lnTo>
                  <a:lnTo>
                    <a:pt x="1255260" y="229445"/>
                  </a:lnTo>
                  <a:lnTo>
                    <a:pt x="1213954" y="255760"/>
                  </a:lnTo>
                  <a:lnTo>
                    <a:pt x="1174749" y="262237"/>
                  </a:lnTo>
                  <a:lnTo>
                    <a:pt x="1112780" y="263162"/>
                  </a:lnTo>
                  <a:lnTo>
                    <a:pt x="176196" y="263162"/>
                  </a:lnTo>
                  <a:lnTo>
                    <a:pt x="114227" y="262237"/>
                  </a:lnTo>
                  <a:lnTo>
                    <a:pt x="75022" y="255760"/>
                  </a:lnTo>
                  <a:lnTo>
                    <a:pt x="33716" y="229445"/>
                  </a:lnTo>
                  <a:lnTo>
                    <a:pt x="7401" y="188140"/>
                  </a:lnTo>
                  <a:lnTo>
                    <a:pt x="404" y="146040"/>
                  </a:lnTo>
                  <a:lnTo>
                    <a:pt x="0" y="131581"/>
                  </a:lnTo>
                  <a:lnTo>
                    <a:pt x="404" y="117122"/>
                  </a:lnTo>
                  <a:lnTo>
                    <a:pt x="7401" y="75022"/>
                  </a:lnTo>
                  <a:lnTo>
                    <a:pt x="33716" y="33716"/>
                  </a:lnTo>
                  <a:lnTo>
                    <a:pt x="75022" y="7401"/>
                  </a:lnTo>
                  <a:lnTo>
                    <a:pt x="114227" y="925"/>
                  </a:lnTo>
                  <a:lnTo>
                    <a:pt x="176196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541" name="Google Shape;541;p55"/>
          <p:cNvSpPr txBox="1"/>
          <p:nvPr/>
        </p:nvSpPr>
        <p:spPr>
          <a:xfrm>
            <a:off x="4910979" y="1080035"/>
            <a:ext cx="30849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75">
            <a:spAutoFit/>
          </a:bodyPr>
          <a:lstStyle/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Chain-of-Thought Prompting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Model Input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2" name="Google Shape;542;p55"/>
          <p:cNvGrpSpPr/>
          <p:nvPr/>
        </p:nvGrpSpPr>
        <p:grpSpPr>
          <a:xfrm>
            <a:off x="256675" y="1446674"/>
            <a:ext cx="4113687" cy="1656586"/>
            <a:chOff x="451958" y="2747959"/>
            <a:chExt cx="4525010" cy="2503152"/>
          </a:xfrm>
        </p:grpSpPr>
        <p:sp>
          <p:nvSpPr>
            <p:cNvPr id="543" name="Google Shape;543;p55"/>
            <p:cNvSpPr/>
            <p:nvPr/>
          </p:nvSpPr>
          <p:spPr>
            <a:xfrm>
              <a:off x="451958" y="2867957"/>
              <a:ext cx="4525010" cy="2383154"/>
            </a:xfrm>
            <a:custGeom>
              <a:rect b="b" l="l" r="r" t="t"/>
              <a:pathLst>
                <a:path extrusionOk="0" h="2383154" w="4525010">
                  <a:moveTo>
                    <a:pt x="424780" y="0"/>
                  </a:moveTo>
                  <a:lnTo>
                    <a:pt x="4099731" y="0"/>
                  </a:lnTo>
                  <a:lnTo>
                    <a:pt x="4168738" y="166"/>
                  </a:lnTo>
                  <a:lnTo>
                    <a:pt x="4226976" y="1332"/>
                  </a:lnTo>
                  <a:lnTo>
                    <a:pt x="4275640" y="4496"/>
                  </a:lnTo>
                  <a:lnTo>
                    <a:pt x="4315927" y="10657"/>
                  </a:lnTo>
                  <a:lnTo>
                    <a:pt x="4390209" y="40046"/>
                  </a:lnTo>
                  <a:lnTo>
                    <a:pt x="4426992" y="65857"/>
                  </a:lnTo>
                  <a:lnTo>
                    <a:pt x="4458654" y="97519"/>
                  </a:lnTo>
                  <a:lnTo>
                    <a:pt x="4484466" y="134303"/>
                  </a:lnTo>
                  <a:lnTo>
                    <a:pt x="4503696" y="175477"/>
                  </a:lnTo>
                  <a:lnTo>
                    <a:pt x="4520016" y="248872"/>
                  </a:lnTo>
                  <a:lnTo>
                    <a:pt x="4523180" y="297536"/>
                  </a:lnTo>
                  <a:lnTo>
                    <a:pt x="4524345" y="355773"/>
                  </a:lnTo>
                  <a:lnTo>
                    <a:pt x="4524512" y="424780"/>
                  </a:lnTo>
                  <a:lnTo>
                    <a:pt x="4524512" y="1958220"/>
                  </a:lnTo>
                  <a:lnTo>
                    <a:pt x="4524345" y="2027227"/>
                  </a:lnTo>
                  <a:lnTo>
                    <a:pt x="4523180" y="2085464"/>
                  </a:lnTo>
                  <a:lnTo>
                    <a:pt x="4520016" y="2134129"/>
                  </a:lnTo>
                  <a:lnTo>
                    <a:pt x="4513854" y="2174416"/>
                  </a:lnTo>
                  <a:lnTo>
                    <a:pt x="4484466" y="2248698"/>
                  </a:lnTo>
                  <a:lnTo>
                    <a:pt x="4458654" y="2285481"/>
                  </a:lnTo>
                  <a:lnTo>
                    <a:pt x="4426992" y="2317143"/>
                  </a:lnTo>
                  <a:lnTo>
                    <a:pt x="4390209" y="2342954"/>
                  </a:lnTo>
                  <a:lnTo>
                    <a:pt x="4349035" y="2362185"/>
                  </a:lnTo>
                  <a:lnTo>
                    <a:pt x="4275640" y="2378505"/>
                  </a:lnTo>
                  <a:lnTo>
                    <a:pt x="4226976" y="2381668"/>
                  </a:lnTo>
                  <a:lnTo>
                    <a:pt x="4168738" y="2382834"/>
                  </a:lnTo>
                  <a:lnTo>
                    <a:pt x="4099731" y="2383001"/>
                  </a:lnTo>
                  <a:lnTo>
                    <a:pt x="424780" y="2383001"/>
                  </a:lnTo>
                  <a:lnTo>
                    <a:pt x="355773" y="2382834"/>
                  </a:lnTo>
                  <a:lnTo>
                    <a:pt x="297536" y="2381668"/>
                  </a:lnTo>
                  <a:lnTo>
                    <a:pt x="248872" y="2378505"/>
                  </a:lnTo>
                  <a:lnTo>
                    <a:pt x="208585" y="2372343"/>
                  </a:lnTo>
                  <a:lnTo>
                    <a:pt x="134303" y="2342954"/>
                  </a:lnTo>
                  <a:lnTo>
                    <a:pt x="97519" y="2317143"/>
                  </a:lnTo>
                  <a:lnTo>
                    <a:pt x="65857" y="2285481"/>
                  </a:lnTo>
                  <a:lnTo>
                    <a:pt x="40046" y="2248698"/>
                  </a:lnTo>
                  <a:lnTo>
                    <a:pt x="20816" y="2207524"/>
                  </a:lnTo>
                  <a:lnTo>
                    <a:pt x="4496" y="2134129"/>
                  </a:lnTo>
                  <a:lnTo>
                    <a:pt x="1332" y="2085464"/>
                  </a:lnTo>
                  <a:lnTo>
                    <a:pt x="166" y="2027227"/>
                  </a:lnTo>
                  <a:lnTo>
                    <a:pt x="0" y="1958220"/>
                  </a:lnTo>
                  <a:lnTo>
                    <a:pt x="0" y="424780"/>
                  </a:lnTo>
                  <a:lnTo>
                    <a:pt x="166" y="355773"/>
                  </a:lnTo>
                  <a:lnTo>
                    <a:pt x="1332" y="297536"/>
                  </a:lnTo>
                  <a:lnTo>
                    <a:pt x="4496" y="248872"/>
                  </a:lnTo>
                  <a:lnTo>
                    <a:pt x="10657" y="208585"/>
                  </a:lnTo>
                  <a:lnTo>
                    <a:pt x="40046" y="134303"/>
                  </a:lnTo>
                  <a:lnTo>
                    <a:pt x="65857" y="97519"/>
                  </a:lnTo>
                  <a:lnTo>
                    <a:pt x="97519" y="65857"/>
                  </a:lnTo>
                  <a:lnTo>
                    <a:pt x="134303" y="40046"/>
                  </a:lnTo>
                  <a:lnTo>
                    <a:pt x="175477" y="20816"/>
                  </a:lnTo>
                  <a:lnTo>
                    <a:pt x="248872" y="4496"/>
                  </a:lnTo>
                  <a:lnTo>
                    <a:pt x="297536" y="1332"/>
                  </a:lnTo>
                  <a:lnTo>
                    <a:pt x="355773" y="166"/>
                  </a:lnTo>
                  <a:lnTo>
                    <a:pt x="424780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544" name="Google Shape;544;p55"/>
            <p:cNvSpPr/>
            <p:nvPr/>
          </p:nvSpPr>
          <p:spPr>
            <a:xfrm>
              <a:off x="695056" y="2748075"/>
              <a:ext cx="1289050" cy="263525"/>
            </a:xfrm>
            <a:custGeom>
              <a:rect b="b" l="l" r="r" t="t"/>
              <a:pathLst>
                <a:path extrusionOk="0" h="263525" w="1289050">
                  <a:moveTo>
                    <a:pt x="1147084" y="0"/>
                  </a:moveTo>
                  <a:lnTo>
                    <a:pt x="141892" y="0"/>
                  </a:lnTo>
                  <a:lnTo>
                    <a:pt x="114227" y="809"/>
                  </a:lnTo>
                  <a:lnTo>
                    <a:pt x="75022" y="7285"/>
                  </a:lnTo>
                  <a:lnTo>
                    <a:pt x="33716" y="33601"/>
                  </a:lnTo>
                  <a:lnTo>
                    <a:pt x="7401" y="74907"/>
                  </a:lnTo>
                  <a:lnTo>
                    <a:pt x="404" y="117006"/>
                  </a:lnTo>
                  <a:lnTo>
                    <a:pt x="0" y="131465"/>
                  </a:lnTo>
                  <a:lnTo>
                    <a:pt x="404" y="145924"/>
                  </a:lnTo>
                  <a:lnTo>
                    <a:pt x="7401" y="188024"/>
                  </a:lnTo>
                  <a:lnTo>
                    <a:pt x="33716" y="229330"/>
                  </a:lnTo>
                  <a:lnTo>
                    <a:pt x="75022" y="255644"/>
                  </a:lnTo>
                  <a:lnTo>
                    <a:pt x="114227" y="262122"/>
                  </a:lnTo>
                  <a:lnTo>
                    <a:pt x="141892" y="262931"/>
                  </a:lnTo>
                  <a:lnTo>
                    <a:pt x="1147084" y="262931"/>
                  </a:lnTo>
                  <a:lnTo>
                    <a:pt x="1196723" y="259924"/>
                  </a:lnTo>
                  <a:lnTo>
                    <a:pt x="1236170" y="244673"/>
                  </a:lnTo>
                  <a:lnTo>
                    <a:pt x="1270603" y="210239"/>
                  </a:lnTo>
                  <a:lnTo>
                    <a:pt x="1287282" y="161672"/>
                  </a:lnTo>
                  <a:lnTo>
                    <a:pt x="1288977" y="131465"/>
                  </a:lnTo>
                  <a:lnTo>
                    <a:pt x="1288572" y="117006"/>
                  </a:lnTo>
                  <a:lnTo>
                    <a:pt x="1281575" y="74907"/>
                  </a:lnTo>
                  <a:lnTo>
                    <a:pt x="1255261" y="33601"/>
                  </a:lnTo>
                  <a:lnTo>
                    <a:pt x="1213954" y="7285"/>
                  </a:lnTo>
                  <a:lnTo>
                    <a:pt x="1174749" y="809"/>
                  </a:lnTo>
                  <a:lnTo>
                    <a:pt x="1147084" y="0"/>
                  </a:lnTo>
                  <a:close/>
                </a:path>
              </a:pathLst>
            </a:custGeom>
            <a:solidFill>
              <a:srgbClr val="56C1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545" name="Google Shape;545;p55"/>
            <p:cNvSpPr/>
            <p:nvPr/>
          </p:nvSpPr>
          <p:spPr>
            <a:xfrm>
              <a:off x="695056" y="2747959"/>
              <a:ext cx="1289050" cy="263525"/>
            </a:xfrm>
            <a:custGeom>
              <a:rect b="b" l="l" r="r" t="t"/>
              <a:pathLst>
                <a:path extrusionOk="0" h="263525" w="1289050">
                  <a:moveTo>
                    <a:pt x="176196" y="0"/>
                  </a:moveTo>
                  <a:lnTo>
                    <a:pt x="1112780" y="0"/>
                  </a:lnTo>
                  <a:lnTo>
                    <a:pt x="1147084" y="115"/>
                  </a:lnTo>
                  <a:lnTo>
                    <a:pt x="1196723" y="3122"/>
                  </a:lnTo>
                  <a:lnTo>
                    <a:pt x="1236170" y="18373"/>
                  </a:lnTo>
                  <a:lnTo>
                    <a:pt x="1270603" y="52807"/>
                  </a:lnTo>
                  <a:lnTo>
                    <a:pt x="1287282" y="101375"/>
                  </a:lnTo>
                  <a:lnTo>
                    <a:pt x="1288977" y="131581"/>
                  </a:lnTo>
                  <a:lnTo>
                    <a:pt x="1288572" y="146040"/>
                  </a:lnTo>
                  <a:lnTo>
                    <a:pt x="1281575" y="188140"/>
                  </a:lnTo>
                  <a:lnTo>
                    <a:pt x="1255260" y="229445"/>
                  </a:lnTo>
                  <a:lnTo>
                    <a:pt x="1213954" y="255760"/>
                  </a:lnTo>
                  <a:lnTo>
                    <a:pt x="1174749" y="262237"/>
                  </a:lnTo>
                  <a:lnTo>
                    <a:pt x="1112780" y="263162"/>
                  </a:lnTo>
                  <a:lnTo>
                    <a:pt x="176196" y="263162"/>
                  </a:lnTo>
                  <a:lnTo>
                    <a:pt x="114227" y="262237"/>
                  </a:lnTo>
                  <a:lnTo>
                    <a:pt x="75022" y="255760"/>
                  </a:lnTo>
                  <a:lnTo>
                    <a:pt x="33716" y="229445"/>
                  </a:lnTo>
                  <a:lnTo>
                    <a:pt x="7401" y="188140"/>
                  </a:lnTo>
                  <a:lnTo>
                    <a:pt x="404" y="146040"/>
                  </a:lnTo>
                  <a:lnTo>
                    <a:pt x="0" y="131581"/>
                  </a:lnTo>
                  <a:lnTo>
                    <a:pt x="404" y="117122"/>
                  </a:lnTo>
                  <a:lnTo>
                    <a:pt x="7401" y="75022"/>
                  </a:lnTo>
                  <a:lnTo>
                    <a:pt x="33716" y="33716"/>
                  </a:lnTo>
                  <a:lnTo>
                    <a:pt x="75022" y="7401"/>
                  </a:lnTo>
                  <a:lnTo>
                    <a:pt x="114227" y="925"/>
                  </a:lnTo>
                  <a:lnTo>
                    <a:pt x="176196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929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546" name="Google Shape;546;p55"/>
          <p:cNvSpPr txBox="1"/>
          <p:nvPr/>
        </p:nvSpPr>
        <p:spPr>
          <a:xfrm>
            <a:off x="668596" y="3355094"/>
            <a:ext cx="9108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Model Output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5"/>
          <p:cNvSpPr txBox="1"/>
          <p:nvPr>
            <p:ph idx="12" type="sldNum"/>
          </p:nvPr>
        </p:nvSpPr>
        <p:spPr>
          <a:xfrm>
            <a:off x="6213118" y="2914246"/>
            <a:ext cx="18705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8" name="Google Shape;548;p55"/>
          <p:cNvSpPr txBox="1"/>
          <p:nvPr/>
        </p:nvSpPr>
        <p:spPr>
          <a:xfrm>
            <a:off x="7929123" y="4540364"/>
            <a:ext cx="1036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Helvetica Neue"/>
                <a:ea typeface="Helvetica Neue"/>
                <a:cs typeface="Helvetica Neue"/>
                <a:sym typeface="Helvetica Neue"/>
              </a:rPr>
              <a:t>[Wei et al. 2022]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9" name="Google Shape;549;p55"/>
          <p:cNvSpPr txBox="1"/>
          <p:nvPr/>
        </p:nvSpPr>
        <p:spPr>
          <a:xfrm>
            <a:off x="4880897" y="3344209"/>
            <a:ext cx="9108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Model Output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5"/>
          <p:cNvSpPr txBox="1"/>
          <p:nvPr/>
        </p:nvSpPr>
        <p:spPr>
          <a:xfrm>
            <a:off x="667269" y="1460100"/>
            <a:ext cx="7971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Model Input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5"/>
          <p:cNvSpPr/>
          <p:nvPr/>
        </p:nvSpPr>
        <p:spPr>
          <a:xfrm>
            <a:off x="4889600" y="1467025"/>
            <a:ext cx="4103100" cy="1973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is covered in one of the presentations today, so not going too deep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Bottom line: prompting alone can encourage LLM to reason better!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6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Thinking without Prompting?</a:t>
            </a:r>
            <a:endParaRPr sz="3640"/>
          </a:p>
        </p:txBody>
      </p:sp>
      <p:sp>
        <p:nvSpPr>
          <p:cNvPr id="558" name="Google Shape;558;p56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Can we train LLMs to think through their reasoning?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Will hear more about this later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20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Use RL to train models to do reasoning</a:t>
            </a:r>
            <a:endParaRPr sz="2300"/>
          </a:p>
        </p:txBody>
      </p:sp>
      <p:pic>
        <p:nvPicPr>
          <p:cNvPr id="559" name="Google Shape;559;p56" title="Screenshot 2026-01-19 at 2.45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450" y="2784925"/>
            <a:ext cx="5812150" cy="195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Many classes of inference-time LLMs</a:t>
            </a:r>
            <a:endParaRPr sz="3640"/>
          </a:p>
        </p:txBody>
      </p:sp>
      <p:sp>
        <p:nvSpPr>
          <p:cNvPr id="566" name="Google Shape;566;p57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20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Are there inference-time / prompting techniques for agents?</a:t>
            </a:r>
            <a:endParaRPr sz="23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8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ReAct (Yao et al 2023)</a:t>
            </a:r>
            <a:endParaRPr sz="3640"/>
          </a:p>
        </p:txBody>
      </p:sp>
      <p:pic>
        <p:nvPicPr>
          <p:cNvPr id="573" name="Google Shape;573;p58" title="Screenshot 2026-01-19 at 2.48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7400"/>
            <a:ext cx="7654752" cy="4113699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58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Slides</a:t>
            </a:r>
            <a:r>
              <a:rPr lang="en" sz="1500">
                <a:solidFill>
                  <a:srgbClr val="3F3F3F"/>
                </a:solidFill>
              </a:rPr>
              <a:t> from </a:t>
            </a:r>
            <a:r>
              <a:rPr lang="en" sz="1500">
                <a:solidFill>
                  <a:srgbClr val="3F3F3F"/>
                </a:solidFill>
              </a:rPr>
              <a:t>Shuyan Zhou</a:t>
            </a:r>
            <a:endParaRPr sz="15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9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ReAct (Yao et al 2023)</a:t>
            </a:r>
            <a:endParaRPr sz="3640"/>
          </a:p>
        </p:txBody>
      </p:sp>
      <p:pic>
        <p:nvPicPr>
          <p:cNvPr id="581" name="Google Shape;581;p59" title="Screenshot 2026-01-19 at 2.48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7400"/>
            <a:ext cx="8839200" cy="2928489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59"/>
          <p:cNvSpPr txBox="1"/>
          <p:nvPr/>
        </p:nvSpPr>
        <p:spPr>
          <a:xfrm>
            <a:off x="562425" y="4136575"/>
            <a:ext cx="493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ReAct eﬀectively defines a straightforward for loop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583" name="Google Shape;583;p59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Slides from Shuyan Zhou</a:t>
            </a:r>
            <a:endParaRPr sz="15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0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ReAct (Yao et al 2023)</a:t>
            </a:r>
            <a:endParaRPr sz="3640"/>
          </a:p>
        </p:txBody>
      </p:sp>
      <p:pic>
        <p:nvPicPr>
          <p:cNvPr id="590" name="Google Shape;590;p60" title="Screenshot 2026-01-19 at 2.48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7400"/>
            <a:ext cx="8839200" cy="2928489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0"/>
          <p:cNvSpPr txBox="1"/>
          <p:nvPr/>
        </p:nvSpPr>
        <p:spPr>
          <a:xfrm>
            <a:off x="562425" y="4136575"/>
            <a:ext cx="493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ReAct eﬀectively defines a straightforward for loop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592" name="Google Shape;592;p60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Slides from Shuyan Zhou</a:t>
            </a:r>
            <a:endParaRPr sz="15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1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Planning Beyond ReAct</a:t>
            </a:r>
            <a:endParaRPr sz="3640"/>
          </a:p>
        </p:txBody>
      </p:sp>
      <p:sp>
        <p:nvSpPr>
          <p:cNvPr id="599" name="Google Shape;599;p61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Slides from Shuyan Zhou</a:t>
            </a:r>
            <a:endParaRPr sz="1500">
              <a:solidFill>
                <a:srgbClr val="3F3F3F"/>
              </a:solidFill>
            </a:endParaRPr>
          </a:p>
        </p:txBody>
      </p:sp>
      <p:pic>
        <p:nvPicPr>
          <p:cNvPr id="600" name="Google Shape;600;p61" title="Screenshot 2026-01-19 at 2.51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038" y="877400"/>
            <a:ext cx="6732819" cy="3573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2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Correcting mistakes</a:t>
            </a:r>
            <a:endParaRPr sz="3640"/>
          </a:p>
        </p:txBody>
      </p:sp>
      <p:sp>
        <p:nvSpPr>
          <p:cNvPr id="607" name="Google Shape;607;p62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Can VLM agents recognize/fix their own mistakes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20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Can they </a:t>
            </a:r>
            <a:r>
              <a:rPr b="1" lang="en" sz="2300"/>
              <a:t>reflect</a:t>
            </a:r>
            <a:r>
              <a:rPr lang="en" sz="2300"/>
              <a:t> and figure out where they went wrong</a:t>
            </a:r>
            <a:endParaRPr sz="1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3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Reflexion and Self-Refine</a:t>
            </a:r>
            <a:endParaRPr sz="3640"/>
          </a:p>
        </p:txBody>
      </p:sp>
      <p:sp>
        <p:nvSpPr>
          <p:cNvPr id="614" name="Google Shape;614;p63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Slides from </a:t>
            </a:r>
            <a:r>
              <a:rPr lang="en">
                <a:solidFill>
                  <a:schemeClr val="dk1"/>
                </a:solidFill>
              </a:rPr>
              <a:t>Xinyun Chen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615" name="Google Shape;615;p63"/>
          <p:cNvSpPr txBox="1"/>
          <p:nvPr/>
        </p:nvSpPr>
        <p:spPr>
          <a:xfrm>
            <a:off x="172342" y="4660684"/>
            <a:ext cx="47340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Shinn et al., Reflexion: Language Agents with Verbal Reinforcement Learning, NeurIPS 2023. Madaan et al., Self-Refine: Iterative Refinement with Self-Feedback, NeurIPS 2023.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291" y="744007"/>
            <a:ext cx="7990855" cy="2951324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63"/>
          <p:cNvSpPr txBox="1"/>
          <p:nvPr/>
        </p:nvSpPr>
        <p:spPr>
          <a:xfrm>
            <a:off x="459757" y="3943304"/>
            <a:ext cx="76629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28600" lvl="0" marL="241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•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LLM generates feedback on its output. Use external evaluation when available.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•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LLM self-refines its output given both internal feedback and external evaluation.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4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Beyond Singe Agent</a:t>
            </a:r>
            <a:endParaRPr sz="3640"/>
          </a:p>
        </p:txBody>
      </p:sp>
      <p:sp>
        <p:nvSpPr>
          <p:cNvPr id="624" name="Google Shape;624;p64"/>
          <p:cNvSpPr txBox="1"/>
          <p:nvPr/>
        </p:nvSpPr>
        <p:spPr>
          <a:xfrm>
            <a:off x="6796225" y="4603763"/>
            <a:ext cx="31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Slides from Shuyan Zhou</a:t>
            </a:r>
            <a:endParaRPr sz="1500">
              <a:solidFill>
                <a:srgbClr val="3F3F3F"/>
              </a:solidFill>
            </a:endParaRPr>
          </a:p>
        </p:txBody>
      </p:sp>
      <p:pic>
        <p:nvPicPr>
          <p:cNvPr id="625" name="Google Shape;625;p64" title="Screenshot 2026-01-19 at 2.51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25" y="877400"/>
            <a:ext cx="6999892" cy="3573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5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632" name="Google Shape;632;p65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65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634" name="Google Shape;634;p65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fontScale="92500" lnSpcReduction="20000"/>
          </a:bodyPr>
          <a:lstStyle/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We want some way to get VLMs/LLMs more in </a:t>
            </a:r>
            <a:r>
              <a:rPr lang="en" sz="2300"/>
              <a:t>distribution</a:t>
            </a:r>
            <a:r>
              <a:rPr lang="en" sz="2300"/>
              <a:t> for agent tasks</a:t>
            </a:r>
            <a:endParaRPr sz="19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Ideally: SFT/RL can do this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In a pinch, prompting techniques very effective</a:t>
            </a:r>
            <a:endParaRPr sz="1900"/>
          </a:p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Get agents in distribution</a:t>
            </a:r>
            <a:endParaRPr sz="23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Zero-shot prompting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In context Learning</a:t>
            </a:r>
            <a:endParaRPr sz="2300"/>
          </a:p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Get agents to think</a:t>
            </a:r>
            <a:endParaRPr sz="23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With prompting in context (CoT)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With RL training (DeepSeek)</a:t>
            </a:r>
            <a:endParaRPr sz="1900"/>
          </a:p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Prompt agents to behave more like agents</a:t>
            </a:r>
            <a:endParaRPr sz="23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Think/Act/Observe ReAct 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Reflect on mistakes - Reflexion</a:t>
            </a:r>
            <a:endParaRPr sz="19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6"/>
          <p:cNvSpPr txBox="1"/>
          <p:nvPr>
            <p:ph type="title"/>
          </p:nvPr>
        </p:nvSpPr>
        <p:spPr>
          <a:xfrm>
            <a:off x="258024" y="224372"/>
            <a:ext cx="8725200" cy="516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</a:t>
            </a:r>
            <a:endParaRPr/>
          </a:p>
        </p:txBody>
      </p:sp>
      <p:pic>
        <p:nvPicPr>
          <p:cNvPr id="641" name="Google Shape;64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0425" y="1331350"/>
            <a:ext cx="214312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66"/>
          <p:cNvSpPr txBox="1"/>
          <p:nvPr/>
        </p:nvSpPr>
        <p:spPr>
          <a:xfrm>
            <a:off x="3285150" y="3630314"/>
            <a:ext cx="2370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F3F3F"/>
                </a:solidFill>
              </a:rPr>
              <a:t>Questions</a:t>
            </a:r>
            <a:endParaRPr sz="29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7"/>
          <p:cNvSpPr txBox="1"/>
          <p:nvPr>
            <p:ph type="title"/>
          </p:nvPr>
        </p:nvSpPr>
        <p:spPr>
          <a:xfrm>
            <a:off x="258024" y="224372"/>
            <a:ext cx="8725200" cy="516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for the presentations!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