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  <p:sldMasterId id="214748368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DM Serif Text"/>
      <p:regular r:id="rId36"/>
      <p:italic r:id="rId37"/>
    </p:embeddedFont>
    <p:embeddedFont>
      <p:font typeface="Helvetica Neue"/>
      <p:regular r:id="rId38"/>
      <p:bold r:id="rId39"/>
      <p:italic r:id="rId40"/>
      <p:boldItalic r:id="rId41"/>
    </p:embeddedFont>
    <p:embeddedFont>
      <p:font typeface="DM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italic.fntdata"/><Relationship Id="rId20" Type="http://schemas.openxmlformats.org/officeDocument/2006/relationships/slide" Target="slides/slide14.xml"/><Relationship Id="rId42" Type="http://schemas.openxmlformats.org/officeDocument/2006/relationships/font" Target="fonts/DMSans-regular.fntdata"/><Relationship Id="rId41" Type="http://schemas.openxmlformats.org/officeDocument/2006/relationships/font" Target="fonts/HelveticaNeue-boldItalic.fntdata"/><Relationship Id="rId22" Type="http://schemas.openxmlformats.org/officeDocument/2006/relationships/slide" Target="slides/slide16.xml"/><Relationship Id="rId44" Type="http://schemas.openxmlformats.org/officeDocument/2006/relationships/font" Target="fonts/DMSans-italic.fntdata"/><Relationship Id="rId21" Type="http://schemas.openxmlformats.org/officeDocument/2006/relationships/slide" Target="slides/slide15.xml"/><Relationship Id="rId43" Type="http://schemas.openxmlformats.org/officeDocument/2006/relationships/font" Target="fonts/DMSans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DMSans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DMSerifText-italic.fntdata"/><Relationship Id="rId14" Type="http://schemas.openxmlformats.org/officeDocument/2006/relationships/slide" Target="slides/slide8.xml"/><Relationship Id="rId36" Type="http://schemas.openxmlformats.org/officeDocument/2006/relationships/font" Target="fonts/DMSerifText-regular.fntdata"/><Relationship Id="rId17" Type="http://schemas.openxmlformats.org/officeDocument/2006/relationships/slide" Target="slides/slide11.xml"/><Relationship Id="rId39" Type="http://schemas.openxmlformats.org/officeDocument/2006/relationships/font" Target="fonts/HelveticaNeue-bold.fntdata"/><Relationship Id="rId16" Type="http://schemas.openxmlformats.org/officeDocument/2006/relationships/slide" Target="slides/slide10.xml"/><Relationship Id="rId38" Type="http://schemas.openxmlformats.org/officeDocument/2006/relationships/font" Target="fonts/HelveticaNeue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34382cb93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834382cb93_0_161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260c4f028_0_1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b260c4f02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b260c4f028_0_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b33c94545_0_75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ab33c94545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ab33c94545_0_75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ab7aa726d_0_10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bab7aa726d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ab7aa726d_0_1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ab7aa726d_0_47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bab7aa726d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bab7aa726d_0_47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ab7aa726d_0_86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bab7aa726d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bab7aa726d_0_8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30889e124_0_0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c30889e12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c30889e124_0_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30889e124_0_452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c30889e124_0_4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c30889e124_0_45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30889e124_0_524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c30889e124_0_5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c30889e124_0_524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30889e124_0_535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c30889e124_0_5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c30889e124_0_535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30889e124_0_546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c30889e124_0_5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c30889e124_0_54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30889e124_0_559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c30889e124_0_5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c30889e124_0_559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30889e124_0_436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c30889e124_0_4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c30889e124_0_43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30889e124_0_601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c30889e124_0_6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c30889e124_0_60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30889e124_0_638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c30889e124_0_6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c30889e124_0_638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ddbe779d8_0_210:notes"/>
          <p:cNvSpPr/>
          <p:nvPr>
            <p:ph idx="2" type="sldImg"/>
          </p:nvPr>
        </p:nvSpPr>
        <p:spPr>
          <a:xfrm>
            <a:off x="134952" y="686475"/>
            <a:ext cx="6588000" cy="342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g3bddbe779d8_0_210:notes"/>
          <p:cNvSpPr txBox="1"/>
          <p:nvPr>
            <p:ph idx="1" type="body"/>
          </p:nvPr>
        </p:nvSpPr>
        <p:spPr>
          <a:xfrm>
            <a:off x="686742" y="4344113"/>
            <a:ext cx="5484600" cy="4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25" lIns="93250" spcFirstLastPara="1" rIns="93250" wrap="square" tIns="4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 has a DEMO for this.</a:t>
            </a:r>
            <a:endParaRPr/>
          </a:p>
        </p:txBody>
      </p:sp>
      <p:sp>
        <p:nvSpPr>
          <p:cNvPr id="355" name="Google Shape;355;g3bddbe779d8_0_210:notes"/>
          <p:cNvSpPr txBox="1"/>
          <p:nvPr>
            <p:ph idx="12" type="sldNum"/>
          </p:nvPr>
        </p:nvSpPr>
        <p:spPr>
          <a:xfrm>
            <a:off x="3883692" y="8686655"/>
            <a:ext cx="29727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625" lIns="93250" spcFirstLastPara="1" rIns="93250" wrap="square" tIns="46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30889e124_0_789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c30889e124_0_7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c30889e124_0_789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30889e124_0_769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c30889e124_0_7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c30889e124_0_769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30889e124_0_800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c30889e124_0_8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c30889e124_0_80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c30889e124_0_653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c30889e124_0_6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c30889e124_0_653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30889e124_0_678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c30889e124_0_6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c30889e124_0_678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c30889e124_0_692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c30889e124_0_6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c30889e124_0_69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c30889e124_0_706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c30889e124_0_7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c30889e124_0_70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30889e124_0_720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c30889e124_0_7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c30889e124_0_72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c30889e124_0_738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c30889e124_0_7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c30889e124_0_738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30889e124_0_917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3c30889e124_0_9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c30889e124_0_917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ad87534f3_0_1292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bad87534f3_0_1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bad87534f3_0_1292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89563f92427b8a6_334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389563f92427b8a6_3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389563f92427b8a6_334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bad87534f3_0_1301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bad87534f3_0_1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bad87534f3_0_130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1 Title &amp; Text">
  <p:cSld name="001 Title &amp; 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99050" y="278600"/>
            <a:ext cx="65838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M Serif Text"/>
              <a:buNone/>
              <a:defRPr sz="22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6750" y="1028063"/>
            <a:ext cx="7938300" cy="3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●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8575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○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8575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■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8575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●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8575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○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8575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■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8575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●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8575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○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85750" lvl="8" marL="411480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2"/>
              </a:buClr>
              <a:buSzPts val="900"/>
              <a:buFont typeface="DM Sans"/>
              <a:buChar char="■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Title &amp; Text 1">
  <p:cSld name="01 Title &amp; Text 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599050" y="278588"/>
            <a:ext cx="59022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606750" y="1028063"/>
            <a:ext cx="7938300" cy="3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●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8575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○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8575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■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8575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●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8575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○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85750" lvl="5" marL="27432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■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85750" lvl="6" marL="3200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●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85750" lvl="7" marL="3657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DM Sans"/>
              <a:buChar char="○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85750" lvl="8" marL="4114800" algn="l"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  <a:buClr>
                <a:schemeClr val="dk2"/>
              </a:buClr>
              <a:buSzPts val="900"/>
              <a:buFont typeface="DM Sans"/>
              <a:buChar char="■"/>
              <a:defRPr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258024" y="224372"/>
            <a:ext cx="87252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B3112C"/>
              </a:buClr>
              <a:buSzPts val="3600"/>
              <a:buFont typeface="Arial"/>
              <a:buNone/>
              <a:defRPr>
                <a:solidFill>
                  <a:srgbClr val="B3112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258024" y="832757"/>
            <a:ext cx="8725200" cy="4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A10B30"/>
              </a:buClr>
              <a:buSzPts val="1500"/>
              <a:buFont typeface="Arial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A10B30"/>
              </a:buClr>
              <a:buSzPts val="1400"/>
              <a:buFont typeface="Arial"/>
              <a:buChar char="•"/>
              <a:defRPr/>
            </a:lvl2pPr>
            <a:lvl3pPr indent="-29845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10B30"/>
              </a:buClr>
              <a:buSzPts val="1100"/>
              <a:buFont typeface="Arial"/>
              <a:buChar char="•"/>
              <a:defRPr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10B30"/>
              </a:buClr>
              <a:buSzPts val="1100"/>
              <a:buFont typeface="Arial"/>
              <a:buChar char="•"/>
              <a:defRPr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10B30"/>
              </a:buClr>
              <a:buSzPts val="1100"/>
              <a:buFont typeface="Arial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5"/>
          <p:cNvSpPr/>
          <p:nvPr/>
        </p:nvSpPr>
        <p:spPr>
          <a:xfrm>
            <a:off x="0" y="4953363"/>
            <a:ext cx="9145800" cy="190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 txBox="1"/>
          <p:nvPr/>
        </p:nvSpPr>
        <p:spPr>
          <a:xfrm>
            <a:off x="82550" y="4953363"/>
            <a:ext cx="4363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82549" y="4953363"/>
            <a:ext cx="4668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7004050" y="4965770"/>
            <a:ext cx="2057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>
            <a:lvl1pPr indent="0" lvl="0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0" y="203360"/>
            <a:ext cx="135900" cy="5163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ctrTitle"/>
          </p:nvPr>
        </p:nvSpPr>
        <p:spPr>
          <a:xfrm>
            <a:off x="822960" y="569214"/>
            <a:ext cx="75438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subTitle"/>
          </p:nvPr>
        </p:nvSpPr>
        <p:spPr>
          <a:xfrm>
            <a:off x="825038" y="3341717"/>
            <a:ext cx="7543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rgbClr val="A10B3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75" name="Google Shape;75;p17"/>
          <p:cNvCxnSpPr/>
          <p:nvPr/>
        </p:nvCxnSpPr>
        <p:spPr>
          <a:xfrm>
            <a:off x="905744" y="3257550"/>
            <a:ext cx="7406400" cy="0"/>
          </a:xfrm>
          <a:prstGeom prst="straightConnector1">
            <a:avLst/>
          </a:prstGeom>
          <a:noFill/>
          <a:ln cap="flat" cmpd="sng" w="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7"/>
          <p:cNvSpPr/>
          <p:nvPr/>
        </p:nvSpPr>
        <p:spPr>
          <a:xfrm>
            <a:off x="0" y="4953363"/>
            <a:ext cx="9145800" cy="190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82550" y="4953363"/>
            <a:ext cx="4363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82549" y="4953363"/>
            <a:ext cx="4668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7004050" y="4965770"/>
            <a:ext cx="2057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258024" y="224372"/>
            <a:ext cx="87252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B3112C"/>
              </a:buClr>
              <a:buSzPts val="3600"/>
              <a:buFont typeface="Arial"/>
              <a:buNone/>
              <a:defRPr>
                <a:solidFill>
                  <a:srgbClr val="B3112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258024" y="832757"/>
            <a:ext cx="8725200" cy="4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A10B30"/>
              </a:buClr>
              <a:buSzPts val="1500"/>
              <a:buFont typeface="Arial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A10B30"/>
              </a:buClr>
              <a:buSzPts val="1400"/>
              <a:buFont typeface="Arial"/>
              <a:buChar char="•"/>
              <a:defRPr/>
            </a:lvl2pPr>
            <a:lvl3pPr indent="-29845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10B30"/>
              </a:buClr>
              <a:buSzPts val="1100"/>
              <a:buFont typeface="Arial"/>
              <a:buChar char="•"/>
              <a:defRPr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10B30"/>
              </a:buClr>
              <a:buSzPts val="1100"/>
              <a:buFont typeface="Arial"/>
              <a:buChar char="•"/>
              <a:defRPr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A10B30"/>
              </a:buClr>
              <a:buSzPts val="1100"/>
              <a:buFont typeface="Arial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◦"/>
              <a:defRPr/>
            </a:lvl9pPr>
          </a:lstStyle>
          <a:p/>
        </p:txBody>
      </p:sp>
      <p:sp>
        <p:nvSpPr>
          <p:cNvPr id="83" name="Google Shape;83;p18"/>
          <p:cNvSpPr/>
          <p:nvPr/>
        </p:nvSpPr>
        <p:spPr>
          <a:xfrm>
            <a:off x="0" y="4953363"/>
            <a:ext cx="9145800" cy="190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82550" y="4953363"/>
            <a:ext cx="4363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82549" y="4953363"/>
            <a:ext cx="4668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7004050" y="4965770"/>
            <a:ext cx="2057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0" y="203360"/>
            <a:ext cx="135900" cy="5163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0" y="4953363"/>
            <a:ext cx="9145800" cy="190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82550" y="4953363"/>
            <a:ext cx="4363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7004050" y="4965770"/>
            <a:ext cx="2057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0" y="2000207"/>
            <a:ext cx="9144000" cy="6516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3068832" y="2025717"/>
            <a:ext cx="30063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0" y="-190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683919"/>
            <a:ext cx="1600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683919"/>
            <a:ext cx="2171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683919"/>
            <a:ext cx="1600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98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1" type="ftr"/>
          </p:nvPr>
        </p:nvSpPr>
        <p:spPr>
          <a:xfrm>
            <a:off x="3108960" y="4783455"/>
            <a:ext cx="2926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0" type="dt"/>
          </p:nvPr>
        </p:nvSpPr>
        <p:spPr>
          <a:xfrm>
            <a:off x="457200" y="4783455"/>
            <a:ext cx="21030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8459071" y="4784927"/>
            <a:ext cx="205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15106" marR="0" algn="l">
              <a:lnSpc>
                <a:spcPct val="107994"/>
              </a:lnSpc>
              <a:spcBef>
                <a:spcPts val="0"/>
              </a:spcBef>
              <a:buNone/>
              <a:defRPr b="0" i="0" sz="713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15106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142885" y="299493"/>
            <a:ext cx="8792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26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09" name="Google Shape;109;p23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ctrTitle"/>
          </p:nvPr>
        </p:nvSpPr>
        <p:spPr>
          <a:xfrm>
            <a:off x="196160" y="299493"/>
            <a:ext cx="8751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26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900"/>
              </a:spcBef>
              <a:spcAft>
                <a:spcPts val="0"/>
              </a:spcAft>
              <a:buSzPts val="1500"/>
              <a:buNone/>
              <a:defRPr b="0" i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300"/>
              </a:spcBef>
              <a:spcAft>
                <a:spcPts val="30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5" name="Google Shape;115;p2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231" y="1835888"/>
            <a:ext cx="4616887" cy="2160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4985" y="1887741"/>
            <a:ext cx="4174654" cy="204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 txBox="1"/>
          <p:nvPr>
            <p:ph type="title"/>
          </p:nvPr>
        </p:nvSpPr>
        <p:spPr>
          <a:xfrm>
            <a:off x="142885" y="299493"/>
            <a:ext cx="8792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2600">
                <a:solidFill>
                  <a:srgbClr val="1C2B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90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300"/>
              </a:spcBef>
              <a:spcAft>
                <a:spcPts val="30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90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300"/>
              </a:spcBef>
              <a:spcAft>
                <a:spcPts val="30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24" name="Google Shape;124;p2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OBJECT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>
            <a:off x="793316" y="1072821"/>
            <a:ext cx="56985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2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/>
          <p:nvPr>
            <p:ph type="title"/>
          </p:nvPr>
        </p:nvSpPr>
        <p:spPr>
          <a:xfrm>
            <a:off x="793316" y="1072821"/>
            <a:ext cx="56985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7"/>
          <p:cNvSpPr txBox="1"/>
          <p:nvPr>
            <p:ph idx="1" type="body"/>
          </p:nvPr>
        </p:nvSpPr>
        <p:spPr>
          <a:xfrm>
            <a:off x="793316" y="1673824"/>
            <a:ext cx="7527000" cy="19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900"/>
              </a:spcBef>
              <a:spcAft>
                <a:spcPts val="0"/>
              </a:spcAft>
              <a:buSzPts val="1500"/>
              <a:buNone/>
              <a:defRPr b="0" i="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300"/>
              </a:spcBef>
              <a:spcAft>
                <a:spcPts val="30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OBJECT_2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3723449" y="356711"/>
            <a:ext cx="16971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800"/>
            </a:lvl9pPr>
          </a:lstStyle>
          <a:p/>
        </p:txBody>
      </p:sp>
      <p:sp>
        <p:nvSpPr>
          <p:cNvPr id="138" name="Google Shape;138;p2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/>
            </a:lvl9pPr>
          </a:lstStyle>
          <a:p/>
        </p:txBody>
      </p:sp>
      <p:sp>
        <p:nvSpPr>
          <p:cNvPr id="139" name="Google Shape;139;p2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0" name="Google Shape;140;p28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>
            <a:lvl1pPr indent="-3302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 "/>
              <a:defRPr sz="1600">
                <a:solidFill>
                  <a:schemeClr val="dk1"/>
                </a:solidFill>
              </a:defRPr>
            </a:lvl1pPr>
            <a:lvl2pPr indent="-317500" lvl="1" marL="9144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◦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 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>
            <a:lvl1pPr indent="-3302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 "/>
              <a:defRPr sz="1600">
                <a:solidFill>
                  <a:schemeClr val="dk1"/>
                </a:solidFill>
              </a:defRPr>
            </a:lvl1pPr>
            <a:lvl2pPr indent="-317500" lvl="1" marL="9144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◦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◦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◦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◦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◦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◦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◦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Char char="◦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>
            <a:lvl1pPr indent="-323850" lvl="0" marL="457200">
              <a:spcBef>
                <a:spcPts val="900"/>
              </a:spcBef>
              <a:spcAft>
                <a:spcPts val="0"/>
              </a:spcAft>
              <a:buSzPts val="1500"/>
              <a:buChar char=" "/>
              <a:defRPr/>
            </a:lvl1pPr>
            <a:lvl2pPr indent="-317500" lvl="1" marL="914400">
              <a:spcBef>
                <a:spcPts val="200"/>
              </a:spcBef>
              <a:spcAft>
                <a:spcPts val="0"/>
              </a:spcAft>
              <a:buSzPts val="1400"/>
              <a:buChar char="◦"/>
              <a:defRPr/>
            </a:lvl2pPr>
            <a:lvl3pPr indent="-298450" lvl="2" marL="1371600">
              <a:spcBef>
                <a:spcPts val="300"/>
              </a:spcBef>
              <a:spcAft>
                <a:spcPts val="0"/>
              </a:spcAft>
              <a:buSzPts val="1100"/>
              <a:buChar char="◦"/>
              <a:defRPr/>
            </a:lvl3pPr>
            <a:lvl4pPr indent="-298450" lvl="3" marL="1828800">
              <a:spcBef>
                <a:spcPts val="300"/>
              </a:spcBef>
              <a:spcAft>
                <a:spcPts val="0"/>
              </a:spcAft>
              <a:buSzPts val="1100"/>
              <a:buChar char="◦"/>
              <a:defRPr/>
            </a:lvl4pPr>
            <a:lvl5pPr indent="-298450" lvl="4" marL="2286000">
              <a:spcBef>
                <a:spcPts val="300"/>
              </a:spcBef>
              <a:spcAft>
                <a:spcPts val="0"/>
              </a:spcAft>
              <a:buSzPts val="1100"/>
              <a:buChar char="◦"/>
              <a:defRPr/>
            </a:lvl5pPr>
            <a:lvl6pPr indent="-298450" lvl="5" marL="2743200">
              <a:spcBef>
                <a:spcPts val="300"/>
              </a:spcBef>
              <a:spcAft>
                <a:spcPts val="0"/>
              </a:spcAft>
              <a:buSzPts val="1100"/>
              <a:buChar char="◦"/>
              <a:defRPr/>
            </a:lvl6pPr>
            <a:lvl7pPr indent="-298450" lvl="6" marL="3200400">
              <a:spcBef>
                <a:spcPts val="300"/>
              </a:spcBef>
              <a:spcAft>
                <a:spcPts val="0"/>
              </a:spcAft>
              <a:buSzPts val="1100"/>
              <a:buChar char="◦"/>
              <a:defRPr/>
            </a:lvl7pPr>
            <a:lvl8pPr indent="-298450" lvl="7" marL="3657600">
              <a:spcBef>
                <a:spcPts val="300"/>
              </a:spcBef>
              <a:spcAft>
                <a:spcPts val="0"/>
              </a:spcAft>
              <a:buSzPts val="1100"/>
              <a:buChar char="◦"/>
              <a:defRPr/>
            </a:lvl8pPr>
            <a:lvl9pPr indent="-298450" lvl="8" marL="4114800">
              <a:spcBef>
                <a:spcPts val="300"/>
              </a:spcBef>
              <a:spcAft>
                <a:spcPts val="300"/>
              </a:spcAft>
              <a:buSzPts val="1100"/>
              <a:buChar char="◦"/>
              <a:defRPr/>
            </a:lvl9pPr>
          </a:lstStyle>
          <a:p/>
        </p:txBody>
      </p:sp>
      <p:sp>
        <p:nvSpPr>
          <p:cNvPr id="153" name="Google Shape;15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2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 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 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3"/>
          <p:cNvSpPr txBox="1"/>
          <p:nvPr>
            <p:ph idx="1" type="body"/>
          </p:nvPr>
        </p:nvSpPr>
        <p:spPr>
          <a:xfrm>
            <a:off x="311700" y="1152475"/>
            <a:ext cx="84843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 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200"/>
              <a:buChar char="◦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0" y="4953363"/>
            <a:ext cx="9145800" cy="190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258024" y="243757"/>
            <a:ext cx="87252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B3112C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B3112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258024" y="832757"/>
            <a:ext cx="8725200" cy="4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 "/>
              <a:defRPr b="0" i="0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C41230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C41230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C41230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845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845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8450" lvl="8" marL="4114800" marR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Calibri"/>
              <a:buChar char="◦"/>
              <a:defRPr b="0" i="0" sz="11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8" name="Google Shape;68;p16"/>
          <p:cNvSpPr txBox="1"/>
          <p:nvPr/>
        </p:nvSpPr>
        <p:spPr>
          <a:xfrm>
            <a:off x="82550" y="4953363"/>
            <a:ext cx="43638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u="non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 txBox="1"/>
          <p:nvPr>
            <p:ph idx="11" type="ftr"/>
          </p:nvPr>
        </p:nvSpPr>
        <p:spPr>
          <a:xfrm>
            <a:off x="82549" y="4953363"/>
            <a:ext cx="4668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7004050" y="4952999"/>
            <a:ext cx="20574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0" y="203360"/>
            <a:ext cx="135900" cy="5163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16.png"/><Relationship Id="rId13" Type="http://schemas.openxmlformats.org/officeDocument/2006/relationships/image" Target="../media/image3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23.png"/><Relationship Id="rId8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5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33.png"/><Relationship Id="rId13" Type="http://schemas.openxmlformats.org/officeDocument/2006/relationships/image" Target="../media/image34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image" Target="../media/image32.png"/><Relationship Id="rId15" Type="http://schemas.openxmlformats.org/officeDocument/2006/relationships/image" Target="../media/image35.png"/><Relationship Id="rId14" Type="http://schemas.openxmlformats.org/officeDocument/2006/relationships/image" Target="../media/image39.png"/><Relationship Id="rId16" Type="http://schemas.openxmlformats.org/officeDocument/2006/relationships/image" Target="../media/image40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7.png"/><Relationship Id="rId8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type="ctrTitle"/>
          </p:nvPr>
        </p:nvSpPr>
        <p:spPr>
          <a:xfrm>
            <a:off x="1367350" y="2299850"/>
            <a:ext cx="64092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B3112C"/>
              </a:buClr>
              <a:buSzPts val="3000"/>
              <a:buFont typeface="Arial"/>
              <a:buNone/>
            </a:pPr>
            <a:r>
              <a:rPr lang="en" sz="3000">
                <a:solidFill>
                  <a:srgbClr val="B3112C"/>
                </a:solidFill>
              </a:rPr>
              <a:t>CS6960 MultiModal LLM Agents</a:t>
            </a:r>
            <a:endParaRPr/>
          </a:p>
        </p:txBody>
      </p:sp>
      <p:sp>
        <p:nvSpPr>
          <p:cNvPr id="168" name="Google Shape;168;p34"/>
          <p:cNvSpPr txBox="1"/>
          <p:nvPr>
            <p:ph idx="1" type="subTitle"/>
          </p:nvPr>
        </p:nvSpPr>
        <p:spPr>
          <a:xfrm>
            <a:off x="1342455" y="3305288"/>
            <a:ext cx="64590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600" cap="none">
                <a:solidFill>
                  <a:schemeClr val="dk1"/>
                </a:solidFill>
              </a:rPr>
              <a:t>Kenneth Marino</a:t>
            </a:r>
            <a:endParaRPr sz="3300"/>
          </a:p>
        </p:txBody>
      </p:sp>
      <p:sp>
        <p:nvSpPr>
          <p:cNvPr id="169" name="Google Shape;169;p34"/>
          <p:cNvSpPr txBox="1"/>
          <p:nvPr/>
        </p:nvSpPr>
        <p:spPr>
          <a:xfrm>
            <a:off x="0" y="4637975"/>
            <a:ext cx="796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Slide credits: Graham Neubig, </a:t>
            </a:r>
            <a:r>
              <a:rPr lang="en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Hanna Hajishirzi</a:t>
            </a:r>
            <a:r>
              <a:rPr lang="en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sz="1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4"/>
          <p:cNvSpPr txBox="1"/>
          <p:nvPr>
            <p:ph type="ctrTitle"/>
          </p:nvPr>
        </p:nvSpPr>
        <p:spPr>
          <a:xfrm>
            <a:off x="1367400" y="779575"/>
            <a:ext cx="64092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B3112C"/>
              </a:buClr>
              <a:buSzPts val="3000"/>
              <a:buFont typeface="Arial"/>
              <a:buNone/>
            </a:pPr>
            <a:r>
              <a:rPr lang="en" sz="4300">
                <a:solidFill>
                  <a:srgbClr val="B3112C"/>
                </a:solidFill>
              </a:rPr>
              <a:t>Tool Use</a:t>
            </a:r>
            <a:endParaRPr sz="7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177" name="Google Shape;177;p35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179" name="Google Shape;179;p35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lnSpcReduction="10000"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HW2 due in 3 weeks</a:t>
            </a:r>
            <a:endParaRPr sz="19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A bit more complicated than past homeworks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Have some extra time</a:t>
            </a:r>
            <a:endParaRPr sz="19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HW1</a:t>
            </a:r>
            <a:endParaRPr sz="23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Still a few days left with late days+extension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Projects</a:t>
            </a:r>
            <a:endParaRPr sz="23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(Soft) deadline for group formation - Feb 10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If you don’t have a group by then, please post on piazza w/ your project idea/interests to find groups (we can play a little matchmaking)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Participate in group activity Thur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Reach out to us if you have any questions/concerns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186" name="Google Shape;186;p36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6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/>
              <a:t>What does VLM agent actually look like?</a:t>
            </a:r>
            <a:endParaRPr sz="2740"/>
          </a:p>
        </p:txBody>
      </p:sp>
      <p:pic>
        <p:nvPicPr>
          <p:cNvPr id="194" name="Google Shape;19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325" y="1282725"/>
            <a:ext cx="7746824" cy="29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7"/>
          <p:cNvSpPr/>
          <p:nvPr/>
        </p:nvSpPr>
        <p:spPr>
          <a:xfrm>
            <a:off x="4027425" y="1532275"/>
            <a:ext cx="1397700" cy="849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VLM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/>
              <a:t>What does VLM agent actually look like?</a:t>
            </a:r>
            <a:endParaRPr sz="2740"/>
          </a:p>
        </p:txBody>
      </p:sp>
      <p:pic>
        <p:nvPicPr>
          <p:cNvPr id="202" name="Google Shape;2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325" y="1282725"/>
            <a:ext cx="7746824" cy="29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8"/>
          <p:cNvSpPr/>
          <p:nvPr/>
        </p:nvSpPr>
        <p:spPr>
          <a:xfrm>
            <a:off x="4027425" y="1532275"/>
            <a:ext cx="1397700" cy="849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VLM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04" name="Google Shape;204;p38"/>
          <p:cNvSpPr/>
          <p:nvPr/>
        </p:nvSpPr>
        <p:spPr>
          <a:xfrm>
            <a:off x="2288075" y="15322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 text/images</a:t>
            </a:r>
            <a:endParaRPr/>
          </a:p>
        </p:txBody>
      </p:sp>
      <p:sp>
        <p:nvSpPr>
          <p:cNvPr id="205" name="Google Shape;205;p38"/>
          <p:cNvSpPr/>
          <p:nvPr/>
        </p:nvSpPr>
        <p:spPr>
          <a:xfrm>
            <a:off x="5735675" y="16927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 text (usually)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/>
              <a:t>What does VLM agent actually look like?</a:t>
            </a:r>
            <a:endParaRPr sz="2740"/>
          </a:p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325" y="1282725"/>
            <a:ext cx="7746824" cy="29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9"/>
          <p:cNvSpPr/>
          <p:nvPr/>
        </p:nvSpPr>
        <p:spPr>
          <a:xfrm>
            <a:off x="4027425" y="1532275"/>
            <a:ext cx="1397700" cy="849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VLM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14" name="Google Shape;214;p39"/>
          <p:cNvSpPr/>
          <p:nvPr/>
        </p:nvSpPr>
        <p:spPr>
          <a:xfrm>
            <a:off x="2288075" y="15322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 text/images</a:t>
            </a:r>
            <a:endParaRPr/>
          </a:p>
        </p:txBody>
      </p:sp>
      <p:sp>
        <p:nvSpPr>
          <p:cNvPr id="215" name="Google Shape;215;p39"/>
          <p:cNvSpPr/>
          <p:nvPr/>
        </p:nvSpPr>
        <p:spPr>
          <a:xfrm>
            <a:off x="5735675" y="16927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 text (usually)</a:t>
            </a: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750" y="2818175"/>
            <a:ext cx="2671150" cy="14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325" y="1282725"/>
            <a:ext cx="7746824" cy="29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0"/>
          <p:cNvSpPr/>
          <p:nvPr/>
        </p:nvSpPr>
        <p:spPr>
          <a:xfrm>
            <a:off x="4027425" y="1532275"/>
            <a:ext cx="1397700" cy="849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VLM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2288075" y="15322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 text/images</a:t>
            </a:r>
            <a:endParaRPr/>
          </a:p>
        </p:txBody>
      </p:sp>
      <p:sp>
        <p:nvSpPr>
          <p:cNvPr id="225" name="Google Shape;225;p40"/>
          <p:cNvSpPr/>
          <p:nvPr/>
        </p:nvSpPr>
        <p:spPr>
          <a:xfrm>
            <a:off x="5735675" y="16927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 text (usually)</a:t>
            </a:r>
            <a:endParaRPr/>
          </a:p>
        </p:txBody>
      </p:sp>
      <p:pic>
        <p:nvPicPr>
          <p:cNvPr id="226" name="Google Shape;2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750" y="2818175"/>
            <a:ext cx="2671150" cy="14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0"/>
          <p:cNvSpPr/>
          <p:nvPr/>
        </p:nvSpPr>
        <p:spPr>
          <a:xfrm>
            <a:off x="7299025" y="839600"/>
            <a:ext cx="1713300" cy="1263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translate from text to other action spaces?</a:t>
            </a:r>
            <a:endParaRPr/>
          </a:p>
        </p:txBody>
      </p:sp>
      <p:sp>
        <p:nvSpPr>
          <p:cNvPr id="228" name="Google Shape;228;p40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/>
              <a:t>What does VLM agent actually look like?</a:t>
            </a:r>
            <a:endParaRPr sz="274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235" name="Google Shape;235;p41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41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Tool (for LLM Agents)?</a:t>
            </a:r>
            <a:endParaRPr/>
          </a:p>
        </p:txBody>
      </p:sp>
      <p:sp>
        <p:nvSpPr>
          <p:cNvPr id="237" name="Google Shape;237;p41"/>
          <p:cNvSpPr txBox="1"/>
          <p:nvPr>
            <p:ph idx="1" type="body"/>
          </p:nvPr>
        </p:nvSpPr>
        <p:spPr>
          <a:xfrm>
            <a:off x="362400" y="2662750"/>
            <a:ext cx="8419200" cy="18441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63500" rtl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" sz="2300"/>
              <a:t>An LLM-used tool is a </a:t>
            </a:r>
            <a:r>
              <a:rPr b="1" lang="en" sz="2300"/>
              <a:t>function</a:t>
            </a:r>
            <a:r>
              <a:rPr lang="en" sz="2300"/>
              <a:t> interface to a computer program that runs </a:t>
            </a:r>
            <a:r>
              <a:rPr b="1" lang="en" sz="2300"/>
              <a:t>external</a:t>
            </a:r>
            <a:r>
              <a:rPr lang="en" sz="2300"/>
              <a:t> to the LLM, where the LLM </a:t>
            </a:r>
            <a:r>
              <a:rPr b="1" lang="en" sz="2300"/>
              <a:t>generates the function calls</a:t>
            </a:r>
            <a:r>
              <a:rPr lang="en" sz="2300"/>
              <a:t> and input </a:t>
            </a:r>
            <a:r>
              <a:rPr b="1" lang="en" sz="2300"/>
              <a:t>arguments</a:t>
            </a:r>
            <a:r>
              <a:rPr lang="en" sz="2300"/>
              <a:t> in order to use the tool.</a:t>
            </a:r>
            <a:endParaRPr sz="1900"/>
          </a:p>
        </p:txBody>
      </p:sp>
      <p:sp>
        <p:nvSpPr>
          <p:cNvPr id="238" name="Google Shape;238;p41"/>
          <p:cNvSpPr txBox="1"/>
          <p:nvPr/>
        </p:nvSpPr>
        <p:spPr>
          <a:xfrm>
            <a:off x="6593312" y="4577713"/>
            <a:ext cx="262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 credit: Graham Neubig</a:t>
            </a:r>
            <a:endParaRPr sz="1500">
              <a:solidFill>
                <a:srgbClr val="3F3F3F"/>
              </a:solidFill>
            </a:endParaRPr>
          </a:p>
        </p:txBody>
      </p:sp>
      <p:grpSp>
        <p:nvGrpSpPr>
          <p:cNvPr id="239" name="Google Shape;239;p41"/>
          <p:cNvGrpSpPr/>
          <p:nvPr/>
        </p:nvGrpSpPr>
        <p:grpSpPr>
          <a:xfrm>
            <a:off x="6537842" y="994986"/>
            <a:ext cx="2294143" cy="1397788"/>
            <a:chOff x="9298595" y="1886944"/>
            <a:chExt cx="3262897" cy="2650841"/>
          </a:xfrm>
        </p:grpSpPr>
        <p:pic>
          <p:nvPicPr>
            <p:cNvPr id="240" name="Google Shape;240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8595" y="1886944"/>
              <a:ext cx="3262897" cy="265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39254" y="2347406"/>
              <a:ext cx="1040384" cy="10403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4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008552" y="2191335"/>
              <a:ext cx="780288" cy="780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4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008552" y="3262642"/>
              <a:ext cx="780288" cy="780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41"/>
            <p:cNvSpPr/>
            <p:nvPr/>
          </p:nvSpPr>
          <p:spPr>
            <a:xfrm>
              <a:off x="9669885" y="2581479"/>
              <a:ext cx="339090" cy="1047750"/>
            </a:xfrm>
            <a:custGeom>
              <a:rect b="b" l="l" r="r" t="t"/>
              <a:pathLst>
                <a:path extrusionOk="0" h="1047750" w="339090">
                  <a:moveTo>
                    <a:pt x="338666" y="0"/>
                  </a:moveTo>
                  <a:lnTo>
                    <a:pt x="271334" y="13649"/>
                  </a:lnTo>
                  <a:lnTo>
                    <a:pt x="206410" y="52060"/>
                  </a:lnTo>
                  <a:lnTo>
                    <a:pt x="175604" y="79359"/>
                  </a:lnTo>
                  <a:lnTo>
                    <a:pt x="146303" y="111421"/>
                  </a:lnTo>
                  <a:lnTo>
                    <a:pt x="118809" y="147768"/>
                  </a:lnTo>
                  <a:lnTo>
                    <a:pt x="93421" y="187924"/>
                  </a:lnTo>
                  <a:lnTo>
                    <a:pt x="70442" y="231413"/>
                  </a:lnTo>
                  <a:lnTo>
                    <a:pt x="50172" y="277759"/>
                  </a:lnTo>
                  <a:lnTo>
                    <a:pt x="32913" y="326487"/>
                  </a:lnTo>
                  <a:lnTo>
                    <a:pt x="18965" y="377118"/>
                  </a:lnTo>
                  <a:lnTo>
                    <a:pt x="8629" y="429178"/>
                  </a:lnTo>
                  <a:lnTo>
                    <a:pt x="2207" y="482191"/>
                  </a:lnTo>
                  <a:lnTo>
                    <a:pt x="0" y="535680"/>
                  </a:lnTo>
                  <a:lnTo>
                    <a:pt x="2227" y="589348"/>
                  </a:lnTo>
                  <a:lnTo>
                    <a:pt x="8708" y="642535"/>
                  </a:lnTo>
                  <a:lnTo>
                    <a:pt x="19136" y="694760"/>
                  </a:lnTo>
                  <a:lnTo>
                    <a:pt x="33207" y="745542"/>
                  </a:lnTo>
                  <a:lnTo>
                    <a:pt x="50616" y="794400"/>
                  </a:lnTo>
                  <a:lnTo>
                    <a:pt x="71059" y="840853"/>
                  </a:lnTo>
                  <a:lnTo>
                    <a:pt x="94229" y="884421"/>
                  </a:lnTo>
                  <a:lnTo>
                    <a:pt x="119823" y="924621"/>
                  </a:lnTo>
                  <a:lnTo>
                    <a:pt x="147536" y="960974"/>
                  </a:lnTo>
                  <a:lnTo>
                    <a:pt x="177063" y="992998"/>
                  </a:lnTo>
                  <a:lnTo>
                    <a:pt x="208098" y="1020212"/>
                  </a:lnTo>
                  <a:lnTo>
                    <a:pt x="240338" y="1042135"/>
                  </a:lnTo>
                  <a:lnTo>
                    <a:pt x="258630" y="1047525"/>
                  </a:lnTo>
                </a:path>
              </a:pathLst>
            </a:custGeom>
            <a:noFill/>
            <a:ln cap="flat" cmpd="sng" w="245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245" name="Google Shape;245;p41"/>
            <p:cNvSpPr/>
            <p:nvPr/>
          </p:nvSpPr>
          <p:spPr>
            <a:xfrm>
              <a:off x="9877183" y="3561261"/>
              <a:ext cx="132715" cy="115570"/>
            </a:xfrm>
            <a:custGeom>
              <a:rect b="b" l="l" r="r" t="t"/>
              <a:pathLst>
                <a:path extrusionOk="0" h="115570" w="132715">
                  <a:moveTo>
                    <a:pt x="33957" y="0"/>
                  </a:moveTo>
                  <a:lnTo>
                    <a:pt x="55393" y="68939"/>
                  </a:lnTo>
                  <a:lnTo>
                    <a:pt x="0" y="115242"/>
                  </a:lnTo>
                  <a:lnTo>
                    <a:pt x="132222" y="91578"/>
                  </a:lnTo>
                  <a:lnTo>
                    <a:pt x="33957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325" y="1282725"/>
            <a:ext cx="7746824" cy="29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2"/>
          <p:cNvSpPr/>
          <p:nvPr/>
        </p:nvSpPr>
        <p:spPr>
          <a:xfrm>
            <a:off x="4027425" y="1532275"/>
            <a:ext cx="1397700" cy="849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VLM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2288075" y="15322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 text/images</a:t>
            </a:r>
            <a:endParaRPr/>
          </a:p>
        </p:txBody>
      </p:sp>
      <p:sp>
        <p:nvSpPr>
          <p:cNvPr id="254" name="Google Shape;254;p42"/>
          <p:cNvSpPr/>
          <p:nvPr/>
        </p:nvSpPr>
        <p:spPr>
          <a:xfrm>
            <a:off x="5735675" y="16927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 text (usually)</a:t>
            </a:r>
            <a:endParaRPr/>
          </a:p>
        </p:txBody>
      </p:sp>
      <p:pic>
        <p:nvPicPr>
          <p:cNvPr id="255" name="Google Shape;25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750" y="2818175"/>
            <a:ext cx="2671150" cy="14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2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Tool (for LLM Agents)?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325" y="1282725"/>
            <a:ext cx="7746824" cy="29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3"/>
          <p:cNvSpPr/>
          <p:nvPr/>
        </p:nvSpPr>
        <p:spPr>
          <a:xfrm>
            <a:off x="4027425" y="1532275"/>
            <a:ext cx="1397700" cy="849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VLM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64" name="Google Shape;264;p43"/>
          <p:cNvSpPr/>
          <p:nvPr/>
        </p:nvSpPr>
        <p:spPr>
          <a:xfrm>
            <a:off x="2288075" y="15322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 text/images</a:t>
            </a:r>
            <a:endParaRPr/>
          </a:p>
        </p:txBody>
      </p:sp>
      <p:sp>
        <p:nvSpPr>
          <p:cNvPr id="265" name="Google Shape;265;p43"/>
          <p:cNvSpPr/>
          <p:nvPr/>
        </p:nvSpPr>
        <p:spPr>
          <a:xfrm>
            <a:off x="5735675" y="16927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 text (usually)</a:t>
            </a:r>
            <a:endParaRPr/>
          </a:p>
        </p:txBody>
      </p:sp>
      <p:pic>
        <p:nvPicPr>
          <p:cNvPr id="266" name="Google Shape;26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750" y="2818175"/>
            <a:ext cx="2671150" cy="14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3"/>
          <p:cNvSpPr/>
          <p:nvPr/>
        </p:nvSpPr>
        <p:spPr>
          <a:xfrm>
            <a:off x="6384815" y="3375000"/>
            <a:ext cx="2587500" cy="939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move_human(direction=left, duration_sec=1)</a:t>
            </a:r>
            <a:endParaRPr/>
          </a:p>
        </p:txBody>
      </p:sp>
      <p:sp>
        <p:nvSpPr>
          <p:cNvPr id="268" name="Google Shape;268;p43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Tool (for LLM Agents)?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325" y="1282725"/>
            <a:ext cx="7746824" cy="29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4"/>
          <p:cNvSpPr/>
          <p:nvPr/>
        </p:nvSpPr>
        <p:spPr>
          <a:xfrm>
            <a:off x="4027425" y="1532275"/>
            <a:ext cx="1397700" cy="849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VLM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76" name="Google Shape;276;p44"/>
          <p:cNvSpPr/>
          <p:nvPr/>
        </p:nvSpPr>
        <p:spPr>
          <a:xfrm>
            <a:off x="2288075" y="15322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 text/images</a:t>
            </a:r>
            <a:endParaRPr/>
          </a:p>
        </p:txBody>
      </p:sp>
      <p:sp>
        <p:nvSpPr>
          <p:cNvPr id="277" name="Google Shape;277;p44"/>
          <p:cNvSpPr/>
          <p:nvPr/>
        </p:nvSpPr>
        <p:spPr>
          <a:xfrm>
            <a:off x="5735675" y="16927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 text (usually)</a:t>
            </a:r>
            <a:endParaRPr/>
          </a:p>
        </p:txBody>
      </p:sp>
      <p:pic>
        <p:nvPicPr>
          <p:cNvPr id="278" name="Google Shape;27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750" y="2818175"/>
            <a:ext cx="2671150" cy="14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4"/>
          <p:cNvSpPr/>
          <p:nvPr/>
        </p:nvSpPr>
        <p:spPr>
          <a:xfrm>
            <a:off x="6384815" y="3375000"/>
            <a:ext cx="2587500" cy="939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move_human(direction=left, duration_sec=1)</a:t>
            </a:r>
            <a:endParaRPr/>
          </a:p>
        </p:txBody>
      </p:sp>
      <p:cxnSp>
        <p:nvCxnSpPr>
          <p:cNvPr id="280" name="Google Shape;280;p44"/>
          <p:cNvCxnSpPr/>
          <p:nvPr/>
        </p:nvCxnSpPr>
        <p:spPr>
          <a:xfrm rot="10800000">
            <a:off x="8019625" y="1281800"/>
            <a:ext cx="141300" cy="209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81" name="Google Shape;281;p44"/>
          <p:cNvSpPr txBox="1"/>
          <p:nvPr/>
        </p:nvSpPr>
        <p:spPr>
          <a:xfrm>
            <a:off x="6561675" y="658525"/>
            <a:ext cx="286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Output of LLM is in space of text (easy for LLM/VLM to generate)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282" name="Google Shape;282;p44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Tool (for LLM Agents)?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325" y="1282725"/>
            <a:ext cx="7746824" cy="29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5"/>
          <p:cNvSpPr/>
          <p:nvPr/>
        </p:nvSpPr>
        <p:spPr>
          <a:xfrm>
            <a:off x="4027425" y="1532275"/>
            <a:ext cx="1397700" cy="849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VLM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90" name="Google Shape;290;p45"/>
          <p:cNvSpPr/>
          <p:nvPr/>
        </p:nvSpPr>
        <p:spPr>
          <a:xfrm>
            <a:off x="2288075" y="15322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 text/images</a:t>
            </a:r>
            <a:endParaRPr/>
          </a:p>
        </p:txBody>
      </p:sp>
      <p:sp>
        <p:nvSpPr>
          <p:cNvPr id="291" name="Google Shape;291;p45"/>
          <p:cNvSpPr/>
          <p:nvPr/>
        </p:nvSpPr>
        <p:spPr>
          <a:xfrm>
            <a:off x="5735675" y="1692775"/>
            <a:ext cx="1252800" cy="528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 text (usually)</a:t>
            </a:r>
            <a:endParaRPr/>
          </a:p>
        </p:txBody>
      </p:sp>
      <p:pic>
        <p:nvPicPr>
          <p:cNvPr id="292" name="Google Shape;29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750" y="2818175"/>
            <a:ext cx="2671150" cy="14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5"/>
          <p:cNvSpPr/>
          <p:nvPr/>
        </p:nvSpPr>
        <p:spPr>
          <a:xfrm>
            <a:off x="6384815" y="3375000"/>
            <a:ext cx="2587500" cy="939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move_human(direction=left, duration_sec=1)</a:t>
            </a:r>
            <a:endParaRPr/>
          </a:p>
        </p:txBody>
      </p:sp>
      <p:cxnSp>
        <p:nvCxnSpPr>
          <p:cNvPr id="294" name="Google Shape;294;p45"/>
          <p:cNvCxnSpPr/>
          <p:nvPr/>
        </p:nvCxnSpPr>
        <p:spPr>
          <a:xfrm rot="10800000">
            <a:off x="8019625" y="1281800"/>
            <a:ext cx="141300" cy="209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95" name="Google Shape;295;p45"/>
          <p:cNvSpPr txBox="1"/>
          <p:nvPr/>
        </p:nvSpPr>
        <p:spPr>
          <a:xfrm>
            <a:off x="6561675" y="658525"/>
            <a:ext cx="286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Output of LLM is in space of text (easy for LLM/VLM to generate)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296" name="Google Shape;296;p45"/>
          <p:cNvSpPr txBox="1"/>
          <p:nvPr/>
        </p:nvSpPr>
        <p:spPr>
          <a:xfrm>
            <a:off x="1834450" y="4314000"/>
            <a:ext cx="515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Tool call and parameters gives information needed by external tool to </a:t>
            </a:r>
            <a:r>
              <a:rPr lang="en" sz="1500">
                <a:solidFill>
                  <a:srgbClr val="3F3F3F"/>
                </a:solidFill>
              </a:rPr>
              <a:t>execute</a:t>
            </a:r>
            <a:r>
              <a:rPr lang="en" sz="1500">
                <a:solidFill>
                  <a:srgbClr val="3F3F3F"/>
                </a:solidFill>
              </a:rPr>
              <a:t> in the environment</a:t>
            </a:r>
            <a:endParaRPr sz="1500">
              <a:solidFill>
                <a:srgbClr val="3F3F3F"/>
              </a:solidFill>
            </a:endParaRPr>
          </a:p>
        </p:txBody>
      </p:sp>
      <p:cxnSp>
        <p:nvCxnSpPr>
          <p:cNvPr id="297" name="Google Shape;297;p45"/>
          <p:cNvCxnSpPr>
            <a:stCxn id="293" idx="2"/>
          </p:cNvCxnSpPr>
          <p:nvPr/>
        </p:nvCxnSpPr>
        <p:spPr>
          <a:xfrm flipH="1">
            <a:off x="6514565" y="4314000"/>
            <a:ext cx="1164000" cy="3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98" name="Google Shape;298;p45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Tool (for LLM Agents)?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6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305" name="Google Shape;305;p46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46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Tool Functionalities</a:t>
            </a:r>
            <a:endParaRPr/>
          </a:p>
        </p:txBody>
      </p:sp>
      <p:sp>
        <p:nvSpPr>
          <p:cNvPr id="307" name="Google Shape;307;p46"/>
          <p:cNvSpPr txBox="1"/>
          <p:nvPr/>
        </p:nvSpPr>
        <p:spPr>
          <a:xfrm>
            <a:off x="6593312" y="4577713"/>
            <a:ext cx="262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 credit: Graham Neubig</a:t>
            </a:r>
            <a:endParaRPr sz="1500">
              <a:solidFill>
                <a:srgbClr val="3F3F3F"/>
              </a:solidFill>
            </a:endParaRPr>
          </a:p>
        </p:txBody>
      </p:sp>
      <p:pic>
        <p:nvPicPr>
          <p:cNvPr id="308" name="Google Shape;30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887" y="2381910"/>
            <a:ext cx="194221" cy="19422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6"/>
          <p:cNvSpPr txBox="1"/>
          <p:nvPr/>
        </p:nvSpPr>
        <p:spPr>
          <a:xfrm>
            <a:off x="311700" y="2284404"/>
            <a:ext cx="6047700" cy="375600"/>
          </a:xfrm>
          <a:prstGeom prst="rect">
            <a:avLst/>
          </a:prstGeom>
          <a:noFill/>
          <a:ln cap="flat" cmpd="sng" w="81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2250">
            <a:spAutoFit/>
          </a:bodyPr>
          <a:lstStyle/>
          <a:p>
            <a:pPr indent="0" lvl="0" marL="444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595959"/>
                </a:solidFill>
                <a:latin typeface="Georgia"/>
                <a:ea typeface="Georgia"/>
                <a:cs typeface="Georgia"/>
                <a:sym typeface="Georgia"/>
              </a:rPr>
              <a:t>Perception: collect data from the env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310" name="Google Shape;310;p46"/>
          <p:cNvGrpSpPr/>
          <p:nvPr/>
        </p:nvGrpSpPr>
        <p:grpSpPr>
          <a:xfrm>
            <a:off x="311688" y="2798521"/>
            <a:ext cx="6047416" cy="400463"/>
            <a:chOff x="443306" y="5307266"/>
            <a:chExt cx="8601075" cy="759460"/>
          </a:xfrm>
        </p:grpSpPr>
        <p:sp>
          <p:nvSpPr>
            <p:cNvPr id="311" name="Google Shape;311;p46"/>
            <p:cNvSpPr/>
            <p:nvPr/>
          </p:nvSpPr>
          <p:spPr>
            <a:xfrm>
              <a:off x="443306" y="5307266"/>
              <a:ext cx="8601075" cy="759460"/>
            </a:xfrm>
            <a:custGeom>
              <a:rect b="b" l="l" r="r" t="t"/>
              <a:pathLst>
                <a:path extrusionOk="0" h="759460" w="8601075">
                  <a:moveTo>
                    <a:pt x="0" y="0"/>
                  </a:moveTo>
                  <a:lnTo>
                    <a:pt x="8600747" y="0"/>
                  </a:lnTo>
                  <a:lnTo>
                    <a:pt x="8600747" y="759040"/>
                  </a:lnTo>
                  <a:lnTo>
                    <a:pt x="0" y="75904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817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pic>
          <p:nvPicPr>
            <p:cNvPr id="312" name="Google Shape;312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1388" y="5492166"/>
              <a:ext cx="161131" cy="368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3" name="Google Shape;313;p46"/>
          <p:cNvSpPr txBox="1"/>
          <p:nvPr/>
        </p:nvSpPr>
        <p:spPr>
          <a:xfrm>
            <a:off x="784908" y="2859558"/>
            <a:ext cx="4458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595959"/>
                </a:solidFill>
                <a:latin typeface="Georgia"/>
                <a:ea typeface="Georgia"/>
                <a:cs typeface="Georgia"/>
                <a:sym typeface="Georgia"/>
              </a:rPr>
              <a:t>Action: exert actions, change env state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14" name="Google Shape;314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887" y="3410609"/>
            <a:ext cx="194221" cy="19422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6"/>
          <p:cNvSpPr txBox="1"/>
          <p:nvPr/>
        </p:nvSpPr>
        <p:spPr>
          <a:xfrm>
            <a:off x="311700" y="3313104"/>
            <a:ext cx="6047700" cy="375600"/>
          </a:xfrm>
          <a:prstGeom prst="rect">
            <a:avLst/>
          </a:prstGeom>
          <a:noFill/>
          <a:ln cap="flat" cmpd="sng" w="81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2250">
            <a:spAutoFit/>
          </a:bodyPr>
          <a:lstStyle/>
          <a:p>
            <a:pPr indent="0" lvl="0" marL="444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595959"/>
                </a:solidFill>
                <a:latin typeface="Georgia"/>
                <a:ea typeface="Georgia"/>
                <a:cs typeface="Georgia"/>
                <a:sym typeface="Georgia"/>
              </a:rPr>
              <a:t>Computation: general acts of computing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6" name="Google Shape;316;p46"/>
          <p:cNvSpPr txBox="1"/>
          <p:nvPr/>
        </p:nvSpPr>
        <p:spPr>
          <a:xfrm>
            <a:off x="6954057" y="2794622"/>
            <a:ext cx="14319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600">
                <a:solidFill>
                  <a:srgbClr val="38761D"/>
                </a:solidFill>
                <a:latin typeface="Georgia"/>
                <a:ea typeface="Georgia"/>
                <a:cs typeface="Georgia"/>
                <a:sym typeface="Georgia"/>
              </a:rPr>
              <a:t>Tools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317" name="Google Shape;317;p46"/>
          <p:cNvGrpSpPr/>
          <p:nvPr/>
        </p:nvGrpSpPr>
        <p:grpSpPr>
          <a:xfrm>
            <a:off x="5720871" y="2487843"/>
            <a:ext cx="1046829" cy="1021749"/>
            <a:chOff x="8136639" y="4718079"/>
            <a:chExt cx="1488876" cy="1937700"/>
          </a:xfrm>
        </p:grpSpPr>
        <p:sp>
          <p:nvSpPr>
            <p:cNvPr id="318" name="Google Shape;318;p46"/>
            <p:cNvSpPr/>
            <p:nvPr/>
          </p:nvSpPr>
          <p:spPr>
            <a:xfrm>
              <a:off x="8136639" y="5776687"/>
              <a:ext cx="1331595" cy="13335"/>
            </a:xfrm>
            <a:custGeom>
              <a:rect b="b" l="l" r="r" t="t"/>
              <a:pathLst>
                <a:path extrusionOk="0" h="13335" w="1331595">
                  <a:moveTo>
                    <a:pt x="0" y="13267"/>
                  </a:moveTo>
                  <a:lnTo>
                    <a:pt x="1305920" y="253"/>
                  </a:lnTo>
                  <a:lnTo>
                    <a:pt x="1331319" y="0"/>
                  </a:lnTo>
                </a:path>
              </a:pathLst>
            </a:custGeom>
            <a:noFill/>
            <a:ln cap="flat" cmpd="sng" w="327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319" name="Google Shape;319;p46"/>
            <p:cNvSpPr/>
            <p:nvPr/>
          </p:nvSpPr>
          <p:spPr>
            <a:xfrm>
              <a:off x="9471430" y="5700195"/>
              <a:ext cx="153670" cy="153035"/>
            </a:xfrm>
            <a:custGeom>
              <a:rect b="b" l="l" r="r" t="t"/>
              <a:pathLst>
                <a:path extrusionOk="0" h="153035" w="153670">
                  <a:moveTo>
                    <a:pt x="0" y="0"/>
                  </a:moveTo>
                  <a:lnTo>
                    <a:pt x="1524" y="152900"/>
                  </a:lnTo>
                  <a:lnTo>
                    <a:pt x="153662" y="74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320" name="Google Shape;320;p46"/>
            <p:cNvSpPr/>
            <p:nvPr/>
          </p:nvSpPr>
          <p:spPr>
            <a:xfrm>
              <a:off x="9037996" y="4718079"/>
              <a:ext cx="511175" cy="920114"/>
            </a:xfrm>
            <a:custGeom>
              <a:rect b="b" l="l" r="r" t="t"/>
              <a:pathLst>
                <a:path extrusionOk="0" h="920114" w="511175">
                  <a:moveTo>
                    <a:pt x="0" y="0"/>
                  </a:moveTo>
                  <a:lnTo>
                    <a:pt x="498367" y="897420"/>
                  </a:lnTo>
                  <a:lnTo>
                    <a:pt x="510698" y="919625"/>
                  </a:lnTo>
                </a:path>
              </a:pathLst>
            </a:custGeom>
            <a:noFill/>
            <a:ln cap="flat" cmpd="sng" w="327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321" name="Google Shape;321;p46"/>
            <p:cNvSpPr/>
            <p:nvPr/>
          </p:nvSpPr>
          <p:spPr>
            <a:xfrm>
              <a:off x="9483911" y="5604290"/>
              <a:ext cx="141604" cy="170814"/>
            </a:xfrm>
            <a:custGeom>
              <a:rect b="b" l="l" r="r" t="t"/>
              <a:pathLst>
                <a:path extrusionOk="0" h="170814" w="141604">
                  <a:moveTo>
                    <a:pt x="133678" y="0"/>
                  </a:moveTo>
                  <a:lnTo>
                    <a:pt x="0" y="74235"/>
                  </a:lnTo>
                  <a:lnTo>
                    <a:pt x="141075" y="170795"/>
                  </a:lnTo>
                  <a:lnTo>
                    <a:pt x="133678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322" name="Google Shape;322;p46"/>
            <p:cNvSpPr/>
            <p:nvPr/>
          </p:nvSpPr>
          <p:spPr>
            <a:xfrm>
              <a:off x="9037996" y="5905845"/>
              <a:ext cx="500379" cy="749934"/>
            </a:xfrm>
            <a:custGeom>
              <a:rect b="b" l="l" r="r" t="t"/>
              <a:pathLst>
                <a:path extrusionOk="0" h="749934" w="500379">
                  <a:moveTo>
                    <a:pt x="0" y="749937"/>
                  </a:moveTo>
                  <a:lnTo>
                    <a:pt x="485750" y="21135"/>
                  </a:lnTo>
                  <a:lnTo>
                    <a:pt x="499837" y="0"/>
                  </a:lnTo>
                </a:path>
              </a:pathLst>
            </a:custGeom>
            <a:noFill/>
            <a:ln cap="flat" cmpd="sng" w="327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9476564" y="5775086"/>
              <a:ext cx="148590" cy="170179"/>
            </a:xfrm>
            <a:custGeom>
              <a:rect b="b" l="l" r="r" t="t"/>
              <a:pathLst>
                <a:path extrusionOk="0" h="170179" w="148590">
                  <a:moveTo>
                    <a:pt x="148422" y="0"/>
                  </a:moveTo>
                  <a:lnTo>
                    <a:pt x="0" y="84834"/>
                  </a:lnTo>
                  <a:lnTo>
                    <a:pt x="127236" y="169638"/>
                  </a:lnTo>
                  <a:lnTo>
                    <a:pt x="148422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  <p:grpSp>
        <p:nvGrpSpPr>
          <p:cNvPr id="324" name="Google Shape;324;p46"/>
          <p:cNvGrpSpPr/>
          <p:nvPr/>
        </p:nvGrpSpPr>
        <p:grpSpPr>
          <a:xfrm>
            <a:off x="6605816" y="560091"/>
            <a:ext cx="2469575" cy="1402790"/>
            <a:chOff x="9395272" y="1062187"/>
            <a:chExt cx="3512410" cy="2660326"/>
          </a:xfrm>
        </p:grpSpPr>
        <p:pic>
          <p:nvPicPr>
            <p:cNvPr id="325" name="Google Shape;325;p4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395272" y="1062187"/>
              <a:ext cx="3264204" cy="2660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4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477155" y="1221906"/>
              <a:ext cx="1430527" cy="14305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155092" y="1221902"/>
              <a:ext cx="845312" cy="845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637226" y="2771875"/>
              <a:ext cx="715264" cy="7152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46"/>
            <p:cNvSpPr/>
            <p:nvPr/>
          </p:nvSpPr>
          <p:spPr>
            <a:xfrm>
              <a:off x="10416083" y="1633740"/>
              <a:ext cx="1072515" cy="1144905"/>
            </a:xfrm>
            <a:custGeom>
              <a:rect b="b" l="l" r="r" t="t"/>
              <a:pathLst>
                <a:path extrusionOk="0" h="1144905" w="1072515">
                  <a:moveTo>
                    <a:pt x="1071905" y="309930"/>
                  </a:moveTo>
                  <a:lnTo>
                    <a:pt x="1061173" y="303745"/>
                  </a:lnTo>
                  <a:lnTo>
                    <a:pt x="1061008" y="303339"/>
                  </a:lnTo>
                  <a:lnTo>
                    <a:pt x="1067549" y="292696"/>
                  </a:lnTo>
                  <a:lnTo>
                    <a:pt x="590956" y="0"/>
                  </a:lnTo>
                  <a:lnTo>
                    <a:pt x="577672" y="21640"/>
                  </a:lnTo>
                  <a:lnTo>
                    <a:pt x="1033297" y="301485"/>
                  </a:lnTo>
                  <a:lnTo>
                    <a:pt x="0" y="746950"/>
                  </a:lnTo>
                  <a:lnTo>
                    <a:pt x="10045" y="770280"/>
                  </a:lnTo>
                  <a:lnTo>
                    <a:pt x="1030859" y="330200"/>
                  </a:lnTo>
                  <a:lnTo>
                    <a:pt x="567778" y="1131785"/>
                  </a:lnTo>
                  <a:lnTo>
                    <a:pt x="589762" y="1144498"/>
                  </a:lnTo>
                  <a:lnTo>
                    <a:pt x="1071905" y="30993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pic>
          <p:nvPicPr>
            <p:cNvPr id="330" name="Google Shape;330;p4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0572196" y="1753049"/>
              <a:ext cx="910336" cy="9103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4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640825" y="2002204"/>
              <a:ext cx="780287" cy="780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4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496218" y="2512492"/>
              <a:ext cx="260070" cy="2593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4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710599" y="2771865"/>
              <a:ext cx="260070" cy="2593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46"/>
            <p:cNvSpPr/>
            <p:nvPr/>
          </p:nvSpPr>
          <p:spPr>
            <a:xfrm>
              <a:off x="9626253" y="2771860"/>
              <a:ext cx="85090" cy="130175"/>
            </a:xfrm>
            <a:custGeom>
              <a:rect b="b" l="l" r="r" t="t"/>
              <a:pathLst>
                <a:path extrusionOk="0" h="130175" w="85090">
                  <a:moveTo>
                    <a:pt x="0" y="0"/>
                  </a:moveTo>
                  <a:lnTo>
                    <a:pt x="7259" y="47626"/>
                  </a:lnTo>
                  <a:lnTo>
                    <a:pt x="26399" y="89173"/>
                  </a:lnTo>
                  <a:lnTo>
                    <a:pt x="53459" y="118559"/>
                  </a:lnTo>
                  <a:lnTo>
                    <a:pt x="84479" y="129706"/>
                  </a:lnTo>
                </a:path>
              </a:pathLst>
            </a:custGeom>
            <a:noFill/>
            <a:ln cap="flat" cmpd="sng" w="81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Use Scenarios</a:t>
            </a:r>
            <a:endParaRPr/>
          </a:p>
        </p:txBody>
      </p:sp>
      <p:sp>
        <p:nvSpPr>
          <p:cNvPr id="341" name="Google Shape;341;p47"/>
          <p:cNvSpPr txBox="1"/>
          <p:nvPr/>
        </p:nvSpPr>
        <p:spPr>
          <a:xfrm>
            <a:off x="6593312" y="4577713"/>
            <a:ext cx="262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 credit: Graham Neubig</a:t>
            </a:r>
            <a:endParaRPr sz="1500">
              <a:solidFill>
                <a:srgbClr val="3F3F3F"/>
              </a:solidFill>
            </a:endParaRPr>
          </a:p>
        </p:txBody>
      </p:sp>
      <p:pic>
        <p:nvPicPr>
          <p:cNvPr id="342" name="Google Shape;34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746" y="938428"/>
            <a:ext cx="6511852" cy="363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Use Scenarios</a:t>
            </a:r>
            <a:endParaRPr/>
          </a:p>
        </p:txBody>
      </p:sp>
      <p:sp>
        <p:nvSpPr>
          <p:cNvPr id="349" name="Google Shape;349;p48"/>
          <p:cNvSpPr txBox="1"/>
          <p:nvPr/>
        </p:nvSpPr>
        <p:spPr>
          <a:xfrm>
            <a:off x="6593312" y="4577713"/>
            <a:ext cx="262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 credit: Graham Neubig</a:t>
            </a:r>
            <a:endParaRPr sz="1500">
              <a:solidFill>
                <a:srgbClr val="3F3F3F"/>
              </a:solidFill>
            </a:endParaRPr>
          </a:p>
        </p:txBody>
      </p:sp>
      <p:pic>
        <p:nvPicPr>
          <p:cNvPr id="350" name="Google Shape;35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746" y="938428"/>
            <a:ext cx="6511852" cy="363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8"/>
          <p:cNvSpPr/>
          <p:nvPr/>
        </p:nvSpPr>
        <p:spPr>
          <a:xfrm>
            <a:off x="7549450" y="938425"/>
            <a:ext cx="1493400" cy="896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Retrieval</a:t>
            </a:r>
            <a:r>
              <a:rPr lang="en"/>
              <a:t> can be thought of as a tool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Recall: Retrieval as an agent tool</a:t>
            </a:r>
            <a:endParaRPr sz="2740"/>
          </a:p>
        </p:txBody>
      </p:sp>
      <p:pic>
        <p:nvPicPr>
          <p:cNvPr id="358" name="Google Shape;358;p49" title="Screenshot 2026-01-24 at 3.56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50" y="1120900"/>
            <a:ext cx="6047623" cy="341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4400" y="1880225"/>
            <a:ext cx="2281651" cy="228165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9"/>
          <p:cNvSpPr txBox="1"/>
          <p:nvPr/>
        </p:nvSpPr>
        <p:spPr>
          <a:xfrm>
            <a:off x="7489800" y="1274575"/>
            <a:ext cx="16542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3F3F3F"/>
                </a:solidFill>
              </a:rPr>
              <a:t>?</a:t>
            </a:r>
            <a:endParaRPr sz="49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Custom Tools for Env</a:t>
            </a:r>
            <a:endParaRPr/>
          </a:p>
        </p:txBody>
      </p:sp>
      <p:pic>
        <p:nvPicPr>
          <p:cNvPr id="367" name="Google Shape;36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875" y="1645525"/>
            <a:ext cx="3841200" cy="21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0"/>
          <p:cNvSpPr txBox="1"/>
          <p:nvPr/>
        </p:nvSpPr>
        <p:spPr>
          <a:xfrm>
            <a:off x="5051900" y="1999075"/>
            <a:ext cx="3892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move_agent()</a:t>
            </a:r>
            <a:endParaRPr sz="15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jump()</a:t>
            </a:r>
            <a:endParaRPr sz="15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check_inventory()</a:t>
            </a:r>
            <a:endParaRPr sz="15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get_enemy_location()</a:t>
            </a:r>
            <a:endParaRPr sz="15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get_item_location()</a:t>
            </a:r>
            <a:endParaRPr sz="15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1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Models Can Be Tools</a:t>
            </a:r>
            <a:endParaRPr/>
          </a:p>
        </p:txBody>
      </p:sp>
      <p:sp>
        <p:nvSpPr>
          <p:cNvPr id="375" name="Google Shape;375;p51"/>
          <p:cNvSpPr txBox="1"/>
          <p:nvPr>
            <p:ph idx="1" type="body"/>
          </p:nvPr>
        </p:nvSpPr>
        <p:spPr>
          <a:xfrm>
            <a:off x="5197575" y="1199450"/>
            <a:ext cx="3897900" cy="34401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call_vlm_detector()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Returns: </a:t>
            </a:r>
            <a:endParaRPr sz="2300"/>
          </a:p>
          <a:p>
            <a:pPr indent="0" lvl="0" marL="635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300"/>
              <a:t>person (50, 50, 100, 100)</a:t>
            </a:r>
            <a:endParaRPr sz="2300"/>
          </a:p>
          <a:p>
            <a:pPr indent="0" lvl="0" marL="635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300"/>
              <a:t>s</a:t>
            </a:r>
            <a:r>
              <a:rPr lang="en" sz="2300"/>
              <a:t>kull (200, 100, 250, 150)</a:t>
            </a:r>
            <a:endParaRPr sz="2300"/>
          </a:p>
          <a:p>
            <a:pPr indent="0" lvl="0" marL="63500" rtl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" sz="2300"/>
              <a:t>k</a:t>
            </a:r>
            <a:r>
              <a:rPr lang="en" sz="2300"/>
              <a:t>ey (25, 100, 75, 150)</a:t>
            </a:r>
            <a:endParaRPr sz="2300"/>
          </a:p>
        </p:txBody>
      </p:sp>
      <p:pic>
        <p:nvPicPr>
          <p:cNvPr id="376" name="Google Shape;37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200" y="1496225"/>
            <a:ext cx="3841200" cy="21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1"/>
          <p:cNvSpPr/>
          <p:nvPr/>
        </p:nvSpPr>
        <p:spPr>
          <a:xfrm>
            <a:off x="1434125" y="1732100"/>
            <a:ext cx="552600" cy="57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1"/>
          <p:cNvSpPr/>
          <p:nvPr/>
        </p:nvSpPr>
        <p:spPr>
          <a:xfrm>
            <a:off x="881519" y="2156048"/>
            <a:ext cx="552600" cy="57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1"/>
          <p:cNvSpPr/>
          <p:nvPr/>
        </p:nvSpPr>
        <p:spPr>
          <a:xfrm>
            <a:off x="2127525" y="3014000"/>
            <a:ext cx="552600" cy="57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2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Models Can Be Tools</a:t>
            </a:r>
            <a:endParaRPr/>
          </a:p>
        </p:txBody>
      </p:sp>
      <p:sp>
        <p:nvSpPr>
          <p:cNvPr id="386" name="Google Shape;386;p52"/>
          <p:cNvSpPr txBox="1"/>
          <p:nvPr>
            <p:ph idx="1" type="body"/>
          </p:nvPr>
        </p:nvSpPr>
        <p:spPr>
          <a:xfrm>
            <a:off x="5197575" y="1199450"/>
            <a:ext cx="3897900" cy="34401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planner_llm</a:t>
            </a:r>
            <a:r>
              <a:rPr lang="en" sz="2300"/>
              <a:t>()</a:t>
            </a:r>
            <a:endParaRPr sz="23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Returns: </a:t>
            </a:r>
            <a:endParaRPr sz="2300"/>
          </a:p>
          <a:p>
            <a:pPr indent="0" lvl="0" marL="63500" rtl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" sz="2300"/>
              <a:t>First you should jump across the gaps to….</a:t>
            </a:r>
            <a:endParaRPr sz="2300"/>
          </a:p>
        </p:txBody>
      </p:sp>
      <p:pic>
        <p:nvPicPr>
          <p:cNvPr id="387" name="Google Shape;38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200" y="1496225"/>
            <a:ext cx="3841200" cy="215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394" name="Google Shape;394;p53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53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Use Paradigms</a:t>
            </a:r>
            <a:endParaRPr/>
          </a:p>
        </p:txBody>
      </p:sp>
      <p:sp>
        <p:nvSpPr>
          <p:cNvPr id="396" name="Google Shape;396;p53"/>
          <p:cNvSpPr txBox="1"/>
          <p:nvPr>
            <p:ph idx="1" type="body"/>
          </p:nvPr>
        </p:nvSpPr>
        <p:spPr>
          <a:xfrm>
            <a:off x="311700" y="1152475"/>
            <a:ext cx="51327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Tool Use: switching between:</a:t>
            </a:r>
            <a:endParaRPr sz="19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text-generation mode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tool-execution mode</a:t>
            </a:r>
            <a:endParaRPr sz="1900"/>
          </a:p>
          <a:p>
            <a:pPr indent="-374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/>
              <a:t>How to induce tool use</a:t>
            </a:r>
            <a:endParaRPr sz="2300"/>
          </a:p>
          <a:p>
            <a:pPr indent="-3492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Inference-time prompting</a:t>
            </a:r>
            <a:endParaRPr sz="1900"/>
          </a:p>
          <a:p>
            <a:pPr indent="-349250" lvl="1" marL="9144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900"/>
              <a:buChar char="○"/>
            </a:pPr>
            <a:r>
              <a:rPr lang="en" sz="1900"/>
              <a:t>Training</a:t>
            </a:r>
            <a:endParaRPr sz="1900"/>
          </a:p>
        </p:txBody>
      </p:sp>
      <p:pic>
        <p:nvPicPr>
          <p:cNvPr id="397" name="Google Shape;39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6550" y="863549"/>
            <a:ext cx="3442279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3"/>
          <p:cNvSpPr txBox="1"/>
          <p:nvPr/>
        </p:nvSpPr>
        <p:spPr>
          <a:xfrm>
            <a:off x="6593312" y="4577713"/>
            <a:ext cx="262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 credit: Graham Neubig</a:t>
            </a:r>
            <a:endParaRPr sz="15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405" name="Google Shape;405;p54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54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Execution: Tool Tokens</a:t>
            </a:r>
            <a:endParaRPr/>
          </a:p>
        </p:txBody>
      </p:sp>
      <p:sp>
        <p:nvSpPr>
          <p:cNvPr id="407" name="Google Shape;407;p54"/>
          <p:cNvSpPr txBox="1"/>
          <p:nvPr>
            <p:ph idx="1" type="body"/>
          </p:nvPr>
        </p:nvSpPr>
        <p:spPr>
          <a:xfrm>
            <a:off x="476325" y="4539157"/>
            <a:ext cx="5085900" cy="6348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e.g. ToolkenGPT (Hao et al. 2023)</a:t>
            </a:r>
            <a:endParaRPr sz="2300"/>
          </a:p>
        </p:txBody>
      </p:sp>
      <p:sp>
        <p:nvSpPr>
          <p:cNvPr id="408" name="Google Shape;408;p54"/>
          <p:cNvSpPr txBox="1"/>
          <p:nvPr/>
        </p:nvSpPr>
        <p:spPr>
          <a:xfrm>
            <a:off x="6593312" y="4577713"/>
            <a:ext cx="262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 credit: Graham Neubig</a:t>
            </a:r>
            <a:endParaRPr sz="1500">
              <a:solidFill>
                <a:srgbClr val="3F3F3F"/>
              </a:solidFill>
            </a:endParaRPr>
          </a:p>
        </p:txBody>
      </p:sp>
      <p:pic>
        <p:nvPicPr>
          <p:cNvPr id="409" name="Google Shape;40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651" y="801588"/>
            <a:ext cx="8920226" cy="345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5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416" name="Google Shape;416;p55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55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Execution: Code Tags</a:t>
            </a:r>
            <a:endParaRPr/>
          </a:p>
        </p:txBody>
      </p:sp>
      <p:sp>
        <p:nvSpPr>
          <p:cNvPr id="418" name="Google Shape;418;p55"/>
          <p:cNvSpPr txBox="1"/>
          <p:nvPr>
            <p:ph idx="1" type="body"/>
          </p:nvPr>
        </p:nvSpPr>
        <p:spPr>
          <a:xfrm>
            <a:off x="476325" y="4539157"/>
            <a:ext cx="5085900" cy="6348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e.g. ToolkenGPT (Hao et al. 2023)</a:t>
            </a:r>
            <a:endParaRPr sz="2300"/>
          </a:p>
        </p:txBody>
      </p:sp>
      <p:sp>
        <p:nvSpPr>
          <p:cNvPr id="419" name="Google Shape;419;p55"/>
          <p:cNvSpPr txBox="1"/>
          <p:nvPr/>
        </p:nvSpPr>
        <p:spPr>
          <a:xfrm>
            <a:off x="6593312" y="4577713"/>
            <a:ext cx="262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 credit: Graham Neubig</a:t>
            </a:r>
            <a:endParaRPr sz="1500">
              <a:solidFill>
                <a:srgbClr val="3F3F3F"/>
              </a:solidFill>
            </a:endParaRPr>
          </a:p>
        </p:txBody>
      </p:sp>
      <p:pic>
        <p:nvPicPr>
          <p:cNvPr id="420" name="Google Shape;420;p55" title="Screenshot 2026-02-02 at 3.13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324" y="872399"/>
            <a:ext cx="6527358" cy="370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6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427" name="Google Shape;427;p56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8" name="Google Shape;428;p56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 for Tool Use</a:t>
            </a:r>
            <a:endParaRPr/>
          </a:p>
        </p:txBody>
      </p:sp>
      <p:sp>
        <p:nvSpPr>
          <p:cNvPr id="429" name="Google Shape;429;p56"/>
          <p:cNvSpPr txBox="1"/>
          <p:nvPr>
            <p:ph idx="1" type="body"/>
          </p:nvPr>
        </p:nvSpPr>
        <p:spPr>
          <a:xfrm>
            <a:off x="152875" y="4268700"/>
            <a:ext cx="8991000" cy="6348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e.g. DocPrompting (Zhou et al. 2022) retrieves library documentation</a:t>
            </a:r>
            <a:endParaRPr sz="2300"/>
          </a:p>
        </p:txBody>
      </p:sp>
      <p:sp>
        <p:nvSpPr>
          <p:cNvPr id="430" name="Google Shape;430;p56"/>
          <p:cNvSpPr txBox="1"/>
          <p:nvPr/>
        </p:nvSpPr>
        <p:spPr>
          <a:xfrm>
            <a:off x="6593312" y="4577713"/>
            <a:ext cx="262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 credit: Graham Neubig</a:t>
            </a:r>
            <a:endParaRPr sz="1500">
              <a:solidFill>
                <a:srgbClr val="3F3F3F"/>
              </a:solidFill>
            </a:endParaRPr>
          </a:p>
        </p:txBody>
      </p:sp>
      <p:pic>
        <p:nvPicPr>
          <p:cNvPr id="431" name="Google Shape;431;p56" title="Screenshot 2026-02-02 at 3.21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00" y="1092603"/>
            <a:ext cx="859155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7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438" name="Google Shape;438;p57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57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for Tool Use</a:t>
            </a:r>
            <a:endParaRPr/>
          </a:p>
        </p:txBody>
      </p:sp>
      <p:sp>
        <p:nvSpPr>
          <p:cNvPr id="440" name="Google Shape;440;p57"/>
          <p:cNvSpPr txBox="1"/>
          <p:nvPr/>
        </p:nvSpPr>
        <p:spPr>
          <a:xfrm>
            <a:off x="6593312" y="4577713"/>
            <a:ext cx="262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 credit: Graham Neubig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441" name="Google Shape;441;p57"/>
          <p:cNvSpPr txBox="1"/>
          <p:nvPr/>
        </p:nvSpPr>
        <p:spPr>
          <a:xfrm>
            <a:off x="679805" y="4577721"/>
            <a:ext cx="51159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e.g. ToolFormer (Schick et al. 2023)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7"/>
          <p:cNvSpPr txBox="1"/>
          <p:nvPr/>
        </p:nvSpPr>
        <p:spPr>
          <a:xfrm>
            <a:off x="1470855" y="812518"/>
            <a:ext cx="31380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latin typeface="Arial"/>
                <a:ea typeface="Arial"/>
                <a:cs typeface="Arial"/>
                <a:sym typeface="Arial"/>
              </a:rPr>
              <a:t>Prompt Unsupervised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57"/>
          <p:cNvSpPr txBox="1"/>
          <p:nvPr/>
        </p:nvSpPr>
        <p:spPr>
          <a:xfrm>
            <a:off x="1181035" y="2809378"/>
            <a:ext cx="3919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latin typeface="Arial"/>
                <a:ea typeface="Arial"/>
                <a:cs typeface="Arial"/>
                <a:sym typeface="Arial"/>
              </a:rPr>
              <a:t>Filter for Success and Train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4" name="Google Shape;444;p57"/>
          <p:cNvGrpSpPr/>
          <p:nvPr/>
        </p:nvGrpSpPr>
        <p:grpSpPr>
          <a:xfrm>
            <a:off x="5363813" y="631504"/>
            <a:ext cx="2599151" cy="2507613"/>
            <a:chOff x="6649428" y="2135556"/>
            <a:chExt cx="4929169" cy="4755571"/>
          </a:xfrm>
        </p:grpSpPr>
        <p:pic>
          <p:nvPicPr>
            <p:cNvPr id="445" name="Google Shape;445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49428" y="3963824"/>
              <a:ext cx="4929169" cy="2927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6" name="Google Shape;446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49428" y="2135556"/>
              <a:ext cx="4929169" cy="199092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47" name="Google Shape;447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8068" y="3281028"/>
            <a:ext cx="5937221" cy="123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8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Function Calling Standard</a:t>
            </a:r>
            <a:endParaRPr/>
          </a:p>
        </p:txBody>
      </p:sp>
      <p:sp>
        <p:nvSpPr>
          <p:cNvPr id="454" name="Google Shape;454;p58"/>
          <p:cNvSpPr txBox="1"/>
          <p:nvPr/>
        </p:nvSpPr>
        <p:spPr>
          <a:xfrm>
            <a:off x="6593312" y="4577713"/>
            <a:ext cx="262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 credit: Graham Neubig</a:t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455" name="Google Shape;455;p58"/>
          <p:cNvSpPr txBox="1"/>
          <p:nvPr/>
        </p:nvSpPr>
        <p:spPr>
          <a:xfrm>
            <a:off x="679805" y="4577721"/>
            <a:ext cx="51159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300"/>
              <a:t>(OpenAI 2024)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Google Shape;456;p58" title="Screenshot 2026-02-02 at 3.34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725" y="877400"/>
            <a:ext cx="5318567" cy="3547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9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LLMs: trained to use tools</a:t>
            </a:r>
            <a:endParaRPr/>
          </a:p>
        </p:txBody>
      </p:sp>
      <p:sp>
        <p:nvSpPr>
          <p:cNvPr id="463" name="Google Shape;463;p59"/>
          <p:cNvSpPr txBox="1"/>
          <p:nvPr/>
        </p:nvSpPr>
        <p:spPr>
          <a:xfrm>
            <a:off x="6593312" y="4577713"/>
            <a:ext cx="262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3F3F"/>
                </a:solidFill>
              </a:rPr>
              <a:t>Slide credit: </a:t>
            </a:r>
            <a:r>
              <a:rPr lang="en" sz="1500">
                <a:solidFill>
                  <a:srgbClr val="3F3F3F"/>
                </a:solidFill>
              </a:rPr>
              <a:t>Hanna Hajishirzi</a:t>
            </a:r>
            <a:endParaRPr sz="1500">
              <a:solidFill>
                <a:srgbClr val="3F3F3F"/>
              </a:solidFill>
            </a:endParaRPr>
          </a:p>
        </p:txBody>
      </p:sp>
      <p:grpSp>
        <p:nvGrpSpPr>
          <p:cNvPr id="464" name="Google Shape;464;p59"/>
          <p:cNvGrpSpPr/>
          <p:nvPr/>
        </p:nvGrpSpPr>
        <p:grpSpPr>
          <a:xfrm>
            <a:off x="1005497" y="1537993"/>
            <a:ext cx="2258695" cy="2255520"/>
            <a:chOff x="1264201" y="1761419"/>
            <a:chExt cx="2258695" cy="2255520"/>
          </a:xfrm>
        </p:grpSpPr>
        <p:sp>
          <p:nvSpPr>
            <p:cNvPr id="465" name="Google Shape;465;p59"/>
            <p:cNvSpPr/>
            <p:nvPr/>
          </p:nvSpPr>
          <p:spPr>
            <a:xfrm>
              <a:off x="1264201" y="1761419"/>
              <a:ext cx="2258695" cy="2255520"/>
            </a:xfrm>
            <a:custGeom>
              <a:rect b="b" l="l" r="r" t="t"/>
              <a:pathLst>
                <a:path extrusionOk="0" h="2255520" w="2258695">
                  <a:moveTo>
                    <a:pt x="1129050" y="2255399"/>
                  </a:moveTo>
                  <a:lnTo>
                    <a:pt x="1081323" y="2254410"/>
                  </a:lnTo>
                  <a:lnTo>
                    <a:pt x="1034101" y="2251468"/>
                  </a:lnTo>
                  <a:lnTo>
                    <a:pt x="987424" y="2246613"/>
                  </a:lnTo>
                  <a:lnTo>
                    <a:pt x="941330" y="2239884"/>
                  </a:lnTo>
                  <a:lnTo>
                    <a:pt x="895858" y="2231319"/>
                  </a:lnTo>
                  <a:lnTo>
                    <a:pt x="851048" y="2220958"/>
                  </a:lnTo>
                  <a:lnTo>
                    <a:pt x="806939" y="2208841"/>
                  </a:lnTo>
                  <a:lnTo>
                    <a:pt x="763570" y="2195006"/>
                  </a:lnTo>
                  <a:lnTo>
                    <a:pt x="720980" y="2179492"/>
                  </a:lnTo>
                  <a:lnTo>
                    <a:pt x="679208" y="2162339"/>
                  </a:lnTo>
                  <a:lnTo>
                    <a:pt x="638294" y="2143586"/>
                  </a:lnTo>
                  <a:lnTo>
                    <a:pt x="598277" y="2123272"/>
                  </a:lnTo>
                  <a:lnTo>
                    <a:pt x="559196" y="2101435"/>
                  </a:lnTo>
                  <a:lnTo>
                    <a:pt x="521090" y="2078116"/>
                  </a:lnTo>
                  <a:lnTo>
                    <a:pt x="483999" y="2053353"/>
                  </a:lnTo>
                  <a:lnTo>
                    <a:pt x="447961" y="2027186"/>
                  </a:lnTo>
                  <a:lnTo>
                    <a:pt x="413016" y="1999653"/>
                  </a:lnTo>
                  <a:lnTo>
                    <a:pt x="379202" y="1970794"/>
                  </a:lnTo>
                  <a:lnTo>
                    <a:pt x="346560" y="1940647"/>
                  </a:lnTo>
                  <a:lnTo>
                    <a:pt x="315128" y="1909253"/>
                  </a:lnTo>
                  <a:lnTo>
                    <a:pt x="284946" y="1876650"/>
                  </a:lnTo>
                  <a:lnTo>
                    <a:pt x="256052" y="1842877"/>
                  </a:lnTo>
                  <a:lnTo>
                    <a:pt x="228486" y="1807974"/>
                  </a:lnTo>
                  <a:lnTo>
                    <a:pt x="202288" y="1771979"/>
                  </a:lnTo>
                  <a:lnTo>
                    <a:pt x="177495" y="1734932"/>
                  </a:lnTo>
                  <a:lnTo>
                    <a:pt x="154148" y="1696871"/>
                  </a:lnTo>
                  <a:lnTo>
                    <a:pt x="132285" y="1657837"/>
                  </a:lnTo>
                  <a:lnTo>
                    <a:pt x="111947" y="1617868"/>
                  </a:lnTo>
                  <a:lnTo>
                    <a:pt x="93171" y="1577003"/>
                  </a:lnTo>
                  <a:lnTo>
                    <a:pt x="75997" y="1535281"/>
                  </a:lnTo>
                  <a:lnTo>
                    <a:pt x="60465" y="1492742"/>
                  </a:lnTo>
                  <a:lnTo>
                    <a:pt x="46614" y="1449425"/>
                  </a:lnTo>
                  <a:lnTo>
                    <a:pt x="34482" y="1405369"/>
                  </a:lnTo>
                  <a:lnTo>
                    <a:pt x="24109" y="1360612"/>
                  </a:lnTo>
                  <a:lnTo>
                    <a:pt x="15534" y="1315195"/>
                  </a:lnTo>
                  <a:lnTo>
                    <a:pt x="8796" y="1269156"/>
                  </a:lnTo>
                  <a:lnTo>
                    <a:pt x="3935" y="1222534"/>
                  </a:lnTo>
                  <a:lnTo>
                    <a:pt x="990" y="1175369"/>
                  </a:lnTo>
                  <a:lnTo>
                    <a:pt x="0" y="1127699"/>
                  </a:lnTo>
                  <a:lnTo>
                    <a:pt x="990" y="1080030"/>
                  </a:lnTo>
                  <a:lnTo>
                    <a:pt x="3935" y="1032865"/>
                  </a:lnTo>
                  <a:lnTo>
                    <a:pt x="8796" y="986243"/>
                  </a:lnTo>
                  <a:lnTo>
                    <a:pt x="15534" y="940204"/>
                  </a:lnTo>
                  <a:lnTo>
                    <a:pt x="24109" y="894787"/>
                  </a:lnTo>
                  <a:lnTo>
                    <a:pt x="34482" y="850030"/>
                  </a:lnTo>
                  <a:lnTo>
                    <a:pt x="46614" y="805974"/>
                  </a:lnTo>
                  <a:lnTo>
                    <a:pt x="60465" y="762657"/>
                  </a:lnTo>
                  <a:lnTo>
                    <a:pt x="75997" y="720118"/>
                  </a:lnTo>
                  <a:lnTo>
                    <a:pt x="93171" y="678396"/>
                  </a:lnTo>
                  <a:lnTo>
                    <a:pt x="111947" y="637531"/>
                  </a:lnTo>
                  <a:lnTo>
                    <a:pt x="132285" y="597562"/>
                  </a:lnTo>
                  <a:lnTo>
                    <a:pt x="154148" y="558528"/>
                  </a:lnTo>
                  <a:lnTo>
                    <a:pt x="177495" y="520467"/>
                  </a:lnTo>
                  <a:lnTo>
                    <a:pt x="202288" y="483420"/>
                  </a:lnTo>
                  <a:lnTo>
                    <a:pt x="228486" y="447425"/>
                  </a:lnTo>
                  <a:lnTo>
                    <a:pt x="256052" y="412522"/>
                  </a:lnTo>
                  <a:lnTo>
                    <a:pt x="284946" y="378749"/>
                  </a:lnTo>
                  <a:lnTo>
                    <a:pt x="315128" y="346146"/>
                  </a:lnTo>
                  <a:lnTo>
                    <a:pt x="346560" y="314752"/>
                  </a:lnTo>
                  <a:lnTo>
                    <a:pt x="379202" y="284605"/>
                  </a:lnTo>
                  <a:lnTo>
                    <a:pt x="413016" y="255746"/>
                  </a:lnTo>
                  <a:lnTo>
                    <a:pt x="447961" y="228213"/>
                  </a:lnTo>
                  <a:lnTo>
                    <a:pt x="483999" y="202046"/>
                  </a:lnTo>
                  <a:lnTo>
                    <a:pt x="521090" y="177283"/>
                  </a:lnTo>
                  <a:lnTo>
                    <a:pt x="559196" y="153964"/>
                  </a:lnTo>
                  <a:lnTo>
                    <a:pt x="598277" y="132127"/>
                  </a:lnTo>
                  <a:lnTo>
                    <a:pt x="638294" y="111813"/>
                  </a:lnTo>
                  <a:lnTo>
                    <a:pt x="679208" y="93060"/>
                  </a:lnTo>
                  <a:lnTo>
                    <a:pt x="720980" y="75907"/>
                  </a:lnTo>
                  <a:lnTo>
                    <a:pt x="763570" y="60393"/>
                  </a:lnTo>
                  <a:lnTo>
                    <a:pt x="806939" y="46558"/>
                  </a:lnTo>
                  <a:lnTo>
                    <a:pt x="851048" y="34441"/>
                  </a:lnTo>
                  <a:lnTo>
                    <a:pt x="895858" y="24080"/>
                  </a:lnTo>
                  <a:lnTo>
                    <a:pt x="941330" y="15515"/>
                  </a:lnTo>
                  <a:lnTo>
                    <a:pt x="987424" y="8786"/>
                  </a:lnTo>
                  <a:lnTo>
                    <a:pt x="1034101" y="3931"/>
                  </a:lnTo>
                  <a:lnTo>
                    <a:pt x="1081323" y="989"/>
                  </a:lnTo>
                  <a:lnTo>
                    <a:pt x="1129050" y="0"/>
                  </a:lnTo>
                  <a:lnTo>
                    <a:pt x="1174002" y="989"/>
                  </a:lnTo>
                  <a:lnTo>
                    <a:pt x="1177223" y="989"/>
                  </a:lnTo>
                  <a:lnTo>
                    <a:pt x="1228323" y="4364"/>
                  </a:lnTo>
                  <a:lnTo>
                    <a:pt x="1277456" y="9779"/>
                  </a:lnTo>
                  <a:lnTo>
                    <a:pt x="1326168" y="17314"/>
                  </a:lnTo>
                  <a:lnTo>
                    <a:pt x="1374392" y="26942"/>
                  </a:lnTo>
                  <a:lnTo>
                    <a:pt x="1422064" y="38635"/>
                  </a:lnTo>
                  <a:lnTo>
                    <a:pt x="1469119" y="52367"/>
                  </a:lnTo>
                  <a:lnTo>
                    <a:pt x="1515492" y="68111"/>
                  </a:lnTo>
                  <a:lnTo>
                    <a:pt x="1561118" y="85840"/>
                  </a:lnTo>
                  <a:lnTo>
                    <a:pt x="1605932" y="105528"/>
                  </a:lnTo>
                  <a:lnTo>
                    <a:pt x="1649869" y="127147"/>
                  </a:lnTo>
                  <a:lnTo>
                    <a:pt x="1692863" y="150670"/>
                  </a:lnTo>
                  <a:lnTo>
                    <a:pt x="1734851" y="176070"/>
                  </a:lnTo>
                  <a:lnTo>
                    <a:pt x="1775767" y="203321"/>
                  </a:lnTo>
                  <a:lnTo>
                    <a:pt x="1815545" y="232396"/>
                  </a:lnTo>
                  <a:lnTo>
                    <a:pt x="1854122" y="263268"/>
                  </a:lnTo>
                  <a:lnTo>
                    <a:pt x="1891431" y="295910"/>
                  </a:lnTo>
                  <a:lnTo>
                    <a:pt x="1927408" y="330295"/>
                  </a:lnTo>
                  <a:lnTo>
                    <a:pt x="1961834" y="366229"/>
                  </a:lnTo>
                  <a:lnTo>
                    <a:pt x="1994515" y="403494"/>
                  </a:lnTo>
                  <a:lnTo>
                    <a:pt x="2025424" y="442024"/>
                  </a:lnTo>
                  <a:lnTo>
                    <a:pt x="2054534" y="481755"/>
                  </a:lnTo>
                  <a:lnTo>
                    <a:pt x="2081818" y="522622"/>
                  </a:lnTo>
                  <a:lnTo>
                    <a:pt x="2107249" y="564559"/>
                  </a:lnTo>
                  <a:lnTo>
                    <a:pt x="2130800" y="607503"/>
                  </a:lnTo>
                  <a:lnTo>
                    <a:pt x="2152445" y="651387"/>
                  </a:lnTo>
                  <a:lnTo>
                    <a:pt x="2172156" y="696147"/>
                  </a:lnTo>
                  <a:lnTo>
                    <a:pt x="2189906" y="741719"/>
                  </a:lnTo>
                  <a:lnTo>
                    <a:pt x="2205669" y="788036"/>
                  </a:lnTo>
                  <a:lnTo>
                    <a:pt x="2219418" y="835035"/>
                  </a:lnTo>
                  <a:lnTo>
                    <a:pt x="2231125" y="882650"/>
                  </a:lnTo>
                  <a:lnTo>
                    <a:pt x="2240764" y="930817"/>
                  </a:lnTo>
                  <a:lnTo>
                    <a:pt x="2248308" y="979470"/>
                  </a:lnTo>
                  <a:lnTo>
                    <a:pt x="2253730" y="1028545"/>
                  </a:lnTo>
                  <a:lnTo>
                    <a:pt x="2257003" y="1077976"/>
                  </a:lnTo>
                  <a:lnTo>
                    <a:pt x="2258100" y="1127699"/>
                  </a:lnTo>
                  <a:lnTo>
                    <a:pt x="2257109" y="1175369"/>
                  </a:lnTo>
                  <a:lnTo>
                    <a:pt x="2254164" y="1222534"/>
                  </a:lnTo>
                  <a:lnTo>
                    <a:pt x="2249303" y="1269156"/>
                  </a:lnTo>
                  <a:lnTo>
                    <a:pt x="2242565" y="1315195"/>
                  </a:lnTo>
                  <a:lnTo>
                    <a:pt x="2233990" y="1360612"/>
                  </a:lnTo>
                  <a:lnTo>
                    <a:pt x="2223617" y="1405369"/>
                  </a:lnTo>
                  <a:lnTo>
                    <a:pt x="2211485" y="1449425"/>
                  </a:lnTo>
                  <a:lnTo>
                    <a:pt x="2197634" y="1492742"/>
                  </a:lnTo>
                  <a:lnTo>
                    <a:pt x="2182102" y="1535281"/>
                  </a:lnTo>
                  <a:lnTo>
                    <a:pt x="2164928" y="1577003"/>
                  </a:lnTo>
                  <a:lnTo>
                    <a:pt x="2146152" y="1617868"/>
                  </a:lnTo>
                  <a:lnTo>
                    <a:pt x="2125814" y="1657837"/>
                  </a:lnTo>
                  <a:lnTo>
                    <a:pt x="2103951" y="1696871"/>
                  </a:lnTo>
                  <a:lnTo>
                    <a:pt x="2080604" y="1734932"/>
                  </a:lnTo>
                  <a:lnTo>
                    <a:pt x="2055811" y="1771979"/>
                  </a:lnTo>
                  <a:lnTo>
                    <a:pt x="2029613" y="1807974"/>
                  </a:lnTo>
                  <a:lnTo>
                    <a:pt x="2002047" y="1842877"/>
                  </a:lnTo>
                  <a:lnTo>
                    <a:pt x="1973153" y="1876650"/>
                  </a:lnTo>
                  <a:lnTo>
                    <a:pt x="1942971" y="1909253"/>
                  </a:lnTo>
                  <a:lnTo>
                    <a:pt x="1911539" y="1940647"/>
                  </a:lnTo>
                  <a:lnTo>
                    <a:pt x="1878897" y="1970794"/>
                  </a:lnTo>
                  <a:lnTo>
                    <a:pt x="1845083" y="1999653"/>
                  </a:lnTo>
                  <a:lnTo>
                    <a:pt x="1810138" y="2027186"/>
                  </a:lnTo>
                  <a:lnTo>
                    <a:pt x="1774100" y="2053353"/>
                  </a:lnTo>
                  <a:lnTo>
                    <a:pt x="1737009" y="2078116"/>
                  </a:lnTo>
                  <a:lnTo>
                    <a:pt x="1698903" y="2101435"/>
                  </a:lnTo>
                  <a:lnTo>
                    <a:pt x="1659822" y="2123272"/>
                  </a:lnTo>
                  <a:lnTo>
                    <a:pt x="1619805" y="2143586"/>
                  </a:lnTo>
                  <a:lnTo>
                    <a:pt x="1578891" y="2162339"/>
                  </a:lnTo>
                  <a:lnTo>
                    <a:pt x="1537119" y="2179492"/>
                  </a:lnTo>
                  <a:lnTo>
                    <a:pt x="1494529" y="2195006"/>
                  </a:lnTo>
                  <a:lnTo>
                    <a:pt x="1451160" y="2208841"/>
                  </a:lnTo>
                  <a:lnTo>
                    <a:pt x="1407051" y="2220958"/>
                  </a:lnTo>
                  <a:lnTo>
                    <a:pt x="1362241" y="2231319"/>
                  </a:lnTo>
                  <a:lnTo>
                    <a:pt x="1316769" y="2239884"/>
                  </a:lnTo>
                  <a:lnTo>
                    <a:pt x="1270675" y="2246613"/>
                  </a:lnTo>
                  <a:lnTo>
                    <a:pt x="1223998" y="2251468"/>
                  </a:lnTo>
                  <a:lnTo>
                    <a:pt x="1176776" y="2254410"/>
                  </a:lnTo>
                  <a:lnTo>
                    <a:pt x="1129050" y="2255399"/>
                  </a:lnTo>
                  <a:close/>
                </a:path>
              </a:pathLst>
            </a:custGeom>
            <a:solidFill>
              <a:srgbClr val="F6ECD7">
                <a:alpha val="1804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59"/>
            <p:cNvSpPr/>
            <p:nvPr/>
          </p:nvSpPr>
          <p:spPr>
            <a:xfrm>
              <a:off x="1264201" y="1761419"/>
              <a:ext cx="2258695" cy="2255520"/>
            </a:xfrm>
            <a:custGeom>
              <a:rect b="b" l="l" r="r" t="t"/>
              <a:pathLst>
                <a:path extrusionOk="0" h="2255520" w="2258695">
                  <a:moveTo>
                    <a:pt x="0" y="1127699"/>
                  </a:moveTo>
                  <a:lnTo>
                    <a:pt x="990" y="1080030"/>
                  </a:lnTo>
                  <a:lnTo>
                    <a:pt x="3935" y="1032865"/>
                  </a:lnTo>
                  <a:lnTo>
                    <a:pt x="8796" y="986243"/>
                  </a:lnTo>
                  <a:lnTo>
                    <a:pt x="15534" y="940204"/>
                  </a:lnTo>
                  <a:lnTo>
                    <a:pt x="24109" y="894787"/>
                  </a:lnTo>
                  <a:lnTo>
                    <a:pt x="34482" y="850030"/>
                  </a:lnTo>
                  <a:lnTo>
                    <a:pt x="46614" y="805974"/>
                  </a:lnTo>
                  <a:lnTo>
                    <a:pt x="60465" y="762657"/>
                  </a:lnTo>
                  <a:lnTo>
                    <a:pt x="75997" y="720118"/>
                  </a:lnTo>
                  <a:lnTo>
                    <a:pt x="93171" y="678396"/>
                  </a:lnTo>
                  <a:lnTo>
                    <a:pt x="111947" y="637531"/>
                  </a:lnTo>
                  <a:lnTo>
                    <a:pt x="132285" y="597562"/>
                  </a:lnTo>
                  <a:lnTo>
                    <a:pt x="154148" y="558528"/>
                  </a:lnTo>
                  <a:lnTo>
                    <a:pt x="177495" y="520467"/>
                  </a:lnTo>
                  <a:lnTo>
                    <a:pt x="202288" y="483420"/>
                  </a:lnTo>
                  <a:lnTo>
                    <a:pt x="228486" y="447425"/>
                  </a:lnTo>
                  <a:lnTo>
                    <a:pt x="256052" y="412522"/>
                  </a:lnTo>
                  <a:lnTo>
                    <a:pt x="284946" y="378749"/>
                  </a:lnTo>
                  <a:lnTo>
                    <a:pt x="315128" y="346146"/>
                  </a:lnTo>
                  <a:lnTo>
                    <a:pt x="346560" y="314752"/>
                  </a:lnTo>
                  <a:lnTo>
                    <a:pt x="379202" y="284605"/>
                  </a:lnTo>
                  <a:lnTo>
                    <a:pt x="413016" y="255746"/>
                  </a:lnTo>
                  <a:lnTo>
                    <a:pt x="447961" y="228213"/>
                  </a:lnTo>
                  <a:lnTo>
                    <a:pt x="483999" y="202046"/>
                  </a:lnTo>
                  <a:lnTo>
                    <a:pt x="521090" y="177283"/>
                  </a:lnTo>
                  <a:lnTo>
                    <a:pt x="559196" y="153964"/>
                  </a:lnTo>
                  <a:lnTo>
                    <a:pt x="598277" y="132127"/>
                  </a:lnTo>
                  <a:lnTo>
                    <a:pt x="638294" y="111813"/>
                  </a:lnTo>
                  <a:lnTo>
                    <a:pt x="679208" y="93060"/>
                  </a:lnTo>
                  <a:lnTo>
                    <a:pt x="720980" y="75907"/>
                  </a:lnTo>
                  <a:lnTo>
                    <a:pt x="763570" y="60393"/>
                  </a:lnTo>
                  <a:lnTo>
                    <a:pt x="806939" y="46558"/>
                  </a:lnTo>
                  <a:lnTo>
                    <a:pt x="851048" y="34441"/>
                  </a:lnTo>
                  <a:lnTo>
                    <a:pt x="895858" y="24080"/>
                  </a:lnTo>
                  <a:lnTo>
                    <a:pt x="941330" y="15515"/>
                  </a:lnTo>
                  <a:lnTo>
                    <a:pt x="987424" y="8786"/>
                  </a:lnTo>
                  <a:lnTo>
                    <a:pt x="1034101" y="3931"/>
                  </a:lnTo>
                  <a:lnTo>
                    <a:pt x="1081323" y="989"/>
                  </a:lnTo>
                  <a:lnTo>
                    <a:pt x="1129050" y="0"/>
                  </a:lnTo>
                  <a:lnTo>
                    <a:pt x="1178832" y="1095"/>
                  </a:lnTo>
                  <a:lnTo>
                    <a:pt x="1228323" y="4364"/>
                  </a:lnTo>
                  <a:lnTo>
                    <a:pt x="1277456" y="9779"/>
                  </a:lnTo>
                  <a:lnTo>
                    <a:pt x="1326168" y="17314"/>
                  </a:lnTo>
                  <a:lnTo>
                    <a:pt x="1374392" y="26942"/>
                  </a:lnTo>
                  <a:lnTo>
                    <a:pt x="1422064" y="38635"/>
                  </a:lnTo>
                  <a:lnTo>
                    <a:pt x="1469119" y="52367"/>
                  </a:lnTo>
                  <a:lnTo>
                    <a:pt x="1515492" y="68111"/>
                  </a:lnTo>
                  <a:lnTo>
                    <a:pt x="1561118" y="85840"/>
                  </a:lnTo>
                  <a:lnTo>
                    <a:pt x="1605932" y="105528"/>
                  </a:lnTo>
                  <a:lnTo>
                    <a:pt x="1649869" y="127147"/>
                  </a:lnTo>
                  <a:lnTo>
                    <a:pt x="1692863" y="150670"/>
                  </a:lnTo>
                  <a:lnTo>
                    <a:pt x="1734851" y="176070"/>
                  </a:lnTo>
                  <a:lnTo>
                    <a:pt x="1775767" y="203321"/>
                  </a:lnTo>
                  <a:lnTo>
                    <a:pt x="1815545" y="232396"/>
                  </a:lnTo>
                  <a:lnTo>
                    <a:pt x="1854122" y="263268"/>
                  </a:lnTo>
                  <a:lnTo>
                    <a:pt x="1891431" y="295910"/>
                  </a:lnTo>
                  <a:lnTo>
                    <a:pt x="1927408" y="330295"/>
                  </a:lnTo>
                  <a:lnTo>
                    <a:pt x="1961834" y="366229"/>
                  </a:lnTo>
                  <a:lnTo>
                    <a:pt x="1994515" y="403494"/>
                  </a:lnTo>
                  <a:lnTo>
                    <a:pt x="2025424" y="442024"/>
                  </a:lnTo>
                  <a:lnTo>
                    <a:pt x="2054534" y="481755"/>
                  </a:lnTo>
                  <a:lnTo>
                    <a:pt x="2081818" y="522622"/>
                  </a:lnTo>
                  <a:lnTo>
                    <a:pt x="2107249" y="564559"/>
                  </a:lnTo>
                  <a:lnTo>
                    <a:pt x="2130800" y="607503"/>
                  </a:lnTo>
                  <a:lnTo>
                    <a:pt x="2152445" y="651387"/>
                  </a:lnTo>
                  <a:lnTo>
                    <a:pt x="2172156" y="696147"/>
                  </a:lnTo>
                  <a:lnTo>
                    <a:pt x="2189906" y="741719"/>
                  </a:lnTo>
                  <a:lnTo>
                    <a:pt x="2205669" y="788036"/>
                  </a:lnTo>
                  <a:lnTo>
                    <a:pt x="2219418" y="835035"/>
                  </a:lnTo>
                  <a:lnTo>
                    <a:pt x="2231125" y="882650"/>
                  </a:lnTo>
                  <a:lnTo>
                    <a:pt x="2240764" y="930817"/>
                  </a:lnTo>
                  <a:lnTo>
                    <a:pt x="2248308" y="979470"/>
                  </a:lnTo>
                  <a:lnTo>
                    <a:pt x="2253730" y="1028545"/>
                  </a:lnTo>
                  <a:lnTo>
                    <a:pt x="2257003" y="1077976"/>
                  </a:lnTo>
                  <a:lnTo>
                    <a:pt x="2258100" y="1127699"/>
                  </a:lnTo>
                  <a:lnTo>
                    <a:pt x="2257109" y="1175369"/>
                  </a:lnTo>
                  <a:lnTo>
                    <a:pt x="2254164" y="1222534"/>
                  </a:lnTo>
                  <a:lnTo>
                    <a:pt x="2249303" y="1269156"/>
                  </a:lnTo>
                  <a:lnTo>
                    <a:pt x="2242565" y="1315195"/>
                  </a:lnTo>
                  <a:lnTo>
                    <a:pt x="2233990" y="1360612"/>
                  </a:lnTo>
                  <a:lnTo>
                    <a:pt x="2223617" y="1405369"/>
                  </a:lnTo>
                  <a:lnTo>
                    <a:pt x="2211485" y="1449425"/>
                  </a:lnTo>
                  <a:lnTo>
                    <a:pt x="2197634" y="1492742"/>
                  </a:lnTo>
                  <a:lnTo>
                    <a:pt x="2182102" y="1535281"/>
                  </a:lnTo>
                  <a:lnTo>
                    <a:pt x="2164928" y="1577003"/>
                  </a:lnTo>
                  <a:lnTo>
                    <a:pt x="2146152" y="1617868"/>
                  </a:lnTo>
                  <a:lnTo>
                    <a:pt x="2125814" y="1657837"/>
                  </a:lnTo>
                  <a:lnTo>
                    <a:pt x="2103951" y="1696871"/>
                  </a:lnTo>
                  <a:lnTo>
                    <a:pt x="2080604" y="1734932"/>
                  </a:lnTo>
                  <a:lnTo>
                    <a:pt x="2055811" y="1771979"/>
                  </a:lnTo>
                  <a:lnTo>
                    <a:pt x="2029613" y="1807974"/>
                  </a:lnTo>
                  <a:lnTo>
                    <a:pt x="2002047" y="1842877"/>
                  </a:lnTo>
                  <a:lnTo>
                    <a:pt x="1973153" y="1876650"/>
                  </a:lnTo>
                  <a:lnTo>
                    <a:pt x="1942971" y="1909253"/>
                  </a:lnTo>
                  <a:lnTo>
                    <a:pt x="1911539" y="1940647"/>
                  </a:lnTo>
                  <a:lnTo>
                    <a:pt x="1878897" y="1970794"/>
                  </a:lnTo>
                  <a:lnTo>
                    <a:pt x="1845083" y="1999653"/>
                  </a:lnTo>
                  <a:lnTo>
                    <a:pt x="1810138" y="2027186"/>
                  </a:lnTo>
                  <a:lnTo>
                    <a:pt x="1774100" y="2053353"/>
                  </a:lnTo>
                  <a:lnTo>
                    <a:pt x="1737009" y="2078116"/>
                  </a:lnTo>
                  <a:lnTo>
                    <a:pt x="1698903" y="2101435"/>
                  </a:lnTo>
                  <a:lnTo>
                    <a:pt x="1659822" y="2123272"/>
                  </a:lnTo>
                  <a:lnTo>
                    <a:pt x="1619805" y="2143586"/>
                  </a:lnTo>
                  <a:lnTo>
                    <a:pt x="1578891" y="2162339"/>
                  </a:lnTo>
                  <a:lnTo>
                    <a:pt x="1537119" y="2179492"/>
                  </a:lnTo>
                  <a:lnTo>
                    <a:pt x="1494529" y="2195006"/>
                  </a:lnTo>
                  <a:lnTo>
                    <a:pt x="1451160" y="2208841"/>
                  </a:lnTo>
                  <a:lnTo>
                    <a:pt x="1407051" y="2220958"/>
                  </a:lnTo>
                  <a:lnTo>
                    <a:pt x="1362241" y="2231319"/>
                  </a:lnTo>
                  <a:lnTo>
                    <a:pt x="1316769" y="2239884"/>
                  </a:lnTo>
                  <a:lnTo>
                    <a:pt x="1270675" y="2246613"/>
                  </a:lnTo>
                  <a:lnTo>
                    <a:pt x="1223998" y="2251468"/>
                  </a:lnTo>
                  <a:lnTo>
                    <a:pt x="1176776" y="2254410"/>
                  </a:lnTo>
                  <a:lnTo>
                    <a:pt x="1129050" y="2255399"/>
                  </a:lnTo>
                  <a:lnTo>
                    <a:pt x="1081323" y="2254410"/>
                  </a:lnTo>
                  <a:lnTo>
                    <a:pt x="1034101" y="2251468"/>
                  </a:lnTo>
                  <a:lnTo>
                    <a:pt x="987424" y="2246613"/>
                  </a:lnTo>
                  <a:lnTo>
                    <a:pt x="941330" y="2239884"/>
                  </a:lnTo>
                  <a:lnTo>
                    <a:pt x="895858" y="2231319"/>
                  </a:lnTo>
                  <a:lnTo>
                    <a:pt x="851048" y="2220958"/>
                  </a:lnTo>
                  <a:lnTo>
                    <a:pt x="806939" y="2208841"/>
                  </a:lnTo>
                  <a:lnTo>
                    <a:pt x="763570" y="2195006"/>
                  </a:lnTo>
                  <a:lnTo>
                    <a:pt x="720980" y="2179492"/>
                  </a:lnTo>
                  <a:lnTo>
                    <a:pt x="679208" y="2162339"/>
                  </a:lnTo>
                  <a:lnTo>
                    <a:pt x="638294" y="2143586"/>
                  </a:lnTo>
                  <a:lnTo>
                    <a:pt x="598277" y="2123272"/>
                  </a:lnTo>
                  <a:lnTo>
                    <a:pt x="559196" y="2101435"/>
                  </a:lnTo>
                  <a:lnTo>
                    <a:pt x="521090" y="2078116"/>
                  </a:lnTo>
                  <a:lnTo>
                    <a:pt x="483999" y="2053353"/>
                  </a:lnTo>
                  <a:lnTo>
                    <a:pt x="447961" y="2027186"/>
                  </a:lnTo>
                  <a:lnTo>
                    <a:pt x="413016" y="1999653"/>
                  </a:lnTo>
                  <a:lnTo>
                    <a:pt x="379202" y="1970794"/>
                  </a:lnTo>
                  <a:lnTo>
                    <a:pt x="346560" y="1940647"/>
                  </a:lnTo>
                  <a:lnTo>
                    <a:pt x="315128" y="1909253"/>
                  </a:lnTo>
                  <a:lnTo>
                    <a:pt x="284946" y="1876650"/>
                  </a:lnTo>
                  <a:lnTo>
                    <a:pt x="256052" y="1842877"/>
                  </a:lnTo>
                  <a:lnTo>
                    <a:pt x="228486" y="1807974"/>
                  </a:lnTo>
                  <a:lnTo>
                    <a:pt x="202288" y="1771979"/>
                  </a:lnTo>
                  <a:lnTo>
                    <a:pt x="177495" y="1734932"/>
                  </a:lnTo>
                  <a:lnTo>
                    <a:pt x="154148" y="1696871"/>
                  </a:lnTo>
                  <a:lnTo>
                    <a:pt x="132285" y="1657837"/>
                  </a:lnTo>
                  <a:lnTo>
                    <a:pt x="111947" y="1617868"/>
                  </a:lnTo>
                  <a:lnTo>
                    <a:pt x="93171" y="1577003"/>
                  </a:lnTo>
                  <a:lnTo>
                    <a:pt x="75997" y="1535281"/>
                  </a:lnTo>
                  <a:lnTo>
                    <a:pt x="60465" y="1492742"/>
                  </a:lnTo>
                  <a:lnTo>
                    <a:pt x="46614" y="1449425"/>
                  </a:lnTo>
                  <a:lnTo>
                    <a:pt x="34482" y="1405369"/>
                  </a:lnTo>
                  <a:lnTo>
                    <a:pt x="24109" y="1360612"/>
                  </a:lnTo>
                  <a:lnTo>
                    <a:pt x="15534" y="1315195"/>
                  </a:lnTo>
                  <a:lnTo>
                    <a:pt x="8796" y="1269156"/>
                  </a:lnTo>
                  <a:lnTo>
                    <a:pt x="3935" y="1222534"/>
                  </a:lnTo>
                  <a:lnTo>
                    <a:pt x="990" y="1175369"/>
                  </a:lnTo>
                  <a:lnTo>
                    <a:pt x="0" y="1127699"/>
                  </a:lnTo>
                  <a:close/>
                </a:path>
              </a:pathLst>
            </a:custGeom>
            <a:noFill/>
            <a:ln cap="flat" cmpd="sng" w="38075">
              <a:solidFill>
                <a:srgbClr val="2B83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7" name="Google Shape;467;p59"/>
          <p:cNvSpPr txBox="1"/>
          <p:nvPr/>
        </p:nvSpPr>
        <p:spPr>
          <a:xfrm>
            <a:off x="1630399" y="2507275"/>
            <a:ext cx="1272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C83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Pre-training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68" name="Google Shape;468;p59"/>
          <p:cNvGrpSpPr/>
          <p:nvPr/>
        </p:nvGrpSpPr>
        <p:grpSpPr>
          <a:xfrm>
            <a:off x="1237361" y="1654892"/>
            <a:ext cx="1882228" cy="2087460"/>
            <a:chOff x="1496065" y="1878318"/>
            <a:chExt cx="1882228" cy="2087460"/>
          </a:xfrm>
        </p:grpSpPr>
        <p:pic>
          <p:nvPicPr>
            <p:cNvPr id="469" name="Google Shape;469;p5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23466" y="3018365"/>
              <a:ext cx="554827" cy="5548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66332" y="2225923"/>
              <a:ext cx="424613" cy="430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98896" y="2163647"/>
              <a:ext cx="554827" cy="5548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96065" y="3018366"/>
              <a:ext cx="560488" cy="5548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p5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196565" y="3478889"/>
              <a:ext cx="486889" cy="4868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4" name="Google Shape;474;p5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86502" y="1878318"/>
              <a:ext cx="413525" cy="4209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5" name="Google Shape;475;p59"/>
          <p:cNvSpPr txBox="1"/>
          <p:nvPr/>
        </p:nvSpPr>
        <p:spPr>
          <a:xfrm>
            <a:off x="188153" y="3944845"/>
            <a:ext cx="4080000" cy="568200"/>
          </a:xfrm>
          <a:prstGeom prst="rect">
            <a:avLst/>
          </a:prstGeom>
          <a:solidFill>
            <a:srgbClr val="D4D4D4">
              <a:alpha val="18040"/>
            </a:srgbClr>
          </a:solidFill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996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Predict the next word in various contexts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6" name="Google Shape;476;p59"/>
          <p:cNvSpPr txBox="1"/>
          <p:nvPr/>
        </p:nvSpPr>
        <p:spPr>
          <a:xfrm>
            <a:off x="7636535" y="1768149"/>
            <a:ext cx="678300" cy="289200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136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Chat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7" name="Google Shape;477;p59"/>
          <p:cNvSpPr/>
          <p:nvPr/>
        </p:nvSpPr>
        <p:spPr>
          <a:xfrm>
            <a:off x="4159005" y="1687272"/>
            <a:ext cx="1272539" cy="316864"/>
          </a:xfrm>
          <a:custGeom>
            <a:rect b="b" l="l" r="r" t="t"/>
            <a:pathLst>
              <a:path extrusionOk="0" h="316864" w="1272539">
                <a:moveTo>
                  <a:pt x="1272487" y="316687"/>
                </a:moveTo>
                <a:lnTo>
                  <a:pt x="0" y="316687"/>
                </a:lnTo>
                <a:lnTo>
                  <a:pt x="0" y="0"/>
                </a:lnTo>
                <a:lnTo>
                  <a:pt x="1272487" y="0"/>
                </a:lnTo>
                <a:lnTo>
                  <a:pt x="1272487" y="316687"/>
                </a:lnTo>
                <a:close/>
              </a:path>
            </a:pathLst>
          </a:custGeom>
          <a:solidFill>
            <a:srgbClr val="D4D4D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9"/>
          <p:cNvSpPr txBox="1"/>
          <p:nvPr/>
        </p:nvSpPr>
        <p:spPr>
          <a:xfrm>
            <a:off x="4230580" y="1688750"/>
            <a:ext cx="1189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Serve apps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9" name="Google Shape;479;p59"/>
          <p:cNvSpPr txBox="1"/>
          <p:nvPr/>
        </p:nvSpPr>
        <p:spPr>
          <a:xfrm>
            <a:off x="5479298" y="1018932"/>
            <a:ext cx="1893600" cy="568200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654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Follow instructions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0" name="Google Shape;480;p59"/>
          <p:cNvSpPr txBox="1"/>
          <p:nvPr/>
        </p:nvSpPr>
        <p:spPr>
          <a:xfrm>
            <a:off x="6137264" y="4095243"/>
            <a:ext cx="920700" cy="291300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0667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Reason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1" name="Google Shape;481;p59"/>
          <p:cNvSpPr/>
          <p:nvPr/>
        </p:nvSpPr>
        <p:spPr>
          <a:xfrm>
            <a:off x="4158761" y="3389775"/>
            <a:ext cx="1355725" cy="316864"/>
          </a:xfrm>
          <a:custGeom>
            <a:rect b="b" l="l" r="r" t="t"/>
            <a:pathLst>
              <a:path extrusionOk="0" h="316864" w="1355725">
                <a:moveTo>
                  <a:pt x="1355512" y="316687"/>
                </a:moveTo>
                <a:lnTo>
                  <a:pt x="0" y="316687"/>
                </a:lnTo>
                <a:lnTo>
                  <a:pt x="0" y="0"/>
                </a:lnTo>
                <a:lnTo>
                  <a:pt x="1355512" y="0"/>
                </a:lnTo>
                <a:lnTo>
                  <a:pt x="1355512" y="316687"/>
                </a:lnTo>
                <a:close/>
              </a:path>
            </a:pathLst>
          </a:custGeom>
          <a:solidFill>
            <a:srgbClr val="D4D4D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9"/>
          <p:cNvSpPr txBox="1"/>
          <p:nvPr/>
        </p:nvSpPr>
        <p:spPr>
          <a:xfrm>
            <a:off x="4285200" y="3396850"/>
            <a:ext cx="1229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Avoid harm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83" name="Google Shape;483;p59"/>
          <p:cNvGrpSpPr/>
          <p:nvPr/>
        </p:nvGrpSpPr>
        <p:grpSpPr>
          <a:xfrm>
            <a:off x="5370813" y="1536920"/>
            <a:ext cx="2258059" cy="2258060"/>
            <a:chOff x="5629517" y="1760346"/>
            <a:chExt cx="2258059" cy="2258060"/>
          </a:xfrm>
        </p:grpSpPr>
        <p:sp>
          <p:nvSpPr>
            <p:cNvPr id="484" name="Google Shape;484;p59"/>
            <p:cNvSpPr/>
            <p:nvPr/>
          </p:nvSpPr>
          <p:spPr>
            <a:xfrm>
              <a:off x="5629517" y="1760346"/>
              <a:ext cx="2258059" cy="2258060"/>
            </a:xfrm>
            <a:custGeom>
              <a:rect b="b" l="l" r="r" t="t"/>
              <a:pathLst>
                <a:path extrusionOk="0" h="2258060" w="2258059">
                  <a:moveTo>
                    <a:pt x="1128750" y="2257500"/>
                  </a:moveTo>
                  <a:lnTo>
                    <a:pt x="1081036" y="2256509"/>
                  </a:lnTo>
                  <a:lnTo>
                    <a:pt x="1033827" y="2253565"/>
                  </a:lnTo>
                  <a:lnTo>
                    <a:pt x="987162" y="2248705"/>
                  </a:lnTo>
                  <a:lnTo>
                    <a:pt x="941080" y="2241969"/>
                  </a:lnTo>
                  <a:lnTo>
                    <a:pt x="895620" y="2233397"/>
                  </a:lnTo>
                  <a:lnTo>
                    <a:pt x="850822" y="2223027"/>
                  </a:lnTo>
                  <a:lnTo>
                    <a:pt x="806724" y="2210898"/>
                  </a:lnTo>
                  <a:lnTo>
                    <a:pt x="763367" y="2197050"/>
                  </a:lnTo>
                  <a:lnTo>
                    <a:pt x="720788" y="2181522"/>
                  </a:lnTo>
                  <a:lnTo>
                    <a:pt x="679028" y="2164353"/>
                  </a:lnTo>
                  <a:lnTo>
                    <a:pt x="638125" y="2145582"/>
                  </a:lnTo>
                  <a:lnTo>
                    <a:pt x="598118" y="2125249"/>
                  </a:lnTo>
                  <a:lnTo>
                    <a:pt x="559048" y="2103392"/>
                  </a:lnTo>
                  <a:lnTo>
                    <a:pt x="520952" y="2080051"/>
                  </a:lnTo>
                  <a:lnTo>
                    <a:pt x="483870" y="2055265"/>
                  </a:lnTo>
                  <a:lnTo>
                    <a:pt x="447842" y="2029073"/>
                  </a:lnTo>
                  <a:lnTo>
                    <a:pt x="412906" y="2001515"/>
                  </a:lnTo>
                  <a:lnTo>
                    <a:pt x="379102" y="1972629"/>
                  </a:lnTo>
                  <a:lnTo>
                    <a:pt x="346468" y="1942454"/>
                  </a:lnTo>
                  <a:lnTo>
                    <a:pt x="315045" y="1911031"/>
                  </a:lnTo>
                  <a:lnTo>
                    <a:pt x="284870" y="1878397"/>
                  </a:lnTo>
                  <a:lnTo>
                    <a:pt x="255984" y="1844593"/>
                  </a:lnTo>
                  <a:lnTo>
                    <a:pt x="228426" y="1809657"/>
                  </a:lnTo>
                  <a:lnTo>
                    <a:pt x="202234" y="1773629"/>
                  </a:lnTo>
                  <a:lnTo>
                    <a:pt x="177448" y="1736547"/>
                  </a:lnTo>
                  <a:lnTo>
                    <a:pt x="154107" y="1698451"/>
                  </a:lnTo>
                  <a:lnTo>
                    <a:pt x="132250" y="1659381"/>
                  </a:lnTo>
                  <a:lnTo>
                    <a:pt x="111917" y="1619374"/>
                  </a:lnTo>
                  <a:lnTo>
                    <a:pt x="93146" y="1578471"/>
                  </a:lnTo>
                  <a:lnTo>
                    <a:pt x="75977" y="1536711"/>
                  </a:lnTo>
                  <a:lnTo>
                    <a:pt x="60449" y="1494132"/>
                  </a:lnTo>
                  <a:lnTo>
                    <a:pt x="46601" y="1450775"/>
                  </a:lnTo>
                  <a:lnTo>
                    <a:pt x="34473" y="1406677"/>
                  </a:lnTo>
                  <a:lnTo>
                    <a:pt x="24102" y="1361879"/>
                  </a:lnTo>
                  <a:lnTo>
                    <a:pt x="15530" y="1316419"/>
                  </a:lnTo>
                  <a:lnTo>
                    <a:pt x="8794" y="1270338"/>
                  </a:lnTo>
                  <a:lnTo>
                    <a:pt x="3934" y="1223672"/>
                  </a:lnTo>
                  <a:lnTo>
                    <a:pt x="990" y="1176463"/>
                  </a:lnTo>
                  <a:lnTo>
                    <a:pt x="0" y="1128749"/>
                  </a:lnTo>
                  <a:lnTo>
                    <a:pt x="990" y="1081036"/>
                  </a:lnTo>
                  <a:lnTo>
                    <a:pt x="3934" y="1033827"/>
                  </a:lnTo>
                  <a:lnTo>
                    <a:pt x="8794" y="987161"/>
                  </a:lnTo>
                  <a:lnTo>
                    <a:pt x="15530" y="941080"/>
                  </a:lnTo>
                  <a:lnTo>
                    <a:pt x="24102" y="895620"/>
                  </a:lnTo>
                  <a:lnTo>
                    <a:pt x="34473" y="850822"/>
                  </a:lnTo>
                  <a:lnTo>
                    <a:pt x="46601" y="806724"/>
                  </a:lnTo>
                  <a:lnTo>
                    <a:pt x="60449" y="763367"/>
                  </a:lnTo>
                  <a:lnTo>
                    <a:pt x="75977" y="720788"/>
                  </a:lnTo>
                  <a:lnTo>
                    <a:pt x="93146" y="679028"/>
                  </a:lnTo>
                  <a:lnTo>
                    <a:pt x="111917" y="638125"/>
                  </a:lnTo>
                  <a:lnTo>
                    <a:pt x="132250" y="598118"/>
                  </a:lnTo>
                  <a:lnTo>
                    <a:pt x="154107" y="559048"/>
                  </a:lnTo>
                  <a:lnTo>
                    <a:pt x="177448" y="520952"/>
                  </a:lnTo>
                  <a:lnTo>
                    <a:pt x="202234" y="483870"/>
                  </a:lnTo>
                  <a:lnTo>
                    <a:pt x="228426" y="447842"/>
                  </a:lnTo>
                  <a:lnTo>
                    <a:pt x="255984" y="412906"/>
                  </a:lnTo>
                  <a:lnTo>
                    <a:pt x="284870" y="379102"/>
                  </a:lnTo>
                  <a:lnTo>
                    <a:pt x="315045" y="346468"/>
                  </a:lnTo>
                  <a:lnTo>
                    <a:pt x="346468" y="315045"/>
                  </a:lnTo>
                  <a:lnTo>
                    <a:pt x="379102" y="284870"/>
                  </a:lnTo>
                  <a:lnTo>
                    <a:pt x="412906" y="255984"/>
                  </a:lnTo>
                  <a:lnTo>
                    <a:pt x="447842" y="228426"/>
                  </a:lnTo>
                  <a:lnTo>
                    <a:pt x="483870" y="202234"/>
                  </a:lnTo>
                  <a:lnTo>
                    <a:pt x="520952" y="177448"/>
                  </a:lnTo>
                  <a:lnTo>
                    <a:pt x="559048" y="154107"/>
                  </a:lnTo>
                  <a:lnTo>
                    <a:pt x="598118" y="132250"/>
                  </a:lnTo>
                  <a:lnTo>
                    <a:pt x="638125" y="111917"/>
                  </a:lnTo>
                  <a:lnTo>
                    <a:pt x="679028" y="93146"/>
                  </a:lnTo>
                  <a:lnTo>
                    <a:pt x="720788" y="75977"/>
                  </a:lnTo>
                  <a:lnTo>
                    <a:pt x="763367" y="60449"/>
                  </a:lnTo>
                  <a:lnTo>
                    <a:pt x="806724" y="46601"/>
                  </a:lnTo>
                  <a:lnTo>
                    <a:pt x="850822" y="34473"/>
                  </a:lnTo>
                  <a:lnTo>
                    <a:pt x="895620" y="24102"/>
                  </a:lnTo>
                  <a:lnTo>
                    <a:pt x="941080" y="15530"/>
                  </a:lnTo>
                  <a:lnTo>
                    <a:pt x="987162" y="8794"/>
                  </a:lnTo>
                  <a:lnTo>
                    <a:pt x="1033827" y="3934"/>
                  </a:lnTo>
                  <a:lnTo>
                    <a:pt x="1081036" y="990"/>
                  </a:lnTo>
                  <a:lnTo>
                    <a:pt x="1128750" y="0"/>
                  </a:lnTo>
                  <a:lnTo>
                    <a:pt x="1173690" y="990"/>
                  </a:lnTo>
                  <a:lnTo>
                    <a:pt x="1176910" y="990"/>
                  </a:lnTo>
                  <a:lnTo>
                    <a:pt x="1227997" y="4368"/>
                  </a:lnTo>
                  <a:lnTo>
                    <a:pt x="1277117" y="9789"/>
                  </a:lnTo>
                  <a:lnTo>
                    <a:pt x="1325815" y="17330"/>
                  </a:lnTo>
                  <a:lnTo>
                    <a:pt x="1374027" y="26967"/>
                  </a:lnTo>
                  <a:lnTo>
                    <a:pt x="1421686" y="38671"/>
                  </a:lnTo>
                  <a:lnTo>
                    <a:pt x="1468729" y="52416"/>
                  </a:lnTo>
                  <a:lnTo>
                    <a:pt x="1515090" y="68175"/>
                  </a:lnTo>
                  <a:lnTo>
                    <a:pt x="1560703" y="85921"/>
                  </a:lnTo>
                  <a:lnTo>
                    <a:pt x="1605505" y="105626"/>
                  </a:lnTo>
                  <a:lnTo>
                    <a:pt x="1649430" y="127265"/>
                  </a:lnTo>
                  <a:lnTo>
                    <a:pt x="1692414" y="150810"/>
                  </a:lnTo>
                  <a:lnTo>
                    <a:pt x="1734390" y="176234"/>
                  </a:lnTo>
                  <a:lnTo>
                    <a:pt x="1775295" y="203511"/>
                  </a:lnTo>
                  <a:lnTo>
                    <a:pt x="1815063" y="232613"/>
                  </a:lnTo>
                  <a:lnTo>
                    <a:pt x="1853629" y="263514"/>
                  </a:lnTo>
                  <a:lnTo>
                    <a:pt x="1890928" y="296186"/>
                  </a:lnTo>
                  <a:lnTo>
                    <a:pt x="1926896" y="330603"/>
                  </a:lnTo>
                  <a:lnTo>
                    <a:pt x="1961313" y="366571"/>
                  </a:lnTo>
                  <a:lnTo>
                    <a:pt x="1993985" y="403870"/>
                  </a:lnTo>
                  <a:lnTo>
                    <a:pt x="2024886" y="442436"/>
                  </a:lnTo>
                  <a:lnTo>
                    <a:pt x="2053988" y="482204"/>
                  </a:lnTo>
                  <a:lnTo>
                    <a:pt x="2081265" y="523109"/>
                  </a:lnTo>
                  <a:lnTo>
                    <a:pt x="2106689" y="565085"/>
                  </a:lnTo>
                  <a:lnTo>
                    <a:pt x="2130234" y="608069"/>
                  </a:lnTo>
                  <a:lnTo>
                    <a:pt x="2151873" y="651994"/>
                  </a:lnTo>
                  <a:lnTo>
                    <a:pt x="2171579" y="696796"/>
                  </a:lnTo>
                  <a:lnTo>
                    <a:pt x="2189324" y="742409"/>
                  </a:lnTo>
                  <a:lnTo>
                    <a:pt x="2205083" y="788770"/>
                  </a:lnTo>
                  <a:lnTo>
                    <a:pt x="2218828" y="835813"/>
                  </a:lnTo>
                  <a:lnTo>
                    <a:pt x="2230532" y="883472"/>
                  </a:lnTo>
                  <a:lnTo>
                    <a:pt x="2240169" y="931684"/>
                  </a:lnTo>
                  <a:lnTo>
                    <a:pt x="2247711" y="980382"/>
                  </a:lnTo>
                  <a:lnTo>
                    <a:pt x="2253131" y="1029503"/>
                  </a:lnTo>
                  <a:lnTo>
                    <a:pt x="2256403" y="1078980"/>
                  </a:lnTo>
                  <a:lnTo>
                    <a:pt x="2257500" y="1128749"/>
                  </a:lnTo>
                  <a:lnTo>
                    <a:pt x="2256509" y="1176463"/>
                  </a:lnTo>
                  <a:lnTo>
                    <a:pt x="2253565" y="1223672"/>
                  </a:lnTo>
                  <a:lnTo>
                    <a:pt x="2248705" y="1270338"/>
                  </a:lnTo>
                  <a:lnTo>
                    <a:pt x="2241969" y="1316419"/>
                  </a:lnTo>
                  <a:lnTo>
                    <a:pt x="2233397" y="1361879"/>
                  </a:lnTo>
                  <a:lnTo>
                    <a:pt x="2223027" y="1406677"/>
                  </a:lnTo>
                  <a:lnTo>
                    <a:pt x="2210898" y="1450775"/>
                  </a:lnTo>
                  <a:lnTo>
                    <a:pt x="2197050" y="1494132"/>
                  </a:lnTo>
                  <a:lnTo>
                    <a:pt x="2181522" y="1536711"/>
                  </a:lnTo>
                  <a:lnTo>
                    <a:pt x="2164353" y="1578471"/>
                  </a:lnTo>
                  <a:lnTo>
                    <a:pt x="2145582" y="1619374"/>
                  </a:lnTo>
                  <a:lnTo>
                    <a:pt x="2125249" y="1659381"/>
                  </a:lnTo>
                  <a:lnTo>
                    <a:pt x="2103392" y="1698451"/>
                  </a:lnTo>
                  <a:lnTo>
                    <a:pt x="2080051" y="1736547"/>
                  </a:lnTo>
                  <a:lnTo>
                    <a:pt x="2055265" y="1773629"/>
                  </a:lnTo>
                  <a:lnTo>
                    <a:pt x="2029073" y="1809657"/>
                  </a:lnTo>
                  <a:lnTo>
                    <a:pt x="2001515" y="1844593"/>
                  </a:lnTo>
                  <a:lnTo>
                    <a:pt x="1972629" y="1878397"/>
                  </a:lnTo>
                  <a:lnTo>
                    <a:pt x="1942454" y="1911031"/>
                  </a:lnTo>
                  <a:lnTo>
                    <a:pt x="1911031" y="1942454"/>
                  </a:lnTo>
                  <a:lnTo>
                    <a:pt x="1878397" y="1972629"/>
                  </a:lnTo>
                  <a:lnTo>
                    <a:pt x="1844593" y="2001515"/>
                  </a:lnTo>
                  <a:lnTo>
                    <a:pt x="1809657" y="2029073"/>
                  </a:lnTo>
                  <a:lnTo>
                    <a:pt x="1773629" y="2055265"/>
                  </a:lnTo>
                  <a:lnTo>
                    <a:pt x="1736547" y="2080051"/>
                  </a:lnTo>
                  <a:lnTo>
                    <a:pt x="1698451" y="2103392"/>
                  </a:lnTo>
                  <a:lnTo>
                    <a:pt x="1659381" y="2125249"/>
                  </a:lnTo>
                  <a:lnTo>
                    <a:pt x="1619374" y="2145582"/>
                  </a:lnTo>
                  <a:lnTo>
                    <a:pt x="1578471" y="2164353"/>
                  </a:lnTo>
                  <a:lnTo>
                    <a:pt x="1536711" y="2181522"/>
                  </a:lnTo>
                  <a:lnTo>
                    <a:pt x="1494132" y="2197050"/>
                  </a:lnTo>
                  <a:lnTo>
                    <a:pt x="1450775" y="2210898"/>
                  </a:lnTo>
                  <a:lnTo>
                    <a:pt x="1406677" y="2223027"/>
                  </a:lnTo>
                  <a:lnTo>
                    <a:pt x="1361879" y="2233397"/>
                  </a:lnTo>
                  <a:lnTo>
                    <a:pt x="1316420" y="2241969"/>
                  </a:lnTo>
                  <a:lnTo>
                    <a:pt x="1270338" y="2248705"/>
                  </a:lnTo>
                  <a:lnTo>
                    <a:pt x="1223673" y="2253565"/>
                  </a:lnTo>
                  <a:lnTo>
                    <a:pt x="1176464" y="2256509"/>
                  </a:lnTo>
                  <a:lnTo>
                    <a:pt x="1128750" y="2257500"/>
                  </a:lnTo>
                  <a:close/>
                </a:path>
              </a:pathLst>
            </a:custGeom>
            <a:solidFill>
              <a:srgbClr val="F6ED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59"/>
            <p:cNvSpPr/>
            <p:nvPr/>
          </p:nvSpPr>
          <p:spPr>
            <a:xfrm>
              <a:off x="5629517" y="1760346"/>
              <a:ext cx="2258059" cy="2258060"/>
            </a:xfrm>
            <a:custGeom>
              <a:rect b="b" l="l" r="r" t="t"/>
              <a:pathLst>
                <a:path extrusionOk="0" h="2258060" w="2258059">
                  <a:moveTo>
                    <a:pt x="0" y="1128749"/>
                  </a:moveTo>
                  <a:lnTo>
                    <a:pt x="990" y="1081036"/>
                  </a:lnTo>
                  <a:lnTo>
                    <a:pt x="3934" y="1033827"/>
                  </a:lnTo>
                  <a:lnTo>
                    <a:pt x="8794" y="987161"/>
                  </a:lnTo>
                  <a:lnTo>
                    <a:pt x="15530" y="941080"/>
                  </a:lnTo>
                  <a:lnTo>
                    <a:pt x="24102" y="895620"/>
                  </a:lnTo>
                  <a:lnTo>
                    <a:pt x="34473" y="850822"/>
                  </a:lnTo>
                  <a:lnTo>
                    <a:pt x="46601" y="806724"/>
                  </a:lnTo>
                  <a:lnTo>
                    <a:pt x="60449" y="763367"/>
                  </a:lnTo>
                  <a:lnTo>
                    <a:pt x="75977" y="720788"/>
                  </a:lnTo>
                  <a:lnTo>
                    <a:pt x="93146" y="679028"/>
                  </a:lnTo>
                  <a:lnTo>
                    <a:pt x="111917" y="638125"/>
                  </a:lnTo>
                  <a:lnTo>
                    <a:pt x="132250" y="598118"/>
                  </a:lnTo>
                  <a:lnTo>
                    <a:pt x="154107" y="559048"/>
                  </a:lnTo>
                  <a:lnTo>
                    <a:pt x="177448" y="520952"/>
                  </a:lnTo>
                  <a:lnTo>
                    <a:pt x="202234" y="483870"/>
                  </a:lnTo>
                  <a:lnTo>
                    <a:pt x="228426" y="447842"/>
                  </a:lnTo>
                  <a:lnTo>
                    <a:pt x="255984" y="412906"/>
                  </a:lnTo>
                  <a:lnTo>
                    <a:pt x="284870" y="379102"/>
                  </a:lnTo>
                  <a:lnTo>
                    <a:pt x="315045" y="346468"/>
                  </a:lnTo>
                  <a:lnTo>
                    <a:pt x="346468" y="315045"/>
                  </a:lnTo>
                  <a:lnTo>
                    <a:pt x="379102" y="284870"/>
                  </a:lnTo>
                  <a:lnTo>
                    <a:pt x="412906" y="255984"/>
                  </a:lnTo>
                  <a:lnTo>
                    <a:pt x="447842" y="228426"/>
                  </a:lnTo>
                  <a:lnTo>
                    <a:pt x="483870" y="202234"/>
                  </a:lnTo>
                  <a:lnTo>
                    <a:pt x="520952" y="177448"/>
                  </a:lnTo>
                  <a:lnTo>
                    <a:pt x="559048" y="154107"/>
                  </a:lnTo>
                  <a:lnTo>
                    <a:pt x="598118" y="132250"/>
                  </a:lnTo>
                  <a:lnTo>
                    <a:pt x="638125" y="111917"/>
                  </a:lnTo>
                  <a:lnTo>
                    <a:pt x="679028" y="93146"/>
                  </a:lnTo>
                  <a:lnTo>
                    <a:pt x="720788" y="75977"/>
                  </a:lnTo>
                  <a:lnTo>
                    <a:pt x="763367" y="60449"/>
                  </a:lnTo>
                  <a:lnTo>
                    <a:pt x="806724" y="46601"/>
                  </a:lnTo>
                  <a:lnTo>
                    <a:pt x="850822" y="34473"/>
                  </a:lnTo>
                  <a:lnTo>
                    <a:pt x="895620" y="24102"/>
                  </a:lnTo>
                  <a:lnTo>
                    <a:pt x="941080" y="15530"/>
                  </a:lnTo>
                  <a:lnTo>
                    <a:pt x="987162" y="8794"/>
                  </a:lnTo>
                  <a:lnTo>
                    <a:pt x="1033827" y="3934"/>
                  </a:lnTo>
                  <a:lnTo>
                    <a:pt x="1081036" y="990"/>
                  </a:lnTo>
                  <a:lnTo>
                    <a:pt x="1128750" y="0"/>
                  </a:lnTo>
                  <a:lnTo>
                    <a:pt x="1178519" y="1096"/>
                  </a:lnTo>
                  <a:lnTo>
                    <a:pt x="1227997" y="4368"/>
                  </a:lnTo>
                  <a:lnTo>
                    <a:pt x="1277117" y="9789"/>
                  </a:lnTo>
                  <a:lnTo>
                    <a:pt x="1325815" y="17330"/>
                  </a:lnTo>
                  <a:lnTo>
                    <a:pt x="1374027" y="26967"/>
                  </a:lnTo>
                  <a:lnTo>
                    <a:pt x="1421686" y="38671"/>
                  </a:lnTo>
                  <a:lnTo>
                    <a:pt x="1468729" y="52416"/>
                  </a:lnTo>
                  <a:lnTo>
                    <a:pt x="1515090" y="68175"/>
                  </a:lnTo>
                  <a:lnTo>
                    <a:pt x="1560703" y="85921"/>
                  </a:lnTo>
                  <a:lnTo>
                    <a:pt x="1605505" y="105626"/>
                  </a:lnTo>
                  <a:lnTo>
                    <a:pt x="1649430" y="127265"/>
                  </a:lnTo>
                  <a:lnTo>
                    <a:pt x="1692414" y="150810"/>
                  </a:lnTo>
                  <a:lnTo>
                    <a:pt x="1734390" y="176234"/>
                  </a:lnTo>
                  <a:lnTo>
                    <a:pt x="1775295" y="203511"/>
                  </a:lnTo>
                  <a:lnTo>
                    <a:pt x="1815063" y="232613"/>
                  </a:lnTo>
                  <a:lnTo>
                    <a:pt x="1853629" y="263514"/>
                  </a:lnTo>
                  <a:lnTo>
                    <a:pt x="1890928" y="296186"/>
                  </a:lnTo>
                  <a:lnTo>
                    <a:pt x="1926896" y="330603"/>
                  </a:lnTo>
                  <a:lnTo>
                    <a:pt x="1961313" y="366571"/>
                  </a:lnTo>
                  <a:lnTo>
                    <a:pt x="1993985" y="403870"/>
                  </a:lnTo>
                  <a:lnTo>
                    <a:pt x="2024886" y="442436"/>
                  </a:lnTo>
                  <a:lnTo>
                    <a:pt x="2053988" y="482204"/>
                  </a:lnTo>
                  <a:lnTo>
                    <a:pt x="2081265" y="523109"/>
                  </a:lnTo>
                  <a:lnTo>
                    <a:pt x="2106689" y="565085"/>
                  </a:lnTo>
                  <a:lnTo>
                    <a:pt x="2130234" y="608069"/>
                  </a:lnTo>
                  <a:lnTo>
                    <a:pt x="2151873" y="651994"/>
                  </a:lnTo>
                  <a:lnTo>
                    <a:pt x="2171579" y="696796"/>
                  </a:lnTo>
                  <a:lnTo>
                    <a:pt x="2189324" y="742409"/>
                  </a:lnTo>
                  <a:lnTo>
                    <a:pt x="2205083" y="788770"/>
                  </a:lnTo>
                  <a:lnTo>
                    <a:pt x="2218828" y="835813"/>
                  </a:lnTo>
                  <a:lnTo>
                    <a:pt x="2230532" y="883472"/>
                  </a:lnTo>
                  <a:lnTo>
                    <a:pt x="2240169" y="931684"/>
                  </a:lnTo>
                  <a:lnTo>
                    <a:pt x="2247711" y="980382"/>
                  </a:lnTo>
                  <a:lnTo>
                    <a:pt x="2253131" y="1029503"/>
                  </a:lnTo>
                  <a:lnTo>
                    <a:pt x="2256403" y="1078980"/>
                  </a:lnTo>
                  <a:lnTo>
                    <a:pt x="2257500" y="1128749"/>
                  </a:lnTo>
                  <a:lnTo>
                    <a:pt x="2256510" y="1176463"/>
                  </a:lnTo>
                  <a:lnTo>
                    <a:pt x="2253565" y="1223672"/>
                  </a:lnTo>
                  <a:lnTo>
                    <a:pt x="2248705" y="1270338"/>
                  </a:lnTo>
                  <a:lnTo>
                    <a:pt x="2241969" y="1316419"/>
                  </a:lnTo>
                  <a:lnTo>
                    <a:pt x="2233397" y="1361879"/>
                  </a:lnTo>
                  <a:lnTo>
                    <a:pt x="2223027" y="1406677"/>
                  </a:lnTo>
                  <a:lnTo>
                    <a:pt x="2210898" y="1450775"/>
                  </a:lnTo>
                  <a:lnTo>
                    <a:pt x="2197050" y="1494132"/>
                  </a:lnTo>
                  <a:lnTo>
                    <a:pt x="2181522" y="1536711"/>
                  </a:lnTo>
                  <a:lnTo>
                    <a:pt x="2164353" y="1578471"/>
                  </a:lnTo>
                  <a:lnTo>
                    <a:pt x="2145582" y="1619374"/>
                  </a:lnTo>
                  <a:lnTo>
                    <a:pt x="2125249" y="1659381"/>
                  </a:lnTo>
                  <a:lnTo>
                    <a:pt x="2103392" y="1698451"/>
                  </a:lnTo>
                  <a:lnTo>
                    <a:pt x="2080051" y="1736547"/>
                  </a:lnTo>
                  <a:lnTo>
                    <a:pt x="2055265" y="1773629"/>
                  </a:lnTo>
                  <a:lnTo>
                    <a:pt x="2029073" y="1809657"/>
                  </a:lnTo>
                  <a:lnTo>
                    <a:pt x="2001515" y="1844593"/>
                  </a:lnTo>
                  <a:lnTo>
                    <a:pt x="1972629" y="1878397"/>
                  </a:lnTo>
                  <a:lnTo>
                    <a:pt x="1942454" y="1911031"/>
                  </a:lnTo>
                  <a:lnTo>
                    <a:pt x="1911031" y="1942455"/>
                  </a:lnTo>
                  <a:lnTo>
                    <a:pt x="1878397" y="1972629"/>
                  </a:lnTo>
                  <a:lnTo>
                    <a:pt x="1844593" y="2001515"/>
                  </a:lnTo>
                  <a:lnTo>
                    <a:pt x="1809657" y="2029073"/>
                  </a:lnTo>
                  <a:lnTo>
                    <a:pt x="1773629" y="2055265"/>
                  </a:lnTo>
                  <a:lnTo>
                    <a:pt x="1736547" y="2080051"/>
                  </a:lnTo>
                  <a:lnTo>
                    <a:pt x="1698451" y="2103392"/>
                  </a:lnTo>
                  <a:lnTo>
                    <a:pt x="1659381" y="2125249"/>
                  </a:lnTo>
                  <a:lnTo>
                    <a:pt x="1619374" y="2145582"/>
                  </a:lnTo>
                  <a:lnTo>
                    <a:pt x="1578471" y="2164353"/>
                  </a:lnTo>
                  <a:lnTo>
                    <a:pt x="1536711" y="2181522"/>
                  </a:lnTo>
                  <a:lnTo>
                    <a:pt x="1494132" y="2197050"/>
                  </a:lnTo>
                  <a:lnTo>
                    <a:pt x="1450775" y="2210898"/>
                  </a:lnTo>
                  <a:lnTo>
                    <a:pt x="1406677" y="2223027"/>
                  </a:lnTo>
                  <a:lnTo>
                    <a:pt x="1361879" y="2233397"/>
                  </a:lnTo>
                  <a:lnTo>
                    <a:pt x="1316420" y="2241969"/>
                  </a:lnTo>
                  <a:lnTo>
                    <a:pt x="1270338" y="2248705"/>
                  </a:lnTo>
                  <a:lnTo>
                    <a:pt x="1223673" y="2253565"/>
                  </a:lnTo>
                  <a:lnTo>
                    <a:pt x="1176464" y="2256510"/>
                  </a:lnTo>
                  <a:lnTo>
                    <a:pt x="1128750" y="2257500"/>
                  </a:lnTo>
                  <a:lnTo>
                    <a:pt x="1081036" y="2256510"/>
                  </a:lnTo>
                  <a:lnTo>
                    <a:pt x="1033827" y="2253565"/>
                  </a:lnTo>
                  <a:lnTo>
                    <a:pt x="987162" y="2248705"/>
                  </a:lnTo>
                  <a:lnTo>
                    <a:pt x="941080" y="2241969"/>
                  </a:lnTo>
                  <a:lnTo>
                    <a:pt x="895620" y="2233397"/>
                  </a:lnTo>
                  <a:lnTo>
                    <a:pt x="850822" y="2223027"/>
                  </a:lnTo>
                  <a:lnTo>
                    <a:pt x="806724" y="2210898"/>
                  </a:lnTo>
                  <a:lnTo>
                    <a:pt x="763367" y="2197050"/>
                  </a:lnTo>
                  <a:lnTo>
                    <a:pt x="720788" y="2181522"/>
                  </a:lnTo>
                  <a:lnTo>
                    <a:pt x="679028" y="2164353"/>
                  </a:lnTo>
                  <a:lnTo>
                    <a:pt x="638125" y="2145582"/>
                  </a:lnTo>
                  <a:lnTo>
                    <a:pt x="598118" y="2125249"/>
                  </a:lnTo>
                  <a:lnTo>
                    <a:pt x="559048" y="2103392"/>
                  </a:lnTo>
                  <a:lnTo>
                    <a:pt x="520952" y="2080051"/>
                  </a:lnTo>
                  <a:lnTo>
                    <a:pt x="483870" y="2055265"/>
                  </a:lnTo>
                  <a:lnTo>
                    <a:pt x="447842" y="2029073"/>
                  </a:lnTo>
                  <a:lnTo>
                    <a:pt x="412906" y="2001515"/>
                  </a:lnTo>
                  <a:lnTo>
                    <a:pt x="379102" y="1972629"/>
                  </a:lnTo>
                  <a:lnTo>
                    <a:pt x="346468" y="1942455"/>
                  </a:lnTo>
                  <a:lnTo>
                    <a:pt x="315045" y="1911031"/>
                  </a:lnTo>
                  <a:lnTo>
                    <a:pt x="284870" y="1878397"/>
                  </a:lnTo>
                  <a:lnTo>
                    <a:pt x="255984" y="1844593"/>
                  </a:lnTo>
                  <a:lnTo>
                    <a:pt x="228426" y="1809657"/>
                  </a:lnTo>
                  <a:lnTo>
                    <a:pt x="202234" y="1773629"/>
                  </a:lnTo>
                  <a:lnTo>
                    <a:pt x="177448" y="1736547"/>
                  </a:lnTo>
                  <a:lnTo>
                    <a:pt x="154107" y="1698451"/>
                  </a:lnTo>
                  <a:lnTo>
                    <a:pt x="132250" y="1659381"/>
                  </a:lnTo>
                  <a:lnTo>
                    <a:pt x="111917" y="1619374"/>
                  </a:lnTo>
                  <a:lnTo>
                    <a:pt x="93146" y="1578471"/>
                  </a:lnTo>
                  <a:lnTo>
                    <a:pt x="75977" y="1536711"/>
                  </a:lnTo>
                  <a:lnTo>
                    <a:pt x="60449" y="1494132"/>
                  </a:lnTo>
                  <a:lnTo>
                    <a:pt x="46601" y="1450775"/>
                  </a:lnTo>
                  <a:lnTo>
                    <a:pt x="34473" y="1406677"/>
                  </a:lnTo>
                  <a:lnTo>
                    <a:pt x="24102" y="1361879"/>
                  </a:lnTo>
                  <a:lnTo>
                    <a:pt x="15530" y="1316419"/>
                  </a:lnTo>
                  <a:lnTo>
                    <a:pt x="8794" y="1270338"/>
                  </a:lnTo>
                  <a:lnTo>
                    <a:pt x="3934" y="1223672"/>
                  </a:lnTo>
                  <a:lnTo>
                    <a:pt x="990" y="1176463"/>
                  </a:lnTo>
                  <a:lnTo>
                    <a:pt x="0" y="1128749"/>
                  </a:lnTo>
                  <a:close/>
                </a:path>
              </a:pathLst>
            </a:custGeom>
            <a:noFill/>
            <a:ln cap="flat" cmpd="sng" w="38075">
              <a:solidFill>
                <a:srgbClr val="1431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6" name="Google Shape;486;p59"/>
          <p:cNvSpPr txBox="1"/>
          <p:nvPr/>
        </p:nvSpPr>
        <p:spPr>
          <a:xfrm>
            <a:off x="5985801" y="2507275"/>
            <a:ext cx="1508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12D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Post-training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87" name="Google Shape;487;p59"/>
          <p:cNvGrpSpPr/>
          <p:nvPr/>
        </p:nvGrpSpPr>
        <p:grpSpPr>
          <a:xfrm>
            <a:off x="3844850" y="1625554"/>
            <a:ext cx="3469261" cy="2080157"/>
            <a:chOff x="4103554" y="1848980"/>
            <a:chExt cx="3469261" cy="2080157"/>
          </a:xfrm>
        </p:grpSpPr>
        <p:pic>
          <p:nvPicPr>
            <p:cNvPr id="488" name="Google Shape;488;p5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900695" y="2268224"/>
              <a:ext cx="362427" cy="359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9" name="Google Shape;489;p5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920023" y="3159136"/>
              <a:ext cx="428625" cy="42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p5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156664" y="2158617"/>
              <a:ext cx="392317" cy="3923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p5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578455" y="1848980"/>
              <a:ext cx="359549" cy="3595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578455" y="3569586"/>
              <a:ext cx="359549" cy="359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5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132830" y="3150557"/>
              <a:ext cx="439985" cy="4399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59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191311" y="2849100"/>
              <a:ext cx="202967" cy="1093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59"/>
            <p:cNvSpPr/>
            <p:nvPr/>
          </p:nvSpPr>
          <p:spPr>
            <a:xfrm>
              <a:off x="4288176" y="2599354"/>
              <a:ext cx="553720" cy="609600"/>
            </a:xfrm>
            <a:custGeom>
              <a:rect b="b" l="l" r="r" t="t"/>
              <a:pathLst>
                <a:path extrusionOk="0" h="609600" w="553720">
                  <a:moveTo>
                    <a:pt x="54440" y="43199"/>
                  </a:moveTo>
                  <a:lnTo>
                    <a:pt x="173540" y="0"/>
                  </a:lnTo>
                </a:path>
                <a:path extrusionOk="0" h="609600" w="553720">
                  <a:moveTo>
                    <a:pt x="366477" y="49379"/>
                  </a:moveTo>
                  <a:lnTo>
                    <a:pt x="529977" y="212879"/>
                  </a:lnTo>
                </a:path>
                <a:path extrusionOk="0" h="609600" w="553720">
                  <a:moveTo>
                    <a:pt x="0" y="190006"/>
                  </a:moveTo>
                  <a:lnTo>
                    <a:pt x="214499" y="541906"/>
                  </a:lnTo>
                </a:path>
                <a:path extrusionOk="0" h="609600" w="553720">
                  <a:moveTo>
                    <a:pt x="371788" y="563124"/>
                  </a:moveTo>
                  <a:lnTo>
                    <a:pt x="553588" y="381324"/>
                  </a:lnTo>
                </a:path>
                <a:path extrusionOk="0" h="609600" w="553720">
                  <a:moveTo>
                    <a:pt x="2656" y="387170"/>
                  </a:moveTo>
                  <a:lnTo>
                    <a:pt x="214156" y="67370"/>
                  </a:lnTo>
                </a:path>
                <a:path extrusionOk="0" h="609600" w="553720">
                  <a:moveTo>
                    <a:pt x="42615" y="547285"/>
                  </a:moveTo>
                  <a:lnTo>
                    <a:pt x="166515" y="609385"/>
                  </a:lnTo>
                </a:path>
                <a:path extrusionOk="0" h="609600" w="553720">
                  <a:moveTo>
                    <a:pt x="46599" y="143804"/>
                  </a:moveTo>
                  <a:lnTo>
                    <a:pt x="170499" y="205904"/>
                  </a:lnTo>
                </a:path>
                <a:path extrusionOk="0" h="609600" w="553720">
                  <a:moveTo>
                    <a:pt x="396841" y="287700"/>
                  </a:moveTo>
                  <a:lnTo>
                    <a:pt x="499741" y="287700"/>
                  </a:lnTo>
                </a:path>
              </a:pathLst>
            </a:custGeom>
            <a:noFill/>
            <a:ln cap="flat" cmpd="sng" w="9525">
              <a:solidFill>
                <a:srgbClr val="EE5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59"/>
            <p:cNvSpPr/>
            <p:nvPr/>
          </p:nvSpPr>
          <p:spPr>
            <a:xfrm>
              <a:off x="4439504" y="2432742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128399" y="254099"/>
                  </a:move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53566" y="2463"/>
                  </a:lnTo>
                  <a:lnTo>
                    <a:pt x="199636" y="21345"/>
                  </a:lnTo>
                  <a:lnTo>
                    <a:pt x="235227" y="56562"/>
                  </a:lnTo>
                  <a:lnTo>
                    <a:pt x="254310" y="102148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close/>
                </a:path>
              </a:pathLst>
            </a:custGeom>
            <a:solidFill>
              <a:srgbClr val="EE52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59"/>
            <p:cNvSpPr/>
            <p:nvPr/>
          </p:nvSpPr>
          <p:spPr>
            <a:xfrm>
              <a:off x="4439504" y="2432742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0" y="127049"/>
                  </a:move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77536" y="9671"/>
                  </a:lnTo>
                  <a:lnTo>
                    <a:pt x="219192" y="37212"/>
                  </a:lnTo>
                  <a:lnTo>
                    <a:pt x="247026" y="78430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59"/>
            <p:cNvSpPr/>
            <p:nvPr/>
          </p:nvSpPr>
          <p:spPr>
            <a:xfrm>
              <a:off x="4780753" y="2772776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128399" y="254099"/>
                  </a:move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lnTo>
                    <a:pt x="10090" y="77596"/>
                  </a:lnTo>
                  <a:lnTo>
                    <a:pt x="37607" y="37211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53566" y="2463"/>
                  </a:lnTo>
                  <a:lnTo>
                    <a:pt x="199636" y="21345"/>
                  </a:lnTo>
                  <a:lnTo>
                    <a:pt x="235227" y="56562"/>
                  </a:lnTo>
                  <a:lnTo>
                    <a:pt x="254310" y="102148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close/>
                </a:path>
              </a:pathLst>
            </a:custGeom>
            <a:solidFill>
              <a:srgbClr val="EE52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59"/>
            <p:cNvSpPr/>
            <p:nvPr/>
          </p:nvSpPr>
          <p:spPr>
            <a:xfrm>
              <a:off x="4780753" y="2772776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0" y="127049"/>
                  </a:move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77536" y="9671"/>
                  </a:lnTo>
                  <a:lnTo>
                    <a:pt x="219192" y="37211"/>
                  </a:lnTo>
                  <a:lnTo>
                    <a:pt x="247026" y="78430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59"/>
            <p:cNvSpPr/>
            <p:nvPr/>
          </p:nvSpPr>
          <p:spPr>
            <a:xfrm>
              <a:off x="4439504" y="3120665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128399" y="254099"/>
                  </a:move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lnTo>
                    <a:pt x="10090" y="77596"/>
                  </a:lnTo>
                  <a:lnTo>
                    <a:pt x="37607" y="37211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53566" y="2463"/>
                  </a:lnTo>
                  <a:lnTo>
                    <a:pt x="199636" y="21345"/>
                  </a:lnTo>
                  <a:lnTo>
                    <a:pt x="235227" y="56562"/>
                  </a:lnTo>
                  <a:lnTo>
                    <a:pt x="254310" y="102148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close/>
                </a:path>
              </a:pathLst>
            </a:custGeom>
            <a:solidFill>
              <a:srgbClr val="EE52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59"/>
            <p:cNvSpPr/>
            <p:nvPr/>
          </p:nvSpPr>
          <p:spPr>
            <a:xfrm>
              <a:off x="4439504" y="3120665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0" y="127049"/>
                  </a:move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77536" y="9671"/>
                  </a:lnTo>
                  <a:lnTo>
                    <a:pt x="219192" y="37211"/>
                  </a:lnTo>
                  <a:lnTo>
                    <a:pt x="247026" y="78430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59"/>
            <p:cNvSpPr/>
            <p:nvPr/>
          </p:nvSpPr>
          <p:spPr>
            <a:xfrm>
              <a:off x="4439504" y="2728136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128399" y="254099"/>
                  </a:move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lnTo>
                    <a:pt x="10090" y="77596"/>
                  </a:lnTo>
                  <a:lnTo>
                    <a:pt x="37607" y="37211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53566" y="2463"/>
                  </a:lnTo>
                  <a:lnTo>
                    <a:pt x="199636" y="21345"/>
                  </a:lnTo>
                  <a:lnTo>
                    <a:pt x="235227" y="56562"/>
                  </a:lnTo>
                  <a:lnTo>
                    <a:pt x="254310" y="102147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close/>
                </a:path>
              </a:pathLst>
            </a:custGeom>
            <a:solidFill>
              <a:srgbClr val="EE52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59"/>
            <p:cNvSpPr/>
            <p:nvPr/>
          </p:nvSpPr>
          <p:spPr>
            <a:xfrm>
              <a:off x="4439504" y="2728136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0" y="127049"/>
                  </a:moveTo>
                  <a:lnTo>
                    <a:pt x="10090" y="77596"/>
                  </a:lnTo>
                  <a:lnTo>
                    <a:pt x="37607" y="37211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77536" y="9671"/>
                  </a:lnTo>
                  <a:lnTo>
                    <a:pt x="219192" y="37211"/>
                  </a:lnTo>
                  <a:lnTo>
                    <a:pt x="247026" y="78429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59"/>
            <p:cNvSpPr/>
            <p:nvPr/>
          </p:nvSpPr>
          <p:spPr>
            <a:xfrm>
              <a:off x="4567907" y="2977212"/>
              <a:ext cx="0" cy="143510"/>
            </a:xfrm>
            <a:custGeom>
              <a:rect b="b" l="l" r="r" t="t"/>
              <a:pathLst>
                <a:path extrusionOk="0" h="143510" w="120000">
                  <a:moveTo>
                    <a:pt x="0" y="0"/>
                  </a:moveTo>
                  <a:lnTo>
                    <a:pt x="0" y="143099"/>
                  </a:lnTo>
                </a:path>
              </a:pathLst>
            </a:custGeom>
            <a:noFill/>
            <a:ln cap="flat" cmpd="sng" w="9525">
              <a:solidFill>
                <a:srgbClr val="EE5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59"/>
            <p:cNvSpPr/>
            <p:nvPr/>
          </p:nvSpPr>
          <p:spPr>
            <a:xfrm>
              <a:off x="4103554" y="2957618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128399" y="254099"/>
                  </a:move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lnTo>
                    <a:pt x="10090" y="77596"/>
                  </a:lnTo>
                  <a:lnTo>
                    <a:pt x="37607" y="37211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53566" y="2463"/>
                  </a:lnTo>
                  <a:lnTo>
                    <a:pt x="199636" y="21345"/>
                  </a:lnTo>
                  <a:lnTo>
                    <a:pt x="235227" y="56562"/>
                  </a:lnTo>
                  <a:lnTo>
                    <a:pt x="254310" y="102148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close/>
                </a:path>
              </a:pathLst>
            </a:custGeom>
            <a:solidFill>
              <a:srgbClr val="EE52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59"/>
            <p:cNvSpPr/>
            <p:nvPr/>
          </p:nvSpPr>
          <p:spPr>
            <a:xfrm>
              <a:off x="4103554" y="2957618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0" y="127049"/>
                  </a:move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77536" y="9671"/>
                  </a:lnTo>
                  <a:lnTo>
                    <a:pt x="219192" y="37211"/>
                  </a:lnTo>
                  <a:lnTo>
                    <a:pt x="247026" y="78430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59"/>
            <p:cNvSpPr/>
            <p:nvPr/>
          </p:nvSpPr>
          <p:spPr>
            <a:xfrm>
              <a:off x="4103554" y="2554466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128399" y="254099"/>
                  </a:move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53566" y="2463"/>
                  </a:lnTo>
                  <a:lnTo>
                    <a:pt x="199636" y="21345"/>
                  </a:lnTo>
                  <a:lnTo>
                    <a:pt x="235227" y="56562"/>
                  </a:lnTo>
                  <a:lnTo>
                    <a:pt x="254310" y="102148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close/>
                </a:path>
              </a:pathLst>
            </a:custGeom>
            <a:solidFill>
              <a:srgbClr val="EE52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59"/>
            <p:cNvSpPr/>
            <p:nvPr/>
          </p:nvSpPr>
          <p:spPr>
            <a:xfrm>
              <a:off x="4103554" y="2554466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0" y="127049"/>
                  </a:move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77536" y="9671"/>
                  </a:lnTo>
                  <a:lnTo>
                    <a:pt x="219192" y="37212"/>
                  </a:lnTo>
                  <a:lnTo>
                    <a:pt x="247026" y="78430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59"/>
            <p:cNvSpPr/>
            <p:nvPr/>
          </p:nvSpPr>
          <p:spPr>
            <a:xfrm>
              <a:off x="4342616" y="2599354"/>
              <a:ext cx="475614" cy="213360"/>
            </a:xfrm>
            <a:custGeom>
              <a:rect b="b" l="l" r="r" t="t"/>
              <a:pathLst>
                <a:path extrusionOk="0" h="213360" w="475614">
                  <a:moveTo>
                    <a:pt x="0" y="43199"/>
                  </a:moveTo>
                  <a:lnTo>
                    <a:pt x="119099" y="0"/>
                  </a:lnTo>
                </a:path>
                <a:path extrusionOk="0" h="213360" w="475614">
                  <a:moveTo>
                    <a:pt x="312037" y="49379"/>
                  </a:moveTo>
                  <a:lnTo>
                    <a:pt x="475537" y="212879"/>
                  </a:lnTo>
                </a:path>
              </a:pathLst>
            </a:custGeom>
            <a:noFill/>
            <a:ln cap="flat" cmpd="sng" w="9525">
              <a:solidFill>
                <a:srgbClr val="EE5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59"/>
            <p:cNvSpPr/>
            <p:nvPr/>
          </p:nvSpPr>
          <p:spPr>
            <a:xfrm>
              <a:off x="4288176" y="2789360"/>
              <a:ext cx="214629" cy="352425"/>
            </a:xfrm>
            <a:custGeom>
              <a:rect b="b" l="l" r="r" t="t"/>
              <a:pathLst>
                <a:path extrusionOk="0" h="352425" w="214629">
                  <a:moveTo>
                    <a:pt x="0" y="0"/>
                  </a:moveTo>
                  <a:lnTo>
                    <a:pt x="214499" y="351899"/>
                  </a:lnTo>
                </a:path>
              </a:pathLst>
            </a:custGeom>
            <a:noFill/>
            <a:ln cap="flat" cmpd="sng" w="9525">
              <a:solidFill>
                <a:srgbClr val="EE5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59"/>
            <p:cNvSpPr/>
            <p:nvPr/>
          </p:nvSpPr>
          <p:spPr>
            <a:xfrm>
              <a:off x="4659964" y="2980678"/>
              <a:ext cx="182245" cy="182244"/>
            </a:xfrm>
            <a:custGeom>
              <a:rect b="b" l="l" r="r" t="t"/>
              <a:pathLst>
                <a:path extrusionOk="0" h="182244" w="182245">
                  <a:moveTo>
                    <a:pt x="0" y="181799"/>
                  </a:moveTo>
                  <a:lnTo>
                    <a:pt x="181799" y="0"/>
                  </a:lnTo>
                </a:path>
              </a:pathLst>
            </a:custGeom>
            <a:noFill/>
            <a:ln cap="flat" cmpd="sng" w="9525">
              <a:solidFill>
                <a:srgbClr val="EE5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59"/>
            <p:cNvSpPr/>
            <p:nvPr/>
          </p:nvSpPr>
          <p:spPr>
            <a:xfrm>
              <a:off x="4290832" y="2666724"/>
              <a:ext cx="212089" cy="320039"/>
            </a:xfrm>
            <a:custGeom>
              <a:rect b="b" l="l" r="r" t="t"/>
              <a:pathLst>
                <a:path extrusionOk="0" h="320039" w="212089">
                  <a:moveTo>
                    <a:pt x="0" y="319799"/>
                  </a:moveTo>
                  <a:lnTo>
                    <a:pt x="211499" y="0"/>
                  </a:lnTo>
                </a:path>
              </a:pathLst>
            </a:custGeom>
            <a:noFill/>
            <a:ln cap="flat" cmpd="sng" w="9525">
              <a:solidFill>
                <a:srgbClr val="EE5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59"/>
            <p:cNvSpPr/>
            <p:nvPr/>
          </p:nvSpPr>
          <p:spPr>
            <a:xfrm>
              <a:off x="4330791" y="2743158"/>
              <a:ext cx="457200" cy="466089"/>
            </a:xfrm>
            <a:custGeom>
              <a:rect b="b" l="l" r="r" t="t"/>
              <a:pathLst>
                <a:path extrusionOk="0" h="466089" w="457200">
                  <a:moveTo>
                    <a:pt x="0" y="403481"/>
                  </a:moveTo>
                  <a:lnTo>
                    <a:pt x="123899" y="465581"/>
                  </a:lnTo>
                </a:path>
                <a:path extrusionOk="0" h="466089" w="457200">
                  <a:moveTo>
                    <a:pt x="3983" y="0"/>
                  </a:moveTo>
                  <a:lnTo>
                    <a:pt x="127883" y="62099"/>
                  </a:lnTo>
                </a:path>
                <a:path extrusionOk="0" h="466089" w="457200">
                  <a:moveTo>
                    <a:pt x="354225" y="143896"/>
                  </a:moveTo>
                  <a:lnTo>
                    <a:pt x="457125" y="143896"/>
                  </a:lnTo>
                </a:path>
              </a:pathLst>
            </a:custGeom>
            <a:noFill/>
            <a:ln cap="flat" cmpd="sng" w="9525">
              <a:solidFill>
                <a:srgbClr val="EE5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59"/>
            <p:cNvSpPr/>
            <p:nvPr/>
          </p:nvSpPr>
          <p:spPr>
            <a:xfrm>
              <a:off x="4439504" y="2432742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128399" y="254099"/>
                  </a:move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53566" y="2463"/>
                  </a:lnTo>
                  <a:lnTo>
                    <a:pt x="199636" y="21345"/>
                  </a:lnTo>
                  <a:lnTo>
                    <a:pt x="235227" y="56562"/>
                  </a:lnTo>
                  <a:lnTo>
                    <a:pt x="254310" y="102148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close/>
                </a:path>
              </a:pathLst>
            </a:custGeom>
            <a:solidFill>
              <a:srgbClr val="EE529B">
                <a:alpha val="3019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59"/>
            <p:cNvSpPr/>
            <p:nvPr/>
          </p:nvSpPr>
          <p:spPr>
            <a:xfrm>
              <a:off x="4439504" y="2432742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0" y="127049"/>
                  </a:move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77536" y="9671"/>
                  </a:lnTo>
                  <a:lnTo>
                    <a:pt x="219192" y="37212"/>
                  </a:lnTo>
                  <a:lnTo>
                    <a:pt x="247026" y="78430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59"/>
            <p:cNvSpPr/>
            <p:nvPr/>
          </p:nvSpPr>
          <p:spPr>
            <a:xfrm>
              <a:off x="4780753" y="2772776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128399" y="254099"/>
                  </a:move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lnTo>
                    <a:pt x="10090" y="77596"/>
                  </a:lnTo>
                  <a:lnTo>
                    <a:pt x="37607" y="37211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53566" y="2463"/>
                  </a:lnTo>
                  <a:lnTo>
                    <a:pt x="199636" y="21345"/>
                  </a:lnTo>
                  <a:lnTo>
                    <a:pt x="235227" y="56562"/>
                  </a:lnTo>
                  <a:lnTo>
                    <a:pt x="254310" y="102148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close/>
                </a:path>
              </a:pathLst>
            </a:custGeom>
            <a:solidFill>
              <a:srgbClr val="EE529B">
                <a:alpha val="3019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59"/>
            <p:cNvSpPr/>
            <p:nvPr/>
          </p:nvSpPr>
          <p:spPr>
            <a:xfrm>
              <a:off x="4780753" y="2772776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0" y="127049"/>
                  </a:move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77536" y="9671"/>
                  </a:lnTo>
                  <a:lnTo>
                    <a:pt x="219192" y="37211"/>
                  </a:lnTo>
                  <a:lnTo>
                    <a:pt x="247026" y="78430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59"/>
            <p:cNvSpPr/>
            <p:nvPr/>
          </p:nvSpPr>
          <p:spPr>
            <a:xfrm>
              <a:off x="4439504" y="3120665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128399" y="254099"/>
                  </a:move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lnTo>
                    <a:pt x="10090" y="77596"/>
                  </a:lnTo>
                  <a:lnTo>
                    <a:pt x="37607" y="37211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53566" y="2463"/>
                  </a:lnTo>
                  <a:lnTo>
                    <a:pt x="199636" y="21345"/>
                  </a:lnTo>
                  <a:lnTo>
                    <a:pt x="235227" y="56562"/>
                  </a:lnTo>
                  <a:lnTo>
                    <a:pt x="254310" y="102148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close/>
                </a:path>
              </a:pathLst>
            </a:custGeom>
            <a:solidFill>
              <a:srgbClr val="EE529B">
                <a:alpha val="3019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59"/>
            <p:cNvSpPr/>
            <p:nvPr/>
          </p:nvSpPr>
          <p:spPr>
            <a:xfrm>
              <a:off x="4439504" y="3120665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0" y="127049"/>
                  </a:move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77536" y="9671"/>
                  </a:lnTo>
                  <a:lnTo>
                    <a:pt x="219192" y="37211"/>
                  </a:lnTo>
                  <a:lnTo>
                    <a:pt x="247026" y="78430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59"/>
            <p:cNvSpPr/>
            <p:nvPr/>
          </p:nvSpPr>
          <p:spPr>
            <a:xfrm>
              <a:off x="4439504" y="2728136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128399" y="254099"/>
                  </a:move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lnTo>
                    <a:pt x="10090" y="77596"/>
                  </a:lnTo>
                  <a:lnTo>
                    <a:pt x="37607" y="37211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53566" y="2463"/>
                  </a:lnTo>
                  <a:lnTo>
                    <a:pt x="199636" y="21345"/>
                  </a:lnTo>
                  <a:lnTo>
                    <a:pt x="235227" y="56562"/>
                  </a:lnTo>
                  <a:lnTo>
                    <a:pt x="254310" y="102147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close/>
                </a:path>
              </a:pathLst>
            </a:custGeom>
            <a:solidFill>
              <a:srgbClr val="EE529B">
                <a:alpha val="3019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59"/>
            <p:cNvSpPr/>
            <p:nvPr/>
          </p:nvSpPr>
          <p:spPr>
            <a:xfrm>
              <a:off x="4439504" y="2728136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0" y="127049"/>
                  </a:moveTo>
                  <a:lnTo>
                    <a:pt x="10090" y="77596"/>
                  </a:lnTo>
                  <a:lnTo>
                    <a:pt x="37607" y="37211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77536" y="9671"/>
                  </a:lnTo>
                  <a:lnTo>
                    <a:pt x="219192" y="37211"/>
                  </a:lnTo>
                  <a:lnTo>
                    <a:pt x="247026" y="78429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59"/>
            <p:cNvSpPr/>
            <p:nvPr/>
          </p:nvSpPr>
          <p:spPr>
            <a:xfrm>
              <a:off x="4567907" y="2977212"/>
              <a:ext cx="0" cy="143510"/>
            </a:xfrm>
            <a:custGeom>
              <a:rect b="b" l="l" r="r" t="t"/>
              <a:pathLst>
                <a:path extrusionOk="0" h="143510" w="120000">
                  <a:moveTo>
                    <a:pt x="0" y="0"/>
                  </a:moveTo>
                  <a:lnTo>
                    <a:pt x="0" y="143099"/>
                  </a:lnTo>
                </a:path>
              </a:pathLst>
            </a:custGeom>
            <a:noFill/>
            <a:ln cap="flat" cmpd="sng" w="9525">
              <a:solidFill>
                <a:srgbClr val="EE5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59"/>
            <p:cNvSpPr/>
            <p:nvPr/>
          </p:nvSpPr>
          <p:spPr>
            <a:xfrm>
              <a:off x="4103554" y="2957618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128399" y="254099"/>
                  </a:move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lnTo>
                    <a:pt x="10090" y="77596"/>
                  </a:lnTo>
                  <a:lnTo>
                    <a:pt x="37607" y="37211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53566" y="2463"/>
                  </a:lnTo>
                  <a:lnTo>
                    <a:pt x="199636" y="21345"/>
                  </a:lnTo>
                  <a:lnTo>
                    <a:pt x="235227" y="56562"/>
                  </a:lnTo>
                  <a:lnTo>
                    <a:pt x="254310" y="102148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close/>
                </a:path>
              </a:pathLst>
            </a:custGeom>
            <a:solidFill>
              <a:srgbClr val="EE52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59"/>
            <p:cNvSpPr/>
            <p:nvPr/>
          </p:nvSpPr>
          <p:spPr>
            <a:xfrm>
              <a:off x="4103554" y="2957618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0" y="127049"/>
                  </a:move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77536" y="9671"/>
                  </a:lnTo>
                  <a:lnTo>
                    <a:pt x="219192" y="37211"/>
                  </a:lnTo>
                  <a:lnTo>
                    <a:pt x="247026" y="78430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59"/>
            <p:cNvSpPr/>
            <p:nvPr/>
          </p:nvSpPr>
          <p:spPr>
            <a:xfrm>
              <a:off x="4103554" y="2554466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128399" y="254099"/>
                  </a:move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53566" y="2463"/>
                  </a:lnTo>
                  <a:lnTo>
                    <a:pt x="199636" y="21345"/>
                  </a:lnTo>
                  <a:lnTo>
                    <a:pt x="235227" y="56562"/>
                  </a:lnTo>
                  <a:lnTo>
                    <a:pt x="254310" y="102148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close/>
                </a:path>
              </a:pathLst>
            </a:custGeom>
            <a:solidFill>
              <a:srgbClr val="EE52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59"/>
            <p:cNvSpPr/>
            <p:nvPr/>
          </p:nvSpPr>
          <p:spPr>
            <a:xfrm>
              <a:off x="4103554" y="2554466"/>
              <a:ext cx="257175" cy="254635"/>
            </a:xfrm>
            <a:custGeom>
              <a:rect b="b" l="l" r="r" t="t"/>
              <a:pathLst>
                <a:path extrusionOk="0" h="254635" w="257175">
                  <a:moveTo>
                    <a:pt x="0" y="127049"/>
                  </a:moveTo>
                  <a:lnTo>
                    <a:pt x="10090" y="77596"/>
                  </a:lnTo>
                  <a:lnTo>
                    <a:pt x="37607" y="37212"/>
                  </a:lnTo>
                  <a:lnTo>
                    <a:pt x="78420" y="9984"/>
                  </a:lnTo>
                  <a:lnTo>
                    <a:pt x="128399" y="0"/>
                  </a:lnTo>
                  <a:lnTo>
                    <a:pt x="177536" y="9671"/>
                  </a:lnTo>
                  <a:lnTo>
                    <a:pt x="219192" y="37212"/>
                  </a:lnTo>
                  <a:lnTo>
                    <a:pt x="247026" y="78430"/>
                  </a:lnTo>
                  <a:lnTo>
                    <a:pt x="256799" y="127049"/>
                  </a:lnTo>
                  <a:lnTo>
                    <a:pt x="246709" y="176503"/>
                  </a:lnTo>
                  <a:lnTo>
                    <a:pt x="219192" y="216887"/>
                  </a:lnTo>
                  <a:lnTo>
                    <a:pt x="178379" y="244115"/>
                  </a:lnTo>
                  <a:lnTo>
                    <a:pt x="128399" y="254099"/>
                  </a:lnTo>
                  <a:lnTo>
                    <a:pt x="78420" y="244115"/>
                  </a:lnTo>
                  <a:lnTo>
                    <a:pt x="37607" y="216887"/>
                  </a:lnTo>
                  <a:lnTo>
                    <a:pt x="10090" y="176503"/>
                  </a:lnTo>
                  <a:lnTo>
                    <a:pt x="0" y="12704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7" name="Google Shape;527;p59"/>
          <p:cNvSpPr txBox="1"/>
          <p:nvPr/>
        </p:nvSpPr>
        <p:spPr>
          <a:xfrm>
            <a:off x="7494235" y="3340590"/>
            <a:ext cx="997500" cy="568200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361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Use tools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28" name="Google Shape;528;p5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387779" y="2610979"/>
            <a:ext cx="265967" cy="109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0"/>
          <p:cNvSpPr txBox="1"/>
          <p:nvPr>
            <p:ph idx="11" type="ftr"/>
          </p:nvPr>
        </p:nvSpPr>
        <p:spPr>
          <a:xfrm>
            <a:off x="61912" y="3715022"/>
            <a:ext cx="35010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Agents on Dynamic Web Environment</a:t>
            </a:r>
            <a:endParaRPr/>
          </a:p>
        </p:txBody>
      </p:sp>
      <p:sp>
        <p:nvSpPr>
          <p:cNvPr id="535" name="Google Shape;535;p60"/>
          <p:cNvSpPr txBox="1"/>
          <p:nvPr>
            <p:ph idx="12" type="sldNum"/>
          </p:nvPr>
        </p:nvSpPr>
        <p:spPr>
          <a:xfrm>
            <a:off x="5253037" y="3724328"/>
            <a:ext cx="1543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/>
              <a:t>University of Utah       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6" name="Google Shape;536;p60"/>
          <p:cNvSpPr txBox="1"/>
          <p:nvPr>
            <p:ph type="title"/>
          </p:nvPr>
        </p:nvSpPr>
        <p:spPr>
          <a:xfrm>
            <a:off x="210150" y="152300"/>
            <a:ext cx="8520600" cy="57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537" name="Google Shape;537;p60"/>
          <p:cNvSpPr txBox="1"/>
          <p:nvPr>
            <p:ph idx="1" type="body"/>
          </p:nvPr>
        </p:nvSpPr>
        <p:spPr>
          <a:xfrm>
            <a:off x="311700" y="1152475"/>
            <a:ext cx="8419200" cy="3416400"/>
          </a:xfrm>
          <a:prstGeom prst="rect">
            <a:avLst/>
          </a:prstGeom>
        </p:spPr>
        <p:txBody>
          <a:bodyPr anchorCtr="0" anchor="t" bIns="34275" lIns="0" spcFirstLastPara="1" rIns="0" wrap="square" tIns="34275">
            <a:normAutofit fontScale="92500" lnSpcReduction="20000"/>
          </a:bodyPr>
          <a:lstStyle/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Retrieval important part of agents</a:t>
            </a:r>
            <a:endParaRPr sz="1900"/>
          </a:p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Tools</a:t>
            </a:r>
            <a:endParaRPr sz="23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A way of going from language to *some other* space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Can be used for taking actions, getting new input/observations, calling other models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A useful interface to the world</a:t>
            </a:r>
            <a:endParaRPr sz="2300"/>
          </a:p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Lots of ways of doing it</a:t>
            </a:r>
            <a:endParaRPr sz="23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Using special tokens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Using code</a:t>
            </a:r>
            <a:endParaRPr sz="1900"/>
          </a:p>
          <a:p>
            <a:pPr indent="-363696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/>
              <a:t>How to get to work</a:t>
            </a:r>
            <a:endParaRPr sz="2300"/>
          </a:p>
          <a:p>
            <a:pPr indent="-340201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Pure prompting</a:t>
            </a:r>
            <a:r>
              <a:rPr lang="en" sz="1900"/>
              <a:t> 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Trained</a:t>
            </a:r>
            <a:endParaRPr sz="1900"/>
          </a:p>
          <a:p>
            <a:pPr indent="-340201" lvl="1" marL="91440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100000"/>
              <a:buChar char="○"/>
            </a:pPr>
            <a:r>
              <a:rPr lang="en" sz="1900"/>
              <a:t>Virtually all LLMs/VLMs trained to use tools in some way</a:t>
            </a:r>
            <a:endParaRPr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1"/>
          <p:cNvSpPr txBox="1"/>
          <p:nvPr>
            <p:ph type="title"/>
          </p:nvPr>
        </p:nvSpPr>
        <p:spPr>
          <a:xfrm>
            <a:off x="258024" y="224372"/>
            <a:ext cx="8725200" cy="516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</a:t>
            </a:r>
            <a:endParaRPr/>
          </a:p>
        </p:txBody>
      </p:sp>
      <p:pic>
        <p:nvPicPr>
          <p:cNvPr id="544" name="Google Shape;54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0425" y="1331350"/>
            <a:ext cx="214312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61"/>
          <p:cNvSpPr txBox="1"/>
          <p:nvPr/>
        </p:nvSpPr>
        <p:spPr>
          <a:xfrm>
            <a:off x="3285150" y="3630314"/>
            <a:ext cx="2370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F3F3F"/>
                </a:solidFill>
              </a:rPr>
              <a:t>Questions</a:t>
            </a:r>
            <a:endParaRPr sz="29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2"/>
          <p:cNvSpPr txBox="1"/>
          <p:nvPr>
            <p:ph type="title"/>
          </p:nvPr>
        </p:nvSpPr>
        <p:spPr>
          <a:xfrm>
            <a:off x="258024" y="224372"/>
            <a:ext cx="8725200" cy="516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for the presentations!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